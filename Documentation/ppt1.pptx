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19"/>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x="18288000" cy="10287000"/>
  <p:notesSz cx="6858000" cy="9144000"/>
  <p:embeddedFontLst>
    <p:embeddedFont>
      <p:font typeface="Times New Roman" charset="1" panose="02020603050405020304"/>
      <p:regular r:id="rId22"/>
    </p:embeddedFont>
    <p:embeddedFont>
      <p:font typeface="Times New Roman Bold" charset="1" panose="02020803070505020304"/>
      <p:regular r:id="rId23"/>
    </p:embeddedFont>
    <p:embeddedFont>
      <p:font typeface="Century Gothic Paneuropean" charset="1" panose="020B0502020202020204"/>
      <p:regular r:id="rId25"/>
    </p:embeddedFont>
    <p:embeddedFont>
      <p:font typeface="Century Gothic Paneuropean Bold" charset="1" panose="020B0702020202020204"/>
      <p:regular r:id="rId3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notesMasters/notesMaster1.xml" Type="http://schemas.openxmlformats.org/officeDocument/2006/relationships/notesMaster"/><Relationship Id="rId2" Target="presProps.xml" Type="http://schemas.openxmlformats.org/officeDocument/2006/relationships/presProps"/><Relationship Id="rId20" Target="theme/theme2.xml" Type="http://schemas.openxmlformats.org/officeDocument/2006/relationships/theme"/><Relationship Id="rId21" Target="notesSlides/notesSlide1.xml" Type="http://schemas.openxmlformats.org/officeDocument/2006/relationships/notesSlide"/><Relationship Id="rId22" Target="fonts/font22.fntdata" Type="http://schemas.openxmlformats.org/officeDocument/2006/relationships/font"/><Relationship Id="rId23" Target="fonts/font23.fntdata" Type="http://schemas.openxmlformats.org/officeDocument/2006/relationships/font"/><Relationship Id="rId24" Target="notesSlides/notesSlide2.xml" Type="http://schemas.openxmlformats.org/officeDocument/2006/relationships/notesSlide"/><Relationship Id="rId25" Target="fonts/font25.fntdata" Type="http://schemas.openxmlformats.org/officeDocument/2006/relationships/font"/><Relationship Id="rId26" Target="notesSlides/notesSlide3.xml" Type="http://schemas.openxmlformats.org/officeDocument/2006/relationships/notesSlide"/><Relationship Id="rId27" Target="notesSlides/notesSlide4.xml" Type="http://schemas.openxmlformats.org/officeDocument/2006/relationships/notesSlide"/><Relationship Id="rId28" Target="notesSlides/notesSlide5.xml" Type="http://schemas.openxmlformats.org/officeDocument/2006/relationships/notesSlide"/><Relationship Id="rId29" Target="notesSlides/notesSlide6.xml" Type="http://schemas.openxmlformats.org/officeDocument/2006/relationships/notesSlide"/><Relationship Id="rId3" Target="viewProps.xml" Type="http://schemas.openxmlformats.org/officeDocument/2006/relationships/viewProps"/><Relationship Id="rId30" Target="notesSlides/notesSlide7.xml" Type="http://schemas.openxmlformats.org/officeDocument/2006/relationships/notesSlide"/><Relationship Id="rId31" Target="notesSlides/notesSlide8.xml" Type="http://schemas.openxmlformats.org/officeDocument/2006/relationships/notesSlide"/><Relationship Id="rId32" Target="notesSlides/notesSlide9.xml" Type="http://schemas.openxmlformats.org/officeDocument/2006/relationships/notesSlide"/><Relationship Id="rId33" Target="notesSlides/notesSlide10.xml" Type="http://schemas.openxmlformats.org/officeDocument/2006/relationships/notesSlide"/><Relationship Id="rId34" Target="notesSlides/notesSlide11.xml" Type="http://schemas.openxmlformats.org/officeDocument/2006/relationships/notesSlide"/><Relationship Id="rId35" Target="notesSlides/notesSlide12.xml" Type="http://schemas.openxmlformats.org/officeDocument/2006/relationships/notesSlide"/><Relationship Id="rId36" Target="notesSlides/notesSlide13.xml" Type="http://schemas.openxmlformats.org/officeDocument/2006/relationships/notesSlide"/><Relationship Id="rId37" Target="fonts/font37.fntdata" Type="http://schemas.openxmlformats.org/officeDocument/2006/relationships/font"/><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png" Type="http://schemas.openxmlformats.org/officeDocument/2006/relationships/image"/><Relationship Id="rId4" Target="../media/image2.svg" Type="http://schemas.openxmlformats.org/officeDocument/2006/relationships/image"/><Relationship Id="rId5" Target="../media/image3.png" Type="http://schemas.openxmlformats.org/officeDocument/2006/relationships/image"/><Relationship Id="rId6" Target="../media/image4.svg" Type="http://schemas.openxmlformats.org/officeDocument/2006/relationships/image"/><Relationship Id="rId7" Target="../media/image5.jpeg" Type="http://schemas.openxmlformats.org/officeDocument/2006/relationships/image"/><Relationship Id="rId8" Target="../media/image6.png" Type="http://schemas.openxmlformats.org/officeDocument/2006/relationships/image"/><Relationship Id="rId9" Target="../media/image7.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1.png" Type="http://schemas.openxmlformats.org/officeDocument/2006/relationships/image"/><Relationship Id="rId4" Target="../media/image2.svg" Type="http://schemas.openxmlformats.org/officeDocument/2006/relationships/image"/><Relationship Id="rId5" Target="../media/image3.png" Type="http://schemas.openxmlformats.org/officeDocument/2006/relationships/image"/><Relationship Id="rId6" Target="../media/image4.svg" Type="http://schemas.openxmlformats.org/officeDocument/2006/relationships/image"/><Relationship Id="rId7" Target="../media/image7.png" Type="http://schemas.openxmlformats.org/officeDocument/2006/relationships/image"/><Relationship Id="rId8" Target="../media/image8.png" Type="http://schemas.openxmlformats.org/officeDocument/2006/relationships/image"/><Relationship Id="rId9" Target="../media/image5.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1.png" Type="http://schemas.openxmlformats.org/officeDocument/2006/relationships/image"/><Relationship Id="rId4" Target="../media/image2.svg" Type="http://schemas.openxmlformats.org/officeDocument/2006/relationships/image"/><Relationship Id="rId5" Target="../media/image3.png" Type="http://schemas.openxmlformats.org/officeDocument/2006/relationships/image"/><Relationship Id="rId6" Target="../media/image4.svg" Type="http://schemas.openxmlformats.org/officeDocument/2006/relationships/image"/><Relationship Id="rId7" Target="../media/image7.png" Type="http://schemas.openxmlformats.org/officeDocument/2006/relationships/image"/><Relationship Id="rId8" Target="../media/image8.png" Type="http://schemas.openxmlformats.org/officeDocument/2006/relationships/image"/><Relationship Id="rId9" Target="../media/image5.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image1.png" Type="http://schemas.openxmlformats.org/officeDocument/2006/relationships/image"/><Relationship Id="rId4" Target="../media/image2.svg" Type="http://schemas.openxmlformats.org/officeDocument/2006/relationships/image"/><Relationship Id="rId5" Target="../media/image3.png" Type="http://schemas.openxmlformats.org/officeDocument/2006/relationships/image"/><Relationship Id="rId6" Target="../media/image4.svg" Type="http://schemas.openxmlformats.org/officeDocument/2006/relationships/image"/><Relationship Id="rId7" Target="../media/image7.png" Type="http://schemas.openxmlformats.org/officeDocument/2006/relationships/image"/><Relationship Id="rId8" Target="../media/image8.png" Type="http://schemas.openxmlformats.org/officeDocument/2006/relationships/image"/><Relationship Id="rId9" Target="../media/image5.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 Id="rId3" Target="../media/image1.png" Type="http://schemas.openxmlformats.org/officeDocument/2006/relationships/image"/><Relationship Id="rId4" Target="../media/image2.svg" Type="http://schemas.openxmlformats.org/officeDocument/2006/relationships/image"/><Relationship Id="rId5" Target="../media/image3.png" Type="http://schemas.openxmlformats.org/officeDocument/2006/relationships/image"/><Relationship Id="rId6" Target="../media/image4.svg" Type="http://schemas.openxmlformats.org/officeDocument/2006/relationships/image"/><Relationship Id="rId7" Target="../media/image7.png" Type="http://schemas.openxmlformats.org/officeDocument/2006/relationships/image"/><Relationship Id="rId8" Target="../media/image8.png" Type="http://schemas.openxmlformats.org/officeDocument/2006/relationships/image"/><Relationship Id="rId9" Target="../media/image5.jpe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 Id="rId3" Target="../media/image1.png" Type="http://schemas.openxmlformats.org/officeDocument/2006/relationships/image"/><Relationship Id="rId4" Target="../media/image2.svg" Type="http://schemas.openxmlformats.org/officeDocument/2006/relationships/image"/><Relationship Id="rId5" Target="../media/image3.png" Type="http://schemas.openxmlformats.org/officeDocument/2006/relationships/image"/><Relationship Id="rId6" Target="../media/image4.svg" Type="http://schemas.openxmlformats.org/officeDocument/2006/relationships/image"/><Relationship Id="rId7" Target="../media/image7.png" Type="http://schemas.openxmlformats.org/officeDocument/2006/relationships/image"/><Relationship Id="rId8" Target="../media/image8.png" Type="http://schemas.openxmlformats.org/officeDocument/2006/relationships/image"/><Relationship Id="rId9" Target="../media/image5.jpe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 Id="rId3" Target="../media/image1.png" Type="http://schemas.openxmlformats.org/officeDocument/2006/relationships/image"/><Relationship Id="rId4" Target="../media/image2.svg" Type="http://schemas.openxmlformats.org/officeDocument/2006/relationships/image"/><Relationship Id="rId5" Target="../media/image3.png" Type="http://schemas.openxmlformats.org/officeDocument/2006/relationships/image"/><Relationship Id="rId6" Target="../media/image4.svg" Type="http://schemas.openxmlformats.org/officeDocument/2006/relationships/image"/><Relationship Id="rId7" Target="../media/image7.png" Type="http://schemas.openxmlformats.org/officeDocument/2006/relationships/image"/><Relationship Id="rId8" Target="../media/image8.png" Type="http://schemas.openxmlformats.org/officeDocument/2006/relationships/image"/><Relationship Id="rId9" Target="../media/image5.jpe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2" Target="../notesSlides/notesSlide8.xml" Type="http://schemas.openxmlformats.org/officeDocument/2006/relationships/notesSlide"/><Relationship Id="rId3" Target="../media/image1.png" Type="http://schemas.openxmlformats.org/officeDocument/2006/relationships/image"/><Relationship Id="rId4" Target="../media/image2.svg" Type="http://schemas.openxmlformats.org/officeDocument/2006/relationships/image"/><Relationship Id="rId5" Target="../media/image3.png" Type="http://schemas.openxmlformats.org/officeDocument/2006/relationships/image"/><Relationship Id="rId6" Target="../media/image4.svg" Type="http://schemas.openxmlformats.org/officeDocument/2006/relationships/image"/><Relationship Id="rId7" Target="../media/image7.png" Type="http://schemas.openxmlformats.org/officeDocument/2006/relationships/image"/><Relationship Id="rId8" Target="../media/image8.png" Type="http://schemas.openxmlformats.org/officeDocument/2006/relationships/image"/><Relationship Id="rId9" Target="../media/image5.jpe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9.xml" Type="http://schemas.openxmlformats.org/officeDocument/2006/relationships/notesSlide"/><Relationship Id="rId3" Target="../media/image1.png" Type="http://schemas.openxmlformats.org/officeDocument/2006/relationships/image"/><Relationship Id="rId4" Target="../media/image2.svg" Type="http://schemas.openxmlformats.org/officeDocument/2006/relationships/image"/><Relationship Id="rId5" Target="../media/image3.png" Type="http://schemas.openxmlformats.org/officeDocument/2006/relationships/image"/><Relationship Id="rId6" Target="../media/image4.svg" Type="http://schemas.openxmlformats.org/officeDocument/2006/relationships/image"/><Relationship Id="rId7" Target="../media/image7.png" Type="http://schemas.openxmlformats.org/officeDocument/2006/relationships/image"/><Relationship Id="rId8" Target="../media/image8.png" Type="http://schemas.openxmlformats.org/officeDocument/2006/relationships/image"/><Relationship Id="rId9" Target="../media/image5.jpe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0.xml" Type="http://schemas.openxmlformats.org/officeDocument/2006/relationships/notesSlide"/><Relationship Id="rId3" Target="../media/image1.png" Type="http://schemas.openxmlformats.org/officeDocument/2006/relationships/image"/><Relationship Id="rId4" Target="../media/image2.svg" Type="http://schemas.openxmlformats.org/officeDocument/2006/relationships/image"/><Relationship Id="rId5" Target="../media/image3.png" Type="http://schemas.openxmlformats.org/officeDocument/2006/relationships/image"/><Relationship Id="rId6" Target="../media/image4.svg" Type="http://schemas.openxmlformats.org/officeDocument/2006/relationships/image"/><Relationship Id="rId7" Target="../media/image7.png" Type="http://schemas.openxmlformats.org/officeDocument/2006/relationships/image"/><Relationship Id="rId8" Target="../media/image8.png" Type="http://schemas.openxmlformats.org/officeDocument/2006/relationships/image"/><Relationship Id="rId9" Target="../media/image5.jpe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5.jpeg" Type="http://schemas.openxmlformats.org/officeDocument/2006/relationships/image"/><Relationship Id="rId2" Target="../notesSlides/notesSlide11.xml" Type="http://schemas.openxmlformats.org/officeDocument/2006/relationships/notesSlide"/><Relationship Id="rId3" Target="../media/image1.png" Type="http://schemas.openxmlformats.org/officeDocument/2006/relationships/image"/><Relationship Id="rId4" Target="../media/image2.svg" Type="http://schemas.openxmlformats.org/officeDocument/2006/relationships/image"/><Relationship Id="rId5" Target="../media/image3.png" Type="http://schemas.openxmlformats.org/officeDocument/2006/relationships/image"/><Relationship Id="rId6" Target="../media/image4.svg" Type="http://schemas.openxmlformats.org/officeDocument/2006/relationships/image"/><Relationship Id="rId7" Target="../media/image7.png" Type="http://schemas.openxmlformats.org/officeDocument/2006/relationships/image"/><Relationship Id="rId8" Target="../media/image8.png" Type="http://schemas.openxmlformats.org/officeDocument/2006/relationships/image"/><Relationship Id="rId9" Target="https://github.com/Yuvi25Jain/AI-Mock-Interview-with-Streaming-Avatar" TargetMode="External" Type="http://schemas.openxmlformats.org/officeDocument/2006/relationships/hyperlink"/></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2.xml" Type="http://schemas.openxmlformats.org/officeDocument/2006/relationships/notesSlide"/><Relationship Id="rId3" Target="../media/image1.png" Type="http://schemas.openxmlformats.org/officeDocument/2006/relationships/image"/><Relationship Id="rId4" Target="../media/image2.svg" Type="http://schemas.openxmlformats.org/officeDocument/2006/relationships/image"/><Relationship Id="rId5" Target="../media/image3.png" Type="http://schemas.openxmlformats.org/officeDocument/2006/relationships/image"/><Relationship Id="rId6" Target="../media/image4.svg" Type="http://schemas.openxmlformats.org/officeDocument/2006/relationships/image"/><Relationship Id="rId7" Target="../media/image7.png" Type="http://schemas.openxmlformats.org/officeDocument/2006/relationships/image"/><Relationship Id="rId8" Target="../media/image8.png" Type="http://schemas.openxmlformats.org/officeDocument/2006/relationships/image"/><Relationship Id="rId9" Target="../media/image5.jpe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3.xml" Type="http://schemas.openxmlformats.org/officeDocument/2006/relationships/notesSlide"/><Relationship Id="rId3" Target="../media/image1.png" Type="http://schemas.openxmlformats.org/officeDocument/2006/relationships/image"/><Relationship Id="rId4" Target="../media/image2.svg" Type="http://schemas.openxmlformats.org/officeDocument/2006/relationships/image"/><Relationship Id="rId5" Target="../media/image3.png" Type="http://schemas.openxmlformats.org/officeDocument/2006/relationships/image"/><Relationship Id="rId6" Target="../media/image4.svg" Type="http://schemas.openxmlformats.org/officeDocument/2006/relationships/image"/><Relationship Id="rId7" Target="../media/image7.png" Type="http://schemas.openxmlformats.org/officeDocument/2006/relationships/image"/><Relationship Id="rId8" Target="../media/image8.png" Type="http://schemas.openxmlformats.org/officeDocument/2006/relationships/image"/><Relationship Id="rId9" Target="../media/image5.jpe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FFFFF">
                <a:alpha val="100000"/>
              </a:srgbClr>
            </a:gs>
            <a:gs pos="100000">
              <a:srgbClr val="DDE6C3">
                <a:alpha val="100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sp>
        <p:nvSpPr>
          <p:cNvPr name="Freeform 2" id="2"/>
          <p:cNvSpPr/>
          <p:nvPr/>
        </p:nvSpPr>
        <p:spPr>
          <a:xfrm flipH="false" flipV="false" rot="0">
            <a:off x="1" y="342900"/>
            <a:ext cx="4277277" cy="9957940"/>
          </a:xfrm>
          <a:custGeom>
            <a:avLst/>
            <a:gdLst/>
            <a:ahLst/>
            <a:cxnLst/>
            <a:rect r="r" b="b" t="t" l="l"/>
            <a:pathLst>
              <a:path h="9957940" w="4277277">
                <a:moveTo>
                  <a:pt x="0" y="0"/>
                </a:moveTo>
                <a:lnTo>
                  <a:pt x="4277278" y="0"/>
                </a:lnTo>
                <a:lnTo>
                  <a:pt x="4277278" y="9957940"/>
                </a:lnTo>
                <a:lnTo>
                  <a:pt x="0" y="995794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0">
            <a:off x="40834" y="-1181"/>
            <a:ext cx="3535013" cy="10281056"/>
          </a:xfrm>
          <a:custGeom>
            <a:avLst/>
            <a:gdLst/>
            <a:ahLst/>
            <a:cxnLst/>
            <a:rect r="r" b="b" t="t" l="l"/>
            <a:pathLst>
              <a:path h="10281056" w="3535013">
                <a:moveTo>
                  <a:pt x="0" y="0"/>
                </a:moveTo>
                <a:lnTo>
                  <a:pt x="3535013" y="0"/>
                </a:lnTo>
                <a:lnTo>
                  <a:pt x="3535013" y="10281056"/>
                </a:lnTo>
                <a:lnTo>
                  <a:pt x="0" y="1028105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4" id="4"/>
          <p:cNvGrpSpPr/>
          <p:nvPr/>
        </p:nvGrpSpPr>
        <p:grpSpPr>
          <a:xfrm rot="0">
            <a:off x="0" y="0"/>
            <a:ext cx="274320" cy="10287000"/>
            <a:chOff x="0" y="0"/>
            <a:chExt cx="365760" cy="13716000"/>
          </a:xfrm>
        </p:grpSpPr>
        <p:sp>
          <p:nvSpPr>
            <p:cNvPr name="Freeform 5" id="5"/>
            <p:cNvSpPr/>
            <p:nvPr/>
          </p:nvSpPr>
          <p:spPr>
            <a:xfrm flipH="false" flipV="false" rot="0">
              <a:off x="0" y="0"/>
              <a:ext cx="365760" cy="13716000"/>
            </a:xfrm>
            <a:custGeom>
              <a:avLst/>
              <a:gdLst/>
              <a:ahLst/>
              <a:cxnLst/>
              <a:rect r="r" b="b" t="t" l="l"/>
              <a:pathLst>
                <a:path h="13716000" w="365760">
                  <a:moveTo>
                    <a:pt x="0" y="0"/>
                  </a:moveTo>
                  <a:lnTo>
                    <a:pt x="365760" y="0"/>
                  </a:lnTo>
                  <a:lnTo>
                    <a:pt x="365760" y="13716000"/>
                  </a:lnTo>
                  <a:lnTo>
                    <a:pt x="0" y="13716000"/>
                  </a:lnTo>
                  <a:close/>
                </a:path>
              </a:pathLst>
            </a:custGeom>
            <a:solidFill>
              <a:srgbClr val="766F54"/>
            </a:solidFill>
          </p:spPr>
        </p:sp>
      </p:grpSp>
      <p:grpSp>
        <p:nvGrpSpPr>
          <p:cNvPr name="Group 6" id="6"/>
          <p:cNvGrpSpPr/>
          <p:nvPr/>
        </p:nvGrpSpPr>
        <p:grpSpPr>
          <a:xfrm rot="0">
            <a:off x="3229011" y="1371600"/>
            <a:ext cx="13953365" cy="14892126"/>
            <a:chOff x="0" y="0"/>
            <a:chExt cx="18604486" cy="19856168"/>
          </a:xfrm>
        </p:grpSpPr>
        <p:sp>
          <p:nvSpPr>
            <p:cNvPr name="Freeform 7" id="7"/>
            <p:cNvSpPr/>
            <p:nvPr/>
          </p:nvSpPr>
          <p:spPr>
            <a:xfrm flipH="false" flipV="false" rot="0">
              <a:off x="0" y="0"/>
              <a:ext cx="18604485" cy="19856154"/>
            </a:xfrm>
            <a:custGeom>
              <a:avLst/>
              <a:gdLst/>
              <a:ahLst/>
              <a:cxnLst/>
              <a:rect r="r" b="b" t="t" l="l"/>
              <a:pathLst>
                <a:path h="19856154" w="18604485">
                  <a:moveTo>
                    <a:pt x="0" y="0"/>
                  </a:moveTo>
                  <a:lnTo>
                    <a:pt x="18604485" y="0"/>
                  </a:lnTo>
                  <a:lnTo>
                    <a:pt x="18604485" y="19856154"/>
                  </a:lnTo>
                  <a:lnTo>
                    <a:pt x="0" y="19856154"/>
                  </a:lnTo>
                  <a:close/>
                </a:path>
              </a:pathLst>
            </a:custGeom>
            <a:blipFill>
              <a:blip r:embed="rId7">
                <a:alphaModFix amt="0"/>
              </a:blip>
              <a:stretch>
                <a:fillRect l="0" t="-6874" r="-12106" b="65940"/>
              </a:stretch>
            </a:blipFill>
          </p:spPr>
        </p:sp>
        <p:sp>
          <p:nvSpPr>
            <p:cNvPr name="TextBox 8" id="8"/>
            <p:cNvSpPr txBox="true"/>
            <p:nvPr/>
          </p:nvSpPr>
          <p:spPr>
            <a:xfrm>
              <a:off x="0" y="0"/>
              <a:ext cx="18604486" cy="19856168"/>
            </a:xfrm>
            <a:prstGeom prst="rect">
              <a:avLst/>
            </a:prstGeom>
          </p:spPr>
          <p:txBody>
            <a:bodyPr anchor="b" rtlCol="false" tIns="0" lIns="0" bIns="0" rIns="0"/>
            <a:lstStyle/>
            <a:p>
              <a:pPr algn="ctr">
                <a:lnSpc>
                  <a:spcPts val="8748"/>
                </a:lnSpc>
              </a:pPr>
            </a:p>
            <a:p>
              <a:pPr algn="ctr">
                <a:lnSpc>
                  <a:spcPts val="8748"/>
                </a:lnSpc>
              </a:pPr>
            </a:p>
            <a:p>
              <a:pPr algn="ctr">
                <a:lnSpc>
                  <a:spcPts val="8748"/>
                </a:lnSpc>
              </a:pPr>
            </a:p>
            <a:p>
              <a:pPr algn="ctr">
                <a:lnSpc>
                  <a:spcPts val="8748"/>
                </a:lnSpc>
              </a:pPr>
            </a:p>
            <a:p>
              <a:pPr algn="ctr">
                <a:lnSpc>
                  <a:spcPts val="8748"/>
                </a:lnSpc>
              </a:pPr>
            </a:p>
            <a:p>
              <a:pPr algn="ctr">
                <a:lnSpc>
                  <a:spcPts val="8748"/>
                </a:lnSpc>
              </a:pPr>
            </a:p>
            <a:p>
              <a:pPr algn="ctr">
                <a:lnSpc>
                  <a:spcPts val="8748"/>
                </a:lnSpc>
              </a:pPr>
            </a:p>
            <a:p>
              <a:pPr algn="ctr">
                <a:lnSpc>
                  <a:spcPts val="8748"/>
                </a:lnSpc>
              </a:pPr>
            </a:p>
            <a:p>
              <a:pPr algn="ctr">
                <a:lnSpc>
                  <a:spcPts val="8748"/>
                </a:lnSpc>
              </a:pPr>
            </a:p>
            <a:p>
              <a:pPr algn="ctr">
                <a:lnSpc>
                  <a:spcPts val="8748"/>
                </a:lnSpc>
              </a:pPr>
            </a:p>
            <a:p>
              <a:pPr algn="ctr">
                <a:lnSpc>
                  <a:spcPts val="5022"/>
                </a:lnSpc>
              </a:pPr>
              <a:r>
                <a:rPr lang="en-US" sz="4185">
                  <a:solidFill>
                    <a:srgbClr val="262626"/>
                  </a:solidFill>
                  <a:latin typeface="Times New Roman"/>
                  <a:ea typeface="Times New Roman"/>
                  <a:cs typeface="Times New Roman"/>
                  <a:sym typeface="Times New Roman"/>
                </a:rPr>
                <a:t>Synopsis Presentation</a:t>
              </a:r>
            </a:p>
            <a:p>
              <a:pPr algn="ctr">
                <a:lnSpc>
                  <a:spcPts val="5022"/>
                </a:lnSpc>
              </a:pPr>
              <a:r>
                <a:rPr lang="en-US" sz="4185">
                  <a:solidFill>
                    <a:srgbClr val="262626"/>
                  </a:solidFill>
                  <a:latin typeface="Times New Roman"/>
                  <a:ea typeface="Times New Roman"/>
                  <a:cs typeface="Times New Roman"/>
                  <a:sym typeface="Times New Roman"/>
                </a:rPr>
                <a:t>on </a:t>
              </a:r>
            </a:p>
            <a:p>
              <a:pPr algn="ctr">
                <a:lnSpc>
                  <a:spcPts val="8748"/>
                </a:lnSpc>
              </a:pPr>
              <a:r>
                <a:rPr lang="en-US" sz="7290">
                  <a:solidFill>
                    <a:srgbClr val="262626"/>
                  </a:solidFill>
                  <a:latin typeface="Times New Roman"/>
                  <a:ea typeface="Times New Roman"/>
                  <a:cs typeface="Times New Roman"/>
                  <a:sym typeface="Times New Roman"/>
                </a:rPr>
                <a:t>AI- Mock Interview with Streaming Avatar”</a:t>
              </a:r>
            </a:p>
          </p:txBody>
        </p:sp>
      </p:grpSp>
      <p:sp>
        <p:nvSpPr>
          <p:cNvPr name="TextBox 9" id="9"/>
          <p:cNvSpPr txBox="true"/>
          <p:nvPr/>
        </p:nvSpPr>
        <p:spPr>
          <a:xfrm rot="0">
            <a:off x="3408512" y="6374587"/>
            <a:ext cx="13850788" cy="2530507"/>
          </a:xfrm>
          <a:prstGeom prst="rect">
            <a:avLst/>
          </a:prstGeom>
        </p:spPr>
        <p:txBody>
          <a:bodyPr anchor="t" rtlCol="false" tIns="0" lIns="0" bIns="0" rIns="0">
            <a:spAutoFit/>
          </a:bodyPr>
          <a:lstStyle/>
          <a:p>
            <a:pPr algn="l">
              <a:lnSpc>
                <a:spcPts val="2304"/>
              </a:lnSpc>
            </a:pPr>
            <a:r>
              <a:rPr lang="en-US" sz="2400" b="true">
                <a:solidFill>
                  <a:srgbClr val="595959"/>
                </a:solidFill>
                <a:latin typeface="Times New Roman Bold"/>
                <a:ea typeface="Times New Roman Bold"/>
                <a:cs typeface="Times New Roman Bold"/>
                <a:sym typeface="Times New Roman Bold"/>
              </a:rPr>
              <a:t>Guided By:</a:t>
            </a:r>
            <a:r>
              <a:rPr lang="en-US" sz="2400">
                <a:solidFill>
                  <a:srgbClr val="595959"/>
                </a:solidFill>
                <a:latin typeface="Times New Roman"/>
                <a:ea typeface="Times New Roman"/>
                <a:cs typeface="Times New Roman"/>
                <a:sym typeface="Times New Roman"/>
              </a:rPr>
              <a:t>				                                                                              </a:t>
            </a:r>
            <a:r>
              <a:rPr lang="en-US" sz="2400" b="true">
                <a:solidFill>
                  <a:srgbClr val="595959"/>
                </a:solidFill>
                <a:latin typeface="Times New Roman Bold"/>
                <a:ea typeface="Times New Roman Bold"/>
                <a:cs typeface="Times New Roman Bold"/>
                <a:sym typeface="Times New Roman Bold"/>
              </a:rPr>
              <a:t>Presented By:</a:t>
            </a:r>
          </a:p>
          <a:p>
            <a:pPr algn="l">
              <a:lnSpc>
                <a:spcPts val="2304"/>
              </a:lnSpc>
            </a:pPr>
            <a:r>
              <a:rPr lang="en-US" sz="2400">
                <a:solidFill>
                  <a:srgbClr val="595959"/>
                </a:solidFill>
                <a:latin typeface="Times New Roman"/>
                <a:ea typeface="Times New Roman"/>
                <a:cs typeface="Times New Roman"/>
                <a:sym typeface="Times New Roman"/>
              </a:rPr>
              <a:t>Prof. Pawan Kumar Gupta </a:t>
            </a:r>
          </a:p>
          <a:p>
            <a:pPr algn="l">
              <a:lnSpc>
                <a:spcPts val="2304"/>
              </a:lnSpc>
            </a:pPr>
          </a:p>
          <a:p>
            <a:pPr algn="l">
              <a:lnSpc>
                <a:spcPts val="2304"/>
              </a:lnSpc>
            </a:pPr>
          </a:p>
          <a:p>
            <a:pPr algn="l">
              <a:lnSpc>
                <a:spcPts val="2304"/>
              </a:lnSpc>
            </a:pPr>
          </a:p>
          <a:p>
            <a:pPr algn="l">
              <a:lnSpc>
                <a:spcPts val="2304"/>
              </a:lnSpc>
            </a:pPr>
            <a:r>
              <a:rPr lang="en-US" b="true" sz="2400">
                <a:solidFill>
                  <a:srgbClr val="595959"/>
                </a:solidFill>
                <a:latin typeface="Times New Roman Bold"/>
                <a:ea typeface="Times New Roman Bold"/>
                <a:cs typeface="Times New Roman Bold"/>
                <a:sym typeface="Times New Roman Bold"/>
              </a:rPr>
              <a:t>External Guide:</a:t>
            </a:r>
            <a:r>
              <a:rPr lang="en-US" sz="2400">
                <a:solidFill>
                  <a:srgbClr val="595959"/>
                </a:solidFill>
                <a:latin typeface="Times New Roman"/>
                <a:ea typeface="Times New Roman"/>
                <a:cs typeface="Times New Roman"/>
                <a:sym typeface="Times New Roman"/>
              </a:rPr>
              <a:t>                                                                   </a:t>
            </a:r>
          </a:p>
          <a:p>
            <a:pPr algn="l">
              <a:lnSpc>
                <a:spcPts val="2304"/>
              </a:lnSpc>
            </a:pPr>
            <a:r>
              <a:rPr lang="en-US" sz="2400">
                <a:solidFill>
                  <a:srgbClr val="595959"/>
                </a:solidFill>
                <a:latin typeface="Times New Roman"/>
                <a:ea typeface="Times New Roman"/>
                <a:cs typeface="Times New Roman"/>
                <a:sym typeface="Times New Roman"/>
              </a:rPr>
              <a:t>Mrs. Kalpana Paliwal                                                                               </a:t>
            </a:r>
          </a:p>
          <a:p>
            <a:pPr algn="l">
              <a:lnSpc>
                <a:spcPts val="2304"/>
              </a:lnSpc>
            </a:pPr>
            <a:r>
              <a:rPr lang="en-US" sz="2400">
                <a:solidFill>
                  <a:srgbClr val="595959"/>
                </a:solidFill>
                <a:latin typeface="Times New Roman"/>
                <a:ea typeface="Times New Roman"/>
                <a:cs typeface="Times New Roman"/>
                <a:sym typeface="Times New Roman"/>
              </a:rPr>
              <a:t>						</a:t>
            </a:r>
          </a:p>
          <a:p>
            <a:pPr algn="l">
              <a:lnSpc>
                <a:spcPts val="648"/>
              </a:lnSpc>
            </a:pPr>
            <a:r>
              <a:rPr lang="en-US" sz="675">
                <a:solidFill>
                  <a:srgbClr val="595959"/>
                </a:solidFill>
                <a:latin typeface="Times New Roman"/>
                <a:ea typeface="Times New Roman"/>
                <a:cs typeface="Times New Roman"/>
                <a:sym typeface="Times New Roman"/>
              </a:rPr>
              <a:t>												</a:t>
            </a:r>
          </a:p>
          <a:p>
            <a:pPr algn="l">
              <a:lnSpc>
                <a:spcPts val="648"/>
              </a:lnSpc>
            </a:pPr>
            <a:r>
              <a:rPr lang="en-US" sz="675">
                <a:solidFill>
                  <a:srgbClr val="595959"/>
                </a:solidFill>
                <a:latin typeface="Times New Roman"/>
                <a:ea typeface="Times New Roman"/>
                <a:cs typeface="Times New Roman"/>
                <a:sym typeface="Times New Roman"/>
              </a:rPr>
              <a:t>												</a:t>
            </a:r>
          </a:p>
          <a:p>
            <a:pPr algn="l">
              <a:lnSpc>
                <a:spcPts val="648"/>
              </a:lnSpc>
            </a:pPr>
            <a:r>
              <a:rPr lang="en-US" sz="675">
                <a:solidFill>
                  <a:srgbClr val="595959"/>
                </a:solidFill>
                <a:latin typeface="Times New Roman"/>
                <a:ea typeface="Times New Roman"/>
                <a:cs typeface="Times New Roman"/>
                <a:sym typeface="Times New Roman"/>
              </a:rPr>
              <a:t>		</a:t>
            </a:r>
          </a:p>
        </p:txBody>
      </p:sp>
      <p:grpSp>
        <p:nvGrpSpPr>
          <p:cNvPr name="Group 10" id="10"/>
          <p:cNvGrpSpPr/>
          <p:nvPr/>
        </p:nvGrpSpPr>
        <p:grpSpPr>
          <a:xfrm rot="0">
            <a:off x="16300590" y="-531247"/>
            <a:ext cx="1763573" cy="3135239"/>
            <a:chOff x="0" y="0"/>
            <a:chExt cx="2351430" cy="4180319"/>
          </a:xfrm>
        </p:grpSpPr>
        <p:sp>
          <p:nvSpPr>
            <p:cNvPr name="Freeform 11" id="11"/>
            <p:cNvSpPr/>
            <p:nvPr/>
          </p:nvSpPr>
          <p:spPr>
            <a:xfrm flipH="false" flipV="false" rot="0">
              <a:off x="0" y="0"/>
              <a:ext cx="2351405" cy="4180332"/>
            </a:xfrm>
            <a:custGeom>
              <a:avLst/>
              <a:gdLst/>
              <a:ahLst/>
              <a:cxnLst/>
              <a:rect r="r" b="b" t="t" l="l"/>
              <a:pathLst>
                <a:path h="4180332" w="2351405">
                  <a:moveTo>
                    <a:pt x="0" y="0"/>
                  </a:moveTo>
                  <a:lnTo>
                    <a:pt x="2351405" y="0"/>
                  </a:lnTo>
                  <a:lnTo>
                    <a:pt x="2351405" y="4180332"/>
                  </a:lnTo>
                  <a:lnTo>
                    <a:pt x="0" y="4180332"/>
                  </a:lnTo>
                  <a:lnTo>
                    <a:pt x="0" y="0"/>
                  </a:lnTo>
                  <a:close/>
                </a:path>
              </a:pathLst>
            </a:custGeom>
            <a:blipFill>
              <a:blip r:embed="rId8"/>
              <a:stretch>
                <a:fillRect l="0" t="0" r="-1" b="-13"/>
              </a:stretch>
            </a:blipFill>
          </p:spPr>
        </p:sp>
      </p:grpSp>
      <p:grpSp>
        <p:nvGrpSpPr>
          <p:cNvPr name="Group 12" id="12"/>
          <p:cNvGrpSpPr/>
          <p:nvPr/>
        </p:nvGrpSpPr>
        <p:grpSpPr>
          <a:xfrm rot="0">
            <a:off x="332965" y="0"/>
            <a:ext cx="2430113" cy="2072745"/>
            <a:chOff x="0" y="0"/>
            <a:chExt cx="3240151" cy="2763660"/>
          </a:xfrm>
        </p:grpSpPr>
        <p:sp>
          <p:nvSpPr>
            <p:cNvPr name="Freeform 13" id="13"/>
            <p:cNvSpPr/>
            <p:nvPr/>
          </p:nvSpPr>
          <p:spPr>
            <a:xfrm flipH="false" flipV="false" rot="0">
              <a:off x="0" y="0"/>
              <a:ext cx="3240151" cy="2763647"/>
            </a:xfrm>
            <a:custGeom>
              <a:avLst/>
              <a:gdLst/>
              <a:ahLst/>
              <a:cxnLst/>
              <a:rect r="r" b="b" t="t" l="l"/>
              <a:pathLst>
                <a:path h="2763647" w="3240151">
                  <a:moveTo>
                    <a:pt x="0" y="0"/>
                  </a:moveTo>
                  <a:lnTo>
                    <a:pt x="3240151" y="0"/>
                  </a:lnTo>
                  <a:lnTo>
                    <a:pt x="3240151" y="2763647"/>
                  </a:lnTo>
                  <a:lnTo>
                    <a:pt x="0" y="2763647"/>
                  </a:lnTo>
                  <a:lnTo>
                    <a:pt x="0" y="0"/>
                  </a:lnTo>
                  <a:close/>
                </a:path>
              </a:pathLst>
            </a:custGeom>
            <a:blipFill>
              <a:blip r:embed="rId9"/>
              <a:stretch>
                <a:fillRect l="0" t="0" r="0" b="0"/>
              </a:stretch>
            </a:blipFill>
          </p:spPr>
        </p:sp>
      </p:grpSp>
      <p:sp>
        <p:nvSpPr>
          <p:cNvPr name="TextBox 14" id="14"/>
          <p:cNvSpPr txBox="true"/>
          <p:nvPr/>
        </p:nvSpPr>
        <p:spPr>
          <a:xfrm rot="0">
            <a:off x="3366164" y="1680078"/>
            <a:ext cx="13845540" cy="2590800"/>
          </a:xfrm>
          <a:prstGeom prst="rect">
            <a:avLst/>
          </a:prstGeom>
        </p:spPr>
        <p:txBody>
          <a:bodyPr anchor="t" rtlCol="false" tIns="0" lIns="0" bIns="0" rIns="0">
            <a:spAutoFit/>
          </a:bodyPr>
          <a:lstStyle/>
          <a:p>
            <a:pPr algn="ctr">
              <a:lnSpc>
                <a:spcPts val="7200"/>
              </a:lnSpc>
              <a:spcBef>
                <a:spcPct val="0"/>
              </a:spcBef>
            </a:pPr>
            <a:r>
              <a:rPr lang="en-US" sz="6000">
                <a:solidFill>
                  <a:srgbClr val="595959"/>
                </a:solidFill>
                <a:latin typeface="Times New Roman"/>
                <a:ea typeface="Times New Roman"/>
                <a:cs typeface="Times New Roman"/>
                <a:sym typeface="Times New Roman"/>
              </a:rPr>
              <a:t>Synopsis Presentation I</a:t>
            </a:r>
          </a:p>
          <a:p>
            <a:pPr algn="ctr">
              <a:lnSpc>
                <a:spcPts val="5721"/>
              </a:lnSpc>
              <a:spcBef>
                <a:spcPct val="0"/>
              </a:spcBef>
            </a:pPr>
            <a:r>
              <a:rPr lang="en-US" sz="4767">
                <a:solidFill>
                  <a:srgbClr val="595959"/>
                </a:solidFill>
                <a:latin typeface="Times New Roman"/>
                <a:ea typeface="Times New Roman"/>
                <a:cs typeface="Times New Roman"/>
                <a:sym typeface="Times New Roman"/>
              </a:rPr>
              <a:t>on </a:t>
            </a:r>
          </a:p>
          <a:p>
            <a:pPr algn="ctr">
              <a:lnSpc>
                <a:spcPts val="7200"/>
              </a:lnSpc>
              <a:spcBef>
                <a:spcPct val="0"/>
              </a:spcBef>
            </a:pPr>
            <a:r>
              <a:rPr lang="en-US" sz="6000">
                <a:solidFill>
                  <a:srgbClr val="595959"/>
                </a:solidFill>
                <a:latin typeface="Times New Roman"/>
                <a:ea typeface="Times New Roman"/>
                <a:cs typeface="Times New Roman"/>
                <a:sym typeface="Times New Roman"/>
              </a:rPr>
              <a:t>“</a:t>
            </a:r>
            <a:r>
              <a:rPr lang="en-US" sz="6000">
                <a:solidFill>
                  <a:srgbClr val="595959"/>
                </a:solidFill>
                <a:latin typeface="Times New Roman"/>
                <a:ea typeface="Times New Roman"/>
                <a:cs typeface="Times New Roman"/>
                <a:sym typeface="Times New Roman"/>
              </a:rPr>
              <a:t>AI- Mock Interview with Streaming Avatar”</a:t>
            </a:r>
          </a:p>
        </p:txBody>
      </p:sp>
      <p:sp>
        <p:nvSpPr>
          <p:cNvPr name="TextBox 15" id="15"/>
          <p:cNvSpPr txBox="true"/>
          <p:nvPr/>
        </p:nvSpPr>
        <p:spPr>
          <a:xfrm rot="0">
            <a:off x="11595001" y="6336487"/>
            <a:ext cx="4645581" cy="1905000"/>
          </a:xfrm>
          <a:prstGeom prst="rect">
            <a:avLst/>
          </a:prstGeom>
        </p:spPr>
        <p:txBody>
          <a:bodyPr anchor="t" rtlCol="false" tIns="0" lIns="0" bIns="0" rIns="0">
            <a:spAutoFit/>
          </a:bodyPr>
          <a:lstStyle/>
          <a:p>
            <a:pPr algn="just">
              <a:lnSpc>
                <a:spcPts val="3001"/>
              </a:lnSpc>
              <a:spcBef>
                <a:spcPct val="0"/>
              </a:spcBef>
            </a:pPr>
          </a:p>
          <a:p>
            <a:pPr algn="just">
              <a:lnSpc>
                <a:spcPts val="3001"/>
              </a:lnSpc>
              <a:spcBef>
                <a:spcPct val="0"/>
              </a:spcBef>
            </a:pPr>
            <a:r>
              <a:rPr lang="en-US" sz="2501">
                <a:solidFill>
                  <a:srgbClr val="595959"/>
                </a:solidFill>
                <a:latin typeface="Times New Roman"/>
                <a:ea typeface="Times New Roman"/>
                <a:cs typeface="Times New Roman"/>
                <a:sym typeface="Times New Roman"/>
              </a:rPr>
              <a:t>Siya Purohit(0827IT231134)</a:t>
            </a:r>
          </a:p>
          <a:p>
            <a:pPr algn="just">
              <a:lnSpc>
                <a:spcPts val="3001"/>
              </a:lnSpc>
              <a:spcBef>
                <a:spcPct val="0"/>
              </a:spcBef>
            </a:pPr>
            <a:r>
              <a:rPr lang="en-US" sz="2501">
                <a:solidFill>
                  <a:srgbClr val="595959"/>
                </a:solidFill>
                <a:latin typeface="Times New Roman"/>
                <a:ea typeface="Times New Roman"/>
                <a:cs typeface="Times New Roman"/>
                <a:sym typeface="Times New Roman"/>
              </a:rPr>
              <a:t>Tulja Vishwakarma (0827IT231142)</a:t>
            </a:r>
          </a:p>
          <a:p>
            <a:pPr algn="just">
              <a:lnSpc>
                <a:spcPts val="3001"/>
              </a:lnSpc>
              <a:spcBef>
                <a:spcPct val="0"/>
              </a:spcBef>
            </a:pPr>
            <a:r>
              <a:rPr lang="en-US" sz="2501">
                <a:solidFill>
                  <a:srgbClr val="595959"/>
                </a:solidFill>
                <a:latin typeface="Times New Roman"/>
                <a:ea typeface="Times New Roman"/>
                <a:cs typeface="Times New Roman"/>
                <a:sym typeface="Times New Roman"/>
              </a:rPr>
              <a:t>Yuvanshi Bhalawat(0827IT231154)</a:t>
            </a:r>
          </a:p>
          <a:p>
            <a:pPr algn="just">
              <a:lnSpc>
                <a:spcPts val="3001"/>
              </a:lnSpc>
              <a:spcBef>
                <a:spcPct val="0"/>
              </a:spcBef>
            </a:pPr>
            <a:r>
              <a:rPr lang="en-US" sz="2501">
                <a:solidFill>
                  <a:srgbClr val="595959"/>
                </a:solidFill>
                <a:latin typeface="Times New Roman"/>
                <a:ea typeface="Times New Roman"/>
                <a:cs typeface="Times New Roman"/>
                <a:sym typeface="Times New Roman"/>
              </a:rPr>
              <a:t>Yukti Baldua (0827IT231153)</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FFFFF">
                <a:alpha val="100000"/>
              </a:srgbClr>
            </a:gs>
            <a:gs pos="100000">
              <a:srgbClr val="DDE6C3">
                <a:alpha val="100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sp>
        <p:nvSpPr>
          <p:cNvPr name="Freeform 2" id="2"/>
          <p:cNvSpPr/>
          <p:nvPr/>
        </p:nvSpPr>
        <p:spPr>
          <a:xfrm flipH="false" flipV="false" rot="0">
            <a:off x="1" y="342900"/>
            <a:ext cx="4277277" cy="9957940"/>
          </a:xfrm>
          <a:custGeom>
            <a:avLst/>
            <a:gdLst/>
            <a:ahLst/>
            <a:cxnLst/>
            <a:rect r="r" b="b" t="t" l="l"/>
            <a:pathLst>
              <a:path h="9957940" w="4277277">
                <a:moveTo>
                  <a:pt x="0" y="0"/>
                </a:moveTo>
                <a:lnTo>
                  <a:pt x="4277278" y="0"/>
                </a:lnTo>
                <a:lnTo>
                  <a:pt x="4277278" y="9957940"/>
                </a:lnTo>
                <a:lnTo>
                  <a:pt x="0" y="995794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0">
            <a:off x="40834" y="-1181"/>
            <a:ext cx="3535013" cy="10281056"/>
          </a:xfrm>
          <a:custGeom>
            <a:avLst/>
            <a:gdLst/>
            <a:ahLst/>
            <a:cxnLst/>
            <a:rect r="r" b="b" t="t" l="l"/>
            <a:pathLst>
              <a:path h="10281056" w="3535013">
                <a:moveTo>
                  <a:pt x="0" y="0"/>
                </a:moveTo>
                <a:lnTo>
                  <a:pt x="3535013" y="0"/>
                </a:lnTo>
                <a:lnTo>
                  <a:pt x="3535013" y="10281056"/>
                </a:lnTo>
                <a:lnTo>
                  <a:pt x="0" y="1028105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4" id="4"/>
          <p:cNvGrpSpPr/>
          <p:nvPr/>
        </p:nvGrpSpPr>
        <p:grpSpPr>
          <a:xfrm rot="0">
            <a:off x="0" y="0"/>
            <a:ext cx="274320" cy="10287000"/>
            <a:chOff x="0" y="0"/>
            <a:chExt cx="365760" cy="13716000"/>
          </a:xfrm>
        </p:grpSpPr>
        <p:sp>
          <p:nvSpPr>
            <p:cNvPr name="Freeform 5" id="5"/>
            <p:cNvSpPr/>
            <p:nvPr/>
          </p:nvSpPr>
          <p:spPr>
            <a:xfrm flipH="false" flipV="false" rot="0">
              <a:off x="0" y="0"/>
              <a:ext cx="365760" cy="13716000"/>
            </a:xfrm>
            <a:custGeom>
              <a:avLst/>
              <a:gdLst/>
              <a:ahLst/>
              <a:cxnLst/>
              <a:rect r="r" b="b" t="t" l="l"/>
              <a:pathLst>
                <a:path h="13716000" w="365760">
                  <a:moveTo>
                    <a:pt x="0" y="0"/>
                  </a:moveTo>
                  <a:lnTo>
                    <a:pt x="365760" y="0"/>
                  </a:lnTo>
                  <a:lnTo>
                    <a:pt x="365760" y="13716000"/>
                  </a:lnTo>
                  <a:lnTo>
                    <a:pt x="0" y="13716000"/>
                  </a:lnTo>
                  <a:close/>
                </a:path>
              </a:pathLst>
            </a:custGeom>
            <a:solidFill>
              <a:srgbClr val="766F54"/>
            </a:solidFill>
          </p:spPr>
        </p:sp>
      </p:grpSp>
      <p:grpSp>
        <p:nvGrpSpPr>
          <p:cNvPr name="Group 6" id="6"/>
          <p:cNvGrpSpPr/>
          <p:nvPr/>
        </p:nvGrpSpPr>
        <p:grpSpPr>
          <a:xfrm rot="0">
            <a:off x="15881785" y="9370781"/>
            <a:ext cx="2382793" cy="760943"/>
            <a:chOff x="0" y="0"/>
            <a:chExt cx="3177057" cy="1014590"/>
          </a:xfrm>
        </p:grpSpPr>
        <p:sp>
          <p:nvSpPr>
            <p:cNvPr name="Freeform 7" id="7"/>
            <p:cNvSpPr/>
            <p:nvPr/>
          </p:nvSpPr>
          <p:spPr>
            <a:xfrm flipH="false" flipV="false" rot="0">
              <a:off x="-14192" y="0"/>
              <a:ext cx="3191224" cy="1014603"/>
            </a:xfrm>
            <a:custGeom>
              <a:avLst/>
              <a:gdLst/>
              <a:ahLst/>
              <a:cxnLst/>
              <a:rect r="r" b="b" t="t" l="l"/>
              <a:pathLst>
                <a:path h="1014603" w="3191224">
                  <a:moveTo>
                    <a:pt x="14192" y="477012"/>
                  </a:moveTo>
                  <a:lnTo>
                    <a:pt x="472154" y="19050"/>
                  </a:lnTo>
                  <a:cubicBezTo>
                    <a:pt x="475202" y="15748"/>
                    <a:pt x="479012" y="12700"/>
                    <a:pt x="482060" y="9525"/>
                  </a:cubicBezTo>
                  <a:cubicBezTo>
                    <a:pt x="491331" y="0"/>
                    <a:pt x="500983" y="0"/>
                    <a:pt x="510635" y="0"/>
                  </a:cubicBezTo>
                  <a:lnTo>
                    <a:pt x="691991" y="0"/>
                  </a:lnTo>
                  <a:lnTo>
                    <a:pt x="3191224" y="7112"/>
                  </a:lnTo>
                  <a:cubicBezTo>
                    <a:pt x="3188430" y="342900"/>
                    <a:pt x="3185382" y="678815"/>
                    <a:pt x="3182588" y="1014603"/>
                  </a:cubicBezTo>
                  <a:lnTo>
                    <a:pt x="691991" y="1011174"/>
                  </a:lnTo>
                  <a:lnTo>
                    <a:pt x="510635" y="1011174"/>
                  </a:lnTo>
                  <a:cubicBezTo>
                    <a:pt x="500983" y="1011174"/>
                    <a:pt x="491458" y="1001649"/>
                    <a:pt x="482060" y="1001649"/>
                  </a:cubicBezTo>
                  <a:cubicBezTo>
                    <a:pt x="482060" y="992124"/>
                    <a:pt x="472154" y="992124"/>
                    <a:pt x="472154" y="992124"/>
                  </a:cubicBezTo>
                  <a:lnTo>
                    <a:pt x="14192" y="534162"/>
                  </a:lnTo>
                  <a:cubicBezTo>
                    <a:pt x="-4731" y="515112"/>
                    <a:pt x="-4731" y="496062"/>
                    <a:pt x="14192" y="476885"/>
                  </a:cubicBezTo>
                  <a:close/>
                </a:path>
              </a:pathLst>
            </a:custGeom>
            <a:solidFill>
              <a:srgbClr val="A53010"/>
            </a:solidFill>
          </p:spPr>
        </p:sp>
      </p:grpSp>
      <p:grpSp>
        <p:nvGrpSpPr>
          <p:cNvPr name="Group 8" id="8"/>
          <p:cNvGrpSpPr/>
          <p:nvPr/>
        </p:nvGrpSpPr>
        <p:grpSpPr>
          <a:xfrm rot="0">
            <a:off x="233563" y="0"/>
            <a:ext cx="2185988" cy="1864519"/>
            <a:chOff x="0" y="0"/>
            <a:chExt cx="2914650" cy="2486025"/>
          </a:xfrm>
        </p:grpSpPr>
        <p:sp>
          <p:nvSpPr>
            <p:cNvPr name="Freeform 9" id="9"/>
            <p:cNvSpPr/>
            <p:nvPr/>
          </p:nvSpPr>
          <p:spPr>
            <a:xfrm flipH="false" flipV="false" rot="0">
              <a:off x="0" y="0"/>
              <a:ext cx="2914650" cy="2486025"/>
            </a:xfrm>
            <a:custGeom>
              <a:avLst/>
              <a:gdLst/>
              <a:ahLst/>
              <a:cxnLst/>
              <a:rect r="r" b="b" t="t" l="l"/>
              <a:pathLst>
                <a:path h="2486025" w="2914650">
                  <a:moveTo>
                    <a:pt x="0" y="0"/>
                  </a:moveTo>
                  <a:lnTo>
                    <a:pt x="2914650" y="0"/>
                  </a:lnTo>
                  <a:lnTo>
                    <a:pt x="2914650" y="2486025"/>
                  </a:lnTo>
                  <a:lnTo>
                    <a:pt x="0" y="2486025"/>
                  </a:lnTo>
                  <a:lnTo>
                    <a:pt x="0" y="0"/>
                  </a:lnTo>
                  <a:close/>
                </a:path>
              </a:pathLst>
            </a:custGeom>
            <a:blipFill>
              <a:blip r:embed="rId7"/>
              <a:stretch>
                <a:fillRect l="0" t="0" r="0" b="0"/>
              </a:stretch>
            </a:blipFill>
          </p:spPr>
        </p:sp>
      </p:grpSp>
      <p:grpSp>
        <p:nvGrpSpPr>
          <p:cNvPr name="Group 10" id="10"/>
          <p:cNvGrpSpPr/>
          <p:nvPr/>
        </p:nvGrpSpPr>
        <p:grpSpPr>
          <a:xfrm rot="0">
            <a:off x="16655091" y="-591331"/>
            <a:ext cx="1525553" cy="2712101"/>
            <a:chOff x="0" y="0"/>
            <a:chExt cx="2034070" cy="3616134"/>
          </a:xfrm>
        </p:grpSpPr>
        <p:sp>
          <p:nvSpPr>
            <p:cNvPr name="Freeform 11" id="11"/>
            <p:cNvSpPr/>
            <p:nvPr/>
          </p:nvSpPr>
          <p:spPr>
            <a:xfrm flipH="false" flipV="false" rot="0">
              <a:off x="0" y="0"/>
              <a:ext cx="2034032" cy="3616071"/>
            </a:xfrm>
            <a:custGeom>
              <a:avLst/>
              <a:gdLst/>
              <a:ahLst/>
              <a:cxnLst/>
              <a:rect r="r" b="b" t="t" l="l"/>
              <a:pathLst>
                <a:path h="3616071" w="2034032">
                  <a:moveTo>
                    <a:pt x="0" y="0"/>
                  </a:moveTo>
                  <a:lnTo>
                    <a:pt x="2034032" y="0"/>
                  </a:lnTo>
                  <a:lnTo>
                    <a:pt x="2034032" y="3616071"/>
                  </a:lnTo>
                  <a:lnTo>
                    <a:pt x="0" y="3616071"/>
                  </a:lnTo>
                  <a:lnTo>
                    <a:pt x="0" y="0"/>
                  </a:lnTo>
                  <a:close/>
                </a:path>
              </a:pathLst>
            </a:custGeom>
            <a:blipFill>
              <a:blip r:embed="rId8"/>
              <a:stretch>
                <a:fillRect l="0" t="0" r="-1" b="-55"/>
              </a:stretch>
            </a:blipFill>
          </p:spPr>
        </p:sp>
      </p:grpSp>
      <p:sp>
        <p:nvSpPr>
          <p:cNvPr name="TextBox 12" id="12"/>
          <p:cNvSpPr txBox="true"/>
          <p:nvPr/>
        </p:nvSpPr>
        <p:spPr>
          <a:xfrm rot="0">
            <a:off x="3975240" y="721223"/>
            <a:ext cx="13184676" cy="1868033"/>
          </a:xfrm>
          <a:prstGeom prst="rect">
            <a:avLst/>
          </a:prstGeom>
        </p:spPr>
        <p:txBody>
          <a:bodyPr anchor="t" rtlCol="false" tIns="0" lIns="0" bIns="0" rIns="0">
            <a:spAutoFit/>
          </a:bodyPr>
          <a:lstStyle/>
          <a:p>
            <a:pPr algn="l">
              <a:lnSpc>
                <a:spcPts val="7200"/>
              </a:lnSpc>
            </a:pPr>
            <a:r>
              <a:rPr lang="en-US" sz="6000">
                <a:solidFill>
                  <a:srgbClr val="262626"/>
                </a:solidFill>
                <a:latin typeface="Times New Roman"/>
                <a:ea typeface="Times New Roman"/>
                <a:cs typeface="Times New Roman"/>
                <a:sym typeface="Times New Roman"/>
              </a:rPr>
              <a:t>Contents</a:t>
            </a:r>
          </a:p>
        </p:txBody>
      </p:sp>
      <p:sp>
        <p:nvSpPr>
          <p:cNvPr name="TextBox 13" id="13"/>
          <p:cNvSpPr txBox="true"/>
          <p:nvPr/>
        </p:nvSpPr>
        <p:spPr>
          <a:xfrm rot="0">
            <a:off x="3575847" y="2121975"/>
            <a:ext cx="13584069" cy="5059976"/>
          </a:xfrm>
          <a:prstGeom prst="rect">
            <a:avLst/>
          </a:prstGeom>
        </p:spPr>
        <p:txBody>
          <a:bodyPr anchor="t" rtlCol="false" tIns="0" lIns="0" bIns="0" rIns="0">
            <a:spAutoFit/>
          </a:bodyPr>
          <a:lstStyle/>
          <a:p>
            <a:pPr algn="l" marL="620640" indent="-310320" lvl="1">
              <a:lnSpc>
                <a:spcPts val="3292"/>
              </a:lnSpc>
              <a:buAutoNum type="arabicPeriod" startAt="1"/>
            </a:pPr>
            <a:r>
              <a:rPr lang="en-US" sz="3429">
                <a:solidFill>
                  <a:srgbClr val="3F3F3F"/>
                </a:solidFill>
                <a:latin typeface="Times New Roman"/>
                <a:ea typeface="Times New Roman"/>
                <a:cs typeface="Times New Roman"/>
                <a:sym typeface="Times New Roman"/>
              </a:rPr>
              <a:t>Introduction</a:t>
            </a:r>
          </a:p>
          <a:p>
            <a:pPr algn="l" marL="517200" indent="-258600" lvl="1">
              <a:lnSpc>
                <a:spcPts val="2743"/>
              </a:lnSpc>
            </a:pPr>
            <a:r>
              <a:rPr lang="en-US" sz="2857">
                <a:solidFill>
                  <a:srgbClr val="C00000"/>
                </a:solidFill>
                <a:latin typeface="Times New Roman"/>
                <a:ea typeface="Times New Roman"/>
                <a:cs typeface="Times New Roman"/>
                <a:sym typeface="Times New Roman"/>
              </a:rPr>
              <a:t>1.1</a:t>
            </a:r>
            <a:r>
              <a:rPr lang="en-US" sz="2857">
                <a:solidFill>
                  <a:srgbClr val="3F3F3F"/>
                </a:solidFill>
                <a:latin typeface="Times New Roman"/>
                <a:ea typeface="Times New Roman"/>
                <a:cs typeface="Times New Roman"/>
                <a:sym typeface="Times New Roman"/>
              </a:rPr>
              <a:t> Overview</a:t>
            </a:r>
          </a:p>
          <a:p>
            <a:pPr algn="l" marL="517200" indent="-258600" lvl="1">
              <a:lnSpc>
                <a:spcPts val="2743"/>
              </a:lnSpc>
            </a:pPr>
            <a:r>
              <a:rPr lang="en-US" sz="2857">
                <a:solidFill>
                  <a:srgbClr val="C00000"/>
                </a:solidFill>
                <a:latin typeface="Times New Roman"/>
                <a:ea typeface="Times New Roman"/>
                <a:cs typeface="Times New Roman"/>
                <a:sym typeface="Times New Roman"/>
              </a:rPr>
              <a:t>1.2</a:t>
            </a:r>
            <a:r>
              <a:rPr lang="en-US" sz="2857">
                <a:solidFill>
                  <a:srgbClr val="3F3F3F"/>
                </a:solidFill>
                <a:latin typeface="Times New Roman"/>
                <a:ea typeface="Times New Roman"/>
                <a:cs typeface="Times New Roman"/>
                <a:sym typeface="Times New Roman"/>
              </a:rPr>
              <a:t> Purpose</a:t>
            </a:r>
          </a:p>
          <a:p>
            <a:pPr algn="l" marL="620640" indent="-310320" lvl="1">
              <a:lnSpc>
                <a:spcPts val="3292"/>
              </a:lnSpc>
              <a:buAutoNum type="arabicPeriod" startAt="1"/>
            </a:pPr>
            <a:r>
              <a:rPr lang="en-US" sz="3429">
                <a:solidFill>
                  <a:srgbClr val="3F3F3F"/>
                </a:solidFill>
                <a:latin typeface="Times New Roman"/>
                <a:ea typeface="Times New Roman"/>
                <a:cs typeface="Times New Roman"/>
                <a:sym typeface="Times New Roman"/>
              </a:rPr>
              <a:t>Literature Review</a:t>
            </a:r>
          </a:p>
          <a:p>
            <a:pPr algn="l" marL="620640" indent="-310320" lvl="1">
              <a:lnSpc>
                <a:spcPts val="3292"/>
              </a:lnSpc>
              <a:buAutoNum type="arabicPeriod" startAt="1"/>
            </a:pPr>
            <a:r>
              <a:rPr lang="en-US" sz="3429">
                <a:solidFill>
                  <a:srgbClr val="3F3F3F"/>
                </a:solidFill>
                <a:latin typeface="Times New Roman"/>
                <a:ea typeface="Times New Roman"/>
                <a:cs typeface="Times New Roman"/>
                <a:sym typeface="Times New Roman"/>
              </a:rPr>
              <a:t>Problem Statement</a:t>
            </a:r>
          </a:p>
          <a:p>
            <a:pPr algn="l" marL="620640" indent="-310320" lvl="1">
              <a:lnSpc>
                <a:spcPts val="3292"/>
              </a:lnSpc>
              <a:buAutoNum type="arabicPeriod" startAt="1"/>
            </a:pPr>
            <a:r>
              <a:rPr lang="en-US" sz="3429">
                <a:solidFill>
                  <a:srgbClr val="3F3F3F"/>
                </a:solidFill>
                <a:latin typeface="Times New Roman"/>
                <a:ea typeface="Times New Roman"/>
                <a:cs typeface="Times New Roman"/>
                <a:sym typeface="Times New Roman"/>
              </a:rPr>
              <a:t>Proposed Solution</a:t>
            </a:r>
          </a:p>
          <a:p>
            <a:pPr algn="l" marL="620640" indent="-310320" lvl="1">
              <a:lnSpc>
                <a:spcPts val="3292"/>
              </a:lnSpc>
              <a:buAutoNum type="arabicPeriod" startAt="1"/>
            </a:pPr>
            <a:r>
              <a:rPr lang="en-US" sz="3429">
                <a:solidFill>
                  <a:srgbClr val="3F3F3F"/>
                </a:solidFill>
                <a:latin typeface="Times New Roman"/>
                <a:ea typeface="Times New Roman"/>
                <a:cs typeface="Times New Roman"/>
                <a:sym typeface="Times New Roman"/>
              </a:rPr>
              <a:t>Objectives</a:t>
            </a:r>
          </a:p>
          <a:p>
            <a:pPr algn="l" marL="620640" indent="-310320" lvl="1">
              <a:lnSpc>
                <a:spcPts val="3292"/>
              </a:lnSpc>
              <a:buAutoNum type="arabicPeriod" startAt="1"/>
            </a:pPr>
            <a:r>
              <a:rPr lang="en-US" sz="3429">
                <a:solidFill>
                  <a:srgbClr val="3F3F3F"/>
                </a:solidFill>
                <a:latin typeface="Times New Roman"/>
                <a:ea typeface="Times New Roman"/>
                <a:cs typeface="Times New Roman"/>
                <a:sym typeface="Times New Roman"/>
              </a:rPr>
              <a:t>Theoretical Analysis</a:t>
            </a:r>
          </a:p>
          <a:p>
            <a:pPr algn="l" marL="517200" indent="-258600" lvl="1">
              <a:lnSpc>
                <a:spcPts val="2743"/>
              </a:lnSpc>
            </a:pPr>
            <a:r>
              <a:rPr lang="en-US" sz="2857">
                <a:solidFill>
                  <a:srgbClr val="C00000"/>
                </a:solidFill>
                <a:latin typeface="Times New Roman"/>
                <a:ea typeface="Times New Roman"/>
                <a:cs typeface="Times New Roman"/>
                <a:sym typeface="Times New Roman"/>
              </a:rPr>
              <a:t>5</a:t>
            </a:r>
            <a:r>
              <a:rPr lang="en-US" sz="2857">
                <a:solidFill>
                  <a:srgbClr val="C00000"/>
                </a:solidFill>
                <a:latin typeface="Times New Roman"/>
                <a:ea typeface="Times New Roman"/>
                <a:cs typeface="Times New Roman"/>
                <a:sym typeface="Times New Roman"/>
              </a:rPr>
              <a:t>.1</a:t>
            </a:r>
            <a:r>
              <a:rPr lang="en-US" sz="2857">
                <a:solidFill>
                  <a:srgbClr val="3F3F3F"/>
                </a:solidFill>
                <a:latin typeface="Times New Roman"/>
                <a:ea typeface="Times New Roman"/>
                <a:cs typeface="Times New Roman"/>
                <a:sym typeface="Times New Roman"/>
              </a:rPr>
              <a:t> Block Diagram</a:t>
            </a:r>
          </a:p>
          <a:p>
            <a:pPr algn="l" marL="517200" indent="-258600" lvl="1">
              <a:lnSpc>
                <a:spcPts val="2743"/>
              </a:lnSpc>
            </a:pPr>
            <a:r>
              <a:rPr lang="en-US" sz="2857">
                <a:solidFill>
                  <a:srgbClr val="C00000"/>
                </a:solidFill>
                <a:latin typeface="Times New Roman"/>
                <a:ea typeface="Times New Roman"/>
                <a:cs typeface="Times New Roman"/>
                <a:sym typeface="Times New Roman"/>
              </a:rPr>
              <a:t>5.2</a:t>
            </a:r>
            <a:r>
              <a:rPr lang="en-US" sz="2857">
                <a:solidFill>
                  <a:srgbClr val="3F3F3F"/>
                </a:solidFill>
                <a:latin typeface="Times New Roman"/>
                <a:ea typeface="Times New Roman"/>
                <a:cs typeface="Times New Roman"/>
                <a:sym typeface="Times New Roman"/>
              </a:rPr>
              <a:t> Hardware Requirements</a:t>
            </a:r>
          </a:p>
          <a:p>
            <a:pPr algn="l" marL="517200" indent="-258600" lvl="1">
              <a:lnSpc>
                <a:spcPts val="2743"/>
              </a:lnSpc>
            </a:pPr>
            <a:r>
              <a:rPr lang="en-US" sz="2857">
                <a:solidFill>
                  <a:srgbClr val="C00000"/>
                </a:solidFill>
                <a:latin typeface="Times New Roman"/>
                <a:ea typeface="Times New Roman"/>
                <a:cs typeface="Times New Roman"/>
                <a:sym typeface="Times New Roman"/>
              </a:rPr>
              <a:t>5.3</a:t>
            </a:r>
            <a:r>
              <a:rPr lang="en-US" sz="2857">
                <a:solidFill>
                  <a:srgbClr val="3F3F3F"/>
                </a:solidFill>
                <a:latin typeface="Times New Roman"/>
                <a:ea typeface="Times New Roman"/>
                <a:cs typeface="Times New Roman"/>
                <a:sym typeface="Times New Roman"/>
              </a:rPr>
              <a:t> Software Requirements</a:t>
            </a:r>
          </a:p>
          <a:p>
            <a:pPr algn="l" marL="620640" indent="-310320" lvl="1">
              <a:lnSpc>
                <a:spcPts val="3292"/>
              </a:lnSpc>
              <a:buAutoNum type="arabicPeriod" startAt="1"/>
            </a:pPr>
            <a:r>
              <a:rPr lang="en-US" sz="3429">
                <a:solidFill>
                  <a:srgbClr val="3F3F3F"/>
                </a:solidFill>
                <a:latin typeface="Times New Roman"/>
                <a:ea typeface="Times New Roman"/>
                <a:cs typeface="Times New Roman"/>
                <a:sym typeface="Times New Roman"/>
              </a:rPr>
              <a:t>Applications </a:t>
            </a:r>
          </a:p>
          <a:p>
            <a:pPr algn="l" marL="620640" indent="-310320" lvl="1">
              <a:lnSpc>
                <a:spcPts val="3292"/>
              </a:lnSpc>
            </a:pPr>
            <a:r>
              <a:rPr lang="en-US" sz="3429">
                <a:solidFill>
                  <a:srgbClr val="3F3F3F"/>
                </a:solidFill>
                <a:latin typeface="Times New Roman"/>
                <a:ea typeface="Times New Roman"/>
                <a:cs typeface="Times New Roman"/>
                <a:sym typeface="Times New Roman"/>
              </a:rPr>
              <a:t>REFERENCES</a:t>
            </a:r>
          </a:p>
        </p:txBody>
      </p:sp>
      <p:grpSp>
        <p:nvGrpSpPr>
          <p:cNvPr name="Group 14" id="14"/>
          <p:cNvGrpSpPr/>
          <p:nvPr/>
        </p:nvGrpSpPr>
        <p:grpSpPr>
          <a:xfrm rot="0">
            <a:off x="16833047" y="9507236"/>
            <a:ext cx="1169651" cy="547688"/>
            <a:chOff x="0" y="0"/>
            <a:chExt cx="1559535" cy="730250"/>
          </a:xfrm>
        </p:grpSpPr>
        <p:sp>
          <p:nvSpPr>
            <p:cNvPr name="Freeform 15" id="15"/>
            <p:cNvSpPr/>
            <p:nvPr/>
          </p:nvSpPr>
          <p:spPr>
            <a:xfrm flipH="false" flipV="false" rot="0">
              <a:off x="0" y="0"/>
              <a:ext cx="1559534" cy="730250"/>
            </a:xfrm>
            <a:custGeom>
              <a:avLst/>
              <a:gdLst/>
              <a:ahLst/>
              <a:cxnLst/>
              <a:rect r="r" b="b" t="t" l="l"/>
              <a:pathLst>
                <a:path h="730250" w="1559534">
                  <a:moveTo>
                    <a:pt x="0" y="0"/>
                  </a:moveTo>
                  <a:lnTo>
                    <a:pt x="1559534" y="0"/>
                  </a:lnTo>
                  <a:lnTo>
                    <a:pt x="1559534" y="730250"/>
                  </a:lnTo>
                  <a:lnTo>
                    <a:pt x="0" y="730250"/>
                  </a:lnTo>
                  <a:close/>
                </a:path>
              </a:pathLst>
            </a:custGeom>
            <a:blipFill>
              <a:blip r:embed="rId9">
                <a:alphaModFix amt="0"/>
              </a:blip>
              <a:stretch>
                <a:fillRect l="-10077" t="0" r="-10078" b="0"/>
              </a:stretch>
            </a:blipFill>
          </p:spPr>
        </p:sp>
        <p:sp>
          <p:nvSpPr>
            <p:cNvPr name="TextBox 16" id="16"/>
            <p:cNvSpPr txBox="true"/>
            <p:nvPr/>
          </p:nvSpPr>
          <p:spPr>
            <a:xfrm>
              <a:off x="0" y="0"/>
              <a:ext cx="1559535" cy="730250"/>
            </a:xfrm>
            <a:prstGeom prst="rect">
              <a:avLst/>
            </a:prstGeom>
          </p:spPr>
          <p:txBody>
            <a:bodyPr anchor="ctr" rtlCol="false" tIns="0" lIns="0" bIns="0" rIns="0"/>
            <a:lstStyle/>
            <a:p>
              <a:pPr algn="r">
                <a:lnSpc>
                  <a:spcPts val="3600"/>
                </a:lnSpc>
              </a:pPr>
              <a:r>
                <a:rPr lang="en-US" sz="3000">
                  <a:solidFill>
                    <a:srgbClr val="FFFFFF"/>
                  </a:solidFill>
                  <a:latin typeface="Century Gothic Paneuropean"/>
                  <a:ea typeface="Century Gothic Paneuropean"/>
                  <a:cs typeface="Century Gothic Paneuropean"/>
                  <a:sym typeface="Century Gothic Paneuropean"/>
                </a:rPr>
                <a:t>2</a:t>
              </a:r>
            </a:p>
          </p:txBody>
        </p:sp>
      </p:gr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FFFFF">
                <a:alpha val="100000"/>
              </a:srgbClr>
            </a:gs>
            <a:gs pos="100000">
              <a:srgbClr val="DDE6C3">
                <a:alpha val="100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sp>
        <p:nvSpPr>
          <p:cNvPr name="Freeform 2" id="2"/>
          <p:cNvSpPr/>
          <p:nvPr/>
        </p:nvSpPr>
        <p:spPr>
          <a:xfrm flipH="false" flipV="false" rot="0">
            <a:off x="1" y="342900"/>
            <a:ext cx="4277277" cy="9957940"/>
          </a:xfrm>
          <a:custGeom>
            <a:avLst/>
            <a:gdLst/>
            <a:ahLst/>
            <a:cxnLst/>
            <a:rect r="r" b="b" t="t" l="l"/>
            <a:pathLst>
              <a:path h="9957940" w="4277277">
                <a:moveTo>
                  <a:pt x="0" y="0"/>
                </a:moveTo>
                <a:lnTo>
                  <a:pt x="4277278" y="0"/>
                </a:lnTo>
                <a:lnTo>
                  <a:pt x="4277278" y="9957940"/>
                </a:lnTo>
                <a:lnTo>
                  <a:pt x="0" y="995794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0">
            <a:off x="40834" y="-1181"/>
            <a:ext cx="3535013" cy="10281056"/>
          </a:xfrm>
          <a:custGeom>
            <a:avLst/>
            <a:gdLst/>
            <a:ahLst/>
            <a:cxnLst/>
            <a:rect r="r" b="b" t="t" l="l"/>
            <a:pathLst>
              <a:path h="10281056" w="3535013">
                <a:moveTo>
                  <a:pt x="0" y="0"/>
                </a:moveTo>
                <a:lnTo>
                  <a:pt x="3535013" y="0"/>
                </a:lnTo>
                <a:lnTo>
                  <a:pt x="3535013" y="10281056"/>
                </a:lnTo>
                <a:lnTo>
                  <a:pt x="0" y="1028105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4" id="4"/>
          <p:cNvGrpSpPr/>
          <p:nvPr/>
        </p:nvGrpSpPr>
        <p:grpSpPr>
          <a:xfrm rot="0">
            <a:off x="0" y="0"/>
            <a:ext cx="274320" cy="10287000"/>
            <a:chOff x="0" y="0"/>
            <a:chExt cx="365760" cy="13716000"/>
          </a:xfrm>
        </p:grpSpPr>
        <p:sp>
          <p:nvSpPr>
            <p:cNvPr name="Freeform 5" id="5"/>
            <p:cNvSpPr/>
            <p:nvPr/>
          </p:nvSpPr>
          <p:spPr>
            <a:xfrm flipH="false" flipV="false" rot="0">
              <a:off x="0" y="0"/>
              <a:ext cx="365760" cy="13716000"/>
            </a:xfrm>
            <a:custGeom>
              <a:avLst/>
              <a:gdLst/>
              <a:ahLst/>
              <a:cxnLst/>
              <a:rect r="r" b="b" t="t" l="l"/>
              <a:pathLst>
                <a:path h="13716000" w="365760">
                  <a:moveTo>
                    <a:pt x="0" y="0"/>
                  </a:moveTo>
                  <a:lnTo>
                    <a:pt x="365760" y="0"/>
                  </a:lnTo>
                  <a:lnTo>
                    <a:pt x="365760" y="13716000"/>
                  </a:lnTo>
                  <a:lnTo>
                    <a:pt x="0" y="13716000"/>
                  </a:lnTo>
                  <a:close/>
                </a:path>
              </a:pathLst>
            </a:custGeom>
            <a:solidFill>
              <a:srgbClr val="766F54"/>
            </a:solidFill>
          </p:spPr>
        </p:sp>
      </p:grpSp>
      <p:grpSp>
        <p:nvGrpSpPr>
          <p:cNvPr name="Group 6" id="6"/>
          <p:cNvGrpSpPr/>
          <p:nvPr/>
        </p:nvGrpSpPr>
        <p:grpSpPr>
          <a:xfrm rot="0">
            <a:off x="15881785" y="9370781"/>
            <a:ext cx="2382793" cy="760943"/>
            <a:chOff x="0" y="0"/>
            <a:chExt cx="3177057" cy="1014590"/>
          </a:xfrm>
        </p:grpSpPr>
        <p:sp>
          <p:nvSpPr>
            <p:cNvPr name="Freeform 7" id="7"/>
            <p:cNvSpPr/>
            <p:nvPr/>
          </p:nvSpPr>
          <p:spPr>
            <a:xfrm flipH="false" flipV="false" rot="0">
              <a:off x="-14192" y="0"/>
              <a:ext cx="3191224" cy="1014603"/>
            </a:xfrm>
            <a:custGeom>
              <a:avLst/>
              <a:gdLst/>
              <a:ahLst/>
              <a:cxnLst/>
              <a:rect r="r" b="b" t="t" l="l"/>
              <a:pathLst>
                <a:path h="1014603" w="3191224">
                  <a:moveTo>
                    <a:pt x="14192" y="477012"/>
                  </a:moveTo>
                  <a:lnTo>
                    <a:pt x="472154" y="19050"/>
                  </a:lnTo>
                  <a:cubicBezTo>
                    <a:pt x="475202" y="15748"/>
                    <a:pt x="479012" y="12700"/>
                    <a:pt x="482060" y="9525"/>
                  </a:cubicBezTo>
                  <a:cubicBezTo>
                    <a:pt x="491331" y="0"/>
                    <a:pt x="500983" y="0"/>
                    <a:pt x="510635" y="0"/>
                  </a:cubicBezTo>
                  <a:lnTo>
                    <a:pt x="691991" y="0"/>
                  </a:lnTo>
                  <a:lnTo>
                    <a:pt x="3191224" y="7112"/>
                  </a:lnTo>
                  <a:cubicBezTo>
                    <a:pt x="3188430" y="342900"/>
                    <a:pt x="3185382" y="678815"/>
                    <a:pt x="3182588" y="1014603"/>
                  </a:cubicBezTo>
                  <a:lnTo>
                    <a:pt x="691991" y="1011174"/>
                  </a:lnTo>
                  <a:lnTo>
                    <a:pt x="510635" y="1011174"/>
                  </a:lnTo>
                  <a:cubicBezTo>
                    <a:pt x="500983" y="1011174"/>
                    <a:pt x="491458" y="1001649"/>
                    <a:pt x="482060" y="1001649"/>
                  </a:cubicBezTo>
                  <a:cubicBezTo>
                    <a:pt x="482060" y="992124"/>
                    <a:pt x="472154" y="992124"/>
                    <a:pt x="472154" y="992124"/>
                  </a:cubicBezTo>
                  <a:lnTo>
                    <a:pt x="14192" y="534162"/>
                  </a:lnTo>
                  <a:cubicBezTo>
                    <a:pt x="-4731" y="515112"/>
                    <a:pt x="-4731" y="496062"/>
                    <a:pt x="14192" y="476885"/>
                  </a:cubicBezTo>
                  <a:close/>
                </a:path>
              </a:pathLst>
            </a:custGeom>
            <a:solidFill>
              <a:srgbClr val="A53010"/>
            </a:solidFill>
          </p:spPr>
        </p:sp>
      </p:grpSp>
      <p:grpSp>
        <p:nvGrpSpPr>
          <p:cNvPr name="Group 8" id="8"/>
          <p:cNvGrpSpPr/>
          <p:nvPr/>
        </p:nvGrpSpPr>
        <p:grpSpPr>
          <a:xfrm rot="0">
            <a:off x="233563" y="0"/>
            <a:ext cx="2185988" cy="1864519"/>
            <a:chOff x="0" y="0"/>
            <a:chExt cx="2914650" cy="2486025"/>
          </a:xfrm>
        </p:grpSpPr>
        <p:sp>
          <p:nvSpPr>
            <p:cNvPr name="Freeform 9" id="9"/>
            <p:cNvSpPr/>
            <p:nvPr/>
          </p:nvSpPr>
          <p:spPr>
            <a:xfrm flipH="false" flipV="false" rot="0">
              <a:off x="0" y="0"/>
              <a:ext cx="2914650" cy="2486025"/>
            </a:xfrm>
            <a:custGeom>
              <a:avLst/>
              <a:gdLst/>
              <a:ahLst/>
              <a:cxnLst/>
              <a:rect r="r" b="b" t="t" l="l"/>
              <a:pathLst>
                <a:path h="2486025" w="2914650">
                  <a:moveTo>
                    <a:pt x="0" y="0"/>
                  </a:moveTo>
                  <a:lnTo>
                    <a:pt x="2914650" y="0"/>
                  </a:lnTo>
                  <a:lnTo>
                    <a:pt x="2914650" y="2486025"/>
                  </a:lnTo>
                  <a:lnTo>
                    <a:pt x="0" y="2486025"/>
                  </a:lnTo>
                  <a:lnTo>
                    <a:pt x="0" y="0"/>
                  </a:lnTo>
                  <a:close/>
                </a:path>
              </a:pathLst>
            </a:custGeom>
            <a:blipFill>
              <a:blip r:embed="rId7"/>
              <a:stretch>
                <a:fillRect l="0" t="0" r="0" b="0"/>
              </a:stretch>
            </a:blipFill>
          </p:spPr>
        </p:sp>
      </p:grpSp>
      <p:grpSp>
        <p:nvGrpSpPr>
          <p:cNvPr name="Group 10" id="10"/>
          <p:cNvGrpSpPr/>
          <p:nvPr/>
        </p:nvGrpSpPr>
        <p:grpSpPr>
          <a:xfrm rot="0">
            <a:off x="16655091" y="-591331"/>
            <a:ext cx="1525553" cy="2712101"/>
            <a:chOff x="0" y="0"/>
            <a:chExt cx="2034070" cy="3616134"/>
          </a:xfrm>
        </p:grpSpPr>
        <p:sp>
          <p:nvSpPr>
            <p:cNvPr name="Freeform 11" id="11"/>
            <p:cNvSpPr/>
            <p:nvPr/>
          </p:nvSpPr>
          <p:spPr>
            <a:xfrm flipH="false" flipV="false" rot="0">
              <a:off x="0" y="0"/>
              <a:ext cx="2034032" cy="3616071"/>
            </a:xfrm>
            <a:custGeom>
              <a:avLst/>
              <a:gdLst/>
              <a:ahLst/>
              <a:cxnLst/>
              <a:rect r="r" b="b" t="t" l="l"/>
              <a:pathLst>
                <a:path h="3616071" w="2034032">
                  <a:moveTo>
                    <a:pt x="0" y="0"/>
                  </a:moveTo>
                  <a:lnTo>
                    <a:pt x="2034032" y="0"/>
                  </a:lnTo>
                  <a:lnTo>
                    <a:pt x="2034032" y="3616071"/>
                  </a:lnTo>
                  <a:lnTo>
                    <a:pt x="0" y="3616071"/>
                  </a:lnTo>
                  <a:lnTo>
                    <a:pt x="0" y="0"/>
                  </a:lnTo>
                  <a:close/>
                </a:path>
              </a:pathLst>
            </a:custGeom>
            <a:blipFill>
              <a:blip r:embed="rId8"/>
              <a:stretch>
                <a:fillRect l="0" t="0" r="-1" b="-55"/>
              </a:stretch>
            </a:blipFill>
          </p:spPr>
        </p:sp>
      </p:grpSp>
      <p:grpSp>
        <p:nvGrpSpPr>
          <p:cNvPr name="Group 12" id="12"/>
          <p:cNvGrpSpPr/>
          <p:nvPr/>
        </p:nvGrpSpPr>
        <p:grpSpPr>
          <a:xfrm rot="0">
            <a:off x="16833047" y="9507236"/>
            <a:ext cx="1169651" cy="547688"/>
            <a:chOff x="0" y="0"/>
            <a:chExt cx="1559535" cy="730250"/>
          </a:xfrm>
        </p:grpSpPr>
        <p:sp>
          <p:nvSpPr>
            <p:cNvPr name="Freeform 13" id="13"/>
            <p:cNvSpPr/>
            <p:nvPr/>
          </p:nvSpPr>
          <p:spPr>
            <a:xfrm flipH="false" flipV="false" rot="0">
              <a:off x="0" y="0"/>
              <a:ext cx="1559534" cy="730250"/>
            </a:xfrm>
            <a:custGeom>
              <a:avLst/>
              <a:gdLst/>
              <a:ahLst/>
              <a:cxnLst/>
              <a:rect r="r" b="b" t="t" l="l"/>
              <a:pathLst>
                <a:path h="730250" w="1559534">
                  <a:moveTo>
                    <a:pt x="0" y="0"/>
                  </a:moveTo>
                  <a:lnTo>
                    <a:pt x="1559534" y="0"/>
                  </a:lnTo>
                  <a:lnTo>
                    <a:pt x="1559534" y="730250"/>
                  </a:lnTo>
                  <a:lnTo>
                    <a:pt x="0" y="730250"/>
                  </a:lnTo>
                  <a:close/>
                </a:path>
              </a:pathLst>
            </a:custGeom>
            <a:blipFill>
              <a:blip r:embed="rId9">
                <a:alphaModFix amt="0"/>
              </a:blip>
              <a:stretch>
                <a:fillRect l="-10077" t="0" r="-10078" b="0"/>
              </a:stretch>
            </a:blipFill>
          </p:spPr>
        </p:sp>
        <p:sp>
          <p:nvSpPr>
            <p:cNvPr name="TextBox 14" id="14"/>
            <p:cNvSpPr txBox="true"/>
            <p:nvPr/>
          </p:nvSpPr>
          <p:spPr>
            <a:xfrm>
              <a:off x="0" y="0"/>
              <a:ext cx="1559535" cy="730250"/>
            </a:xfrm>
            <a:prstGeom prst="rect">
              <a:avLst/>
            </a:prstGeom>
          </p:spPr>
          <p:txBody>
            <a:bodyPr anchor="ctr" rtlCol="false" tIns="0" lIns="0" bIns="0" rIns="0"/>
            <a:lstStyle/>
            <a:p>
              <a:pPr algn="r">
                <a:lnSpc>
                  <a:spcPts val="3600"/>
                </a:lnSpc>
              </a:pPr>
              <a:r>
                <a:rPr lang="en-US" sz="3000">
                  <a:solidFill>
                    <a:srgbClr val="FFFFFF"/>
                  </a:solidFill>
                  <a:latin typeface="Century Gothic Paneuropean"/>
                  <a:ea typeface="Century Gothic Paneuropean"/>
                  <a:cs typeface="Century Gothic Paneuropean"/>
                  <a:sym typeface="Century Gothic Paneuropean"/>
                </a:rPr>
                <a:t>3</a:t>
              </a:r>
            </a:p>
          </p:txBody>
        </p:sp>
      </p:grpSp>
      <p:grpSp>
        <p:nvGrpSpPr>
          <p:cNvPr name="Group 15" id="15"/>
          <p:cNvGrpSpPr/>
          <p:nvPr/>
        </p:nvGrpSpPr>
        <p:grpSpPr>
          <a:xfrm rot="0">
            <a:off x="2419550" y="2120770"/>
            <a:ext cx="6724450" cy="7934154"/>
            <a:chOff x="0" y="0"/>
            <a:chExt cx="1771049" cy="2089654"/>
          </a:xfrm>
        </p:grpSpPr>
        <p:sp>
          <p:nvSpPr>
            <p:cNvPr name="Freeform 16" id="16"/>
            <p:cNvSpPr/>
            <p:nvPr/>
          </p:nvSpPr>
          <p:spPr>
            <a:xfrm flipH="false" flipV="false" rot="0">
              <a:off x="0" y="0"/>
              <a:ext cx="1771048" cy="2089654"/>
            </a:xfrm>
            <a:custGeom>
              <a:avLst/>
              <a:gdLst/>
              <a:ahLst/>
              <a:cxnLst/>
              <a:rect r="r" b="b" t="t" l="l"/>
              <a:pathLst>
                <a:path h="2089654" w="1771048">
                  <a:moveTo>
                    <a:pt x="58717" y="0"/>
                  </a:moveTo>
                  <a:lnTo>
                    <a:pt x="1712332" y="0"/>
                  </a:lnTo>
                  <a:cubicBezTo>
                    <a:pt x="1727904" y="0"/>
                    <a:pt x="1742839" y="6186"/>
                    <a:pt x="1753851" y="17198"/>
                  </a:cubicBezTo>
                  <a:cubicBezTo>
                    <a:pt x="1764862" y="28209"/>
                    <a:pt x="1771048" y="43144"/>
                    <a:pt x="1771048" y="58717"/>
                  </a:cubicBezTo>
                  <a:lnTo>
                    <a:pt x="1771048" y="2030937"/>
                  </a:lnTo>
                  <a:cubicBezTo>
                    <a:pt x="1771048" y="2046510"/>
                    <a:pt x="1764862" y="2061444"/>
                    <a:pt x="1753851" y="2072456"/>
                  </a:cubicBezTo>
                  <a:cubicBezTo>
                    <a:pt x="1742839" y="2083467"/>
                    <a:pt x="1727904" y="2089654"/>
                    <a:pt x="1712332" y="2089654"/>
                  </a:cubicBezTo>
                  <a:lnTo>
                    <a:pt x="58717" y="2089654"/>
                  </a:lnTo>
                  <a:cubicBezTo>
                    <a:pt x="43144" y="2089654"/>
                    <a:pt x="28209" y="2083467"/>
                    <a:pt x="17198" y="2072456"/>
                  </a:cubicBezTo>
                  <a:cubicBezTo>
                    <a:pt x="6186" y="2061444"/>
                    <a:pt x="0" y="2046510"/>
                    <a:pt x="0" y="2030937"/>
                  </a:cubicBezTo>
                  <a:lnTo>
                    <a:pt x="0" y="58717"/>
                  </a:lnTo>
                  <a:cubicBezTo>
                    <a:pt x="0" y="43144"/>
                    <a:pt x="6186" y="28209"/>
                    <a:pt x="17198" y="17198"/>
                  </a:cubicBezTo>
                  <a:cubicBezTo>
                    <a:pt x="28209" y="6186"/>
                    <a:pt x="43144" y="0"/>
                    <a:pt x="58717" y="0"/>
                  </a:cubicBezTo>
                  <a:close/>
                </a:path>
              </a:pathLst>
            </a:custGeom>
            <a:solidFill>
              <a:srgbClr val="766F54">
                <a:alpha val="27843"/>
              </a:srgbClr>
            </a:solidFill>
          </p:spPr>
        </p:sp>
        <p:sp>
          <p:nvSpPr>
            <p:cNvPr name="TextBox 17" id="17"/>
            <p:cNvSpPr txBox="true"/>
            <p:nvPr/>
          </p:nvSpPr>
          <p:spPr>
            <a:xfrm>
              <a:off x="0" y="-38100"/>
              <a:ext cx="1771049" cy="2127754"/>
            </a:xfrm>
            <a:prstGeom prst="rect">
              <a:avLst/>
            </a:prstGeom>
          </p:spPr>
          <p:txBody>
            <a:bodyPr anchor="ctr" rtlCol="false" tIns="50800" lIns="50800" bIns="50800" rIns="50800"/>
            <a:lstStyle/>
            <a:p>
              <a:pPr algn="ctr">
                <a:lnSpc>
                  <a:spcPts val="2659"/>
                </a:lnSpc>
                <a:spcBef>
                  <a:spcPct val="0"/>
                </a:spcBef>
              </a:pPr>
            </a:p>
          </p:txBody>
        </p:sp>
      </p:grpSp>
      <p:sp>
        <p:nvSpPr>
          <p:cNvPr name="TextBox 18" id="18"/>
          <p:cNvSpPr txBox="true"/>
          <p:nvPr/>
        </p:nvSpPr>
        <p:spPr>
          <a:xfrm rot="0">
            <a:off x="3575847" y="894159"/>
            <a:ext cx="13184676" cy="1868033"/>
          </a:xfrm>
          <a:prstGeom prst="rect">
            <a:avLst/>
          </a:prstGeom>
        </p:spPr>
        <p:txBody>
          <a:bodyPr anchor="t" rtlCol="false" tIns="0" lIns="0" bIns="0" rIns="0">
            <a:spAutoFit/>
          </a:bodyPr>
          <a:lstStyle/>
          <a:p>
            <a:pPr algn="l">
              <a:lnSpc>
                <a:spcPts val="7200"/>
              </a:lnSpc>
            </a:pPr>
            <a:r>
              <a:rPr lang="en-US" sz="6000">
                <a:solidFill>
                  <a:srgbClr val="262626"/>
                </a:solidFill>
                <a:latin typeface="Times New Roman"/>
                <a:ea typeface="Times New Roman"/>
                <a:cs typeface="Times New Roman"/>
                <a:sym typeface="Times New Roman"/>
              </a:rPr>
              <a:t>1. Introduction</a:t>
            </a:r>
          </a:p>
        </p:txBody>
      </p:sp>
      <p:sp>
        <p:nvSpPr>
          <p:cNvPr name="TextBox 19" id="19"/>
          <p:cNvSpPr txBox="true"/>
          <p:nvPr/>
        </p:nvSpPr>
        <p:spPr>
          <a:xfrm rot="0">
            <a:off x="2419550" y="2111245"/>
            <a:ext cx="6724450" cy="7705725"/>
          </a:xfrm>
          <a:prstGeom prst="rect">
            <a:avLst/>
          </a:prstGeom>
        </p:spPr>
        <p:txBody>
          <a:bodyPr anchor="t" rtlCol="false" tIns="0" lIns="0" bIns="0" rIns="0">
            <a:spAutoFit/>
          </a:bodyPr>
          <a:lstStyle/>
          <a:p>
            <a:pPr algn="ctr">
              <a:lnSpc>
                <a:spcPts val="2883"/>
              </a:lnSpc>
            </a:pPr>
            <a:r>
              <a:rPr lang="en-US" sz="2402">
                <a:solidFill>
                  <a:srgbClr val="262626"/>
                </a:solidFill>
                <a:latin typeface="Times New Roman"/>
                <a:ea typeface="Times New Roman"/>
                <a:cs typeface="Times New Roman"/>
                <a:sym typeface="Times New Roman"/>
              </a:rPr>
              <a:t>1.1Overview</a:t>
            </a:r>
          </a:p>
          <a:p>
            <a:pPr algn="ctr">
              <a:lnSpc>
                <a:spcPts val="2645"/>
              </a:lnSpc>
            </a:pPr>
          </a:p>
          <a:p>
            <a:pPr algn="ctr">
              <a:lnSpc>
                <a:spcPts val="2645"/>
              </a:lnSpc>
              <a:spcBef>
                <a:spcPct val="0"/>
              </a:spcBef>
            </a:pPr>
            <a:r>
              <a:rPr lang="en-US" sz="2204">
                <a:solidFill>
                  <a:srgbClr val="262626"/>
                </a:solidFill>
                <a:latin typeface="Times New Roman"/>
                <a:ea typeface="Times New Roman"/>
                <a:cs typeface="Times New Roman"/>
                <a:sym typeface="Times New Roman"/>
              </a:rPr>
              <a:t>This thing called the AI Mock Interview with Streaming Avatar, it seems like a smart setup for practicing interviews that feel pretty real. You know, it pulls in AI and some natural language processing stuff to make the whole thing interactive, adapting as you go along.</a:t>
            </a:r>
          </a:p>
          <a:p>
            <a:pPr algn="ctr">
              <a:lnSpc>
                <a:spcPts val="2645"/>
              </a:lnSpc>
              <a:spcBef>
                <a:spcPct val="0"/>
              </a:spcBef>
            </a:pPr>
          </a:p>
          <a:p>
            <a:pPr algn="ctr">
              <a:lnSpc>
                <a:spcPts val="2645"/>
              </a:lnSpc>
              <a:spcBef>
                <a:spcPct val="0"/>
              </a:spcBef>
            </a:pPr>
            <a:r>
              <a:rPr lang="en-US" sz="2204">
                <a:solidFill>
                  <a:srgbClr val="262626"/>
                </a:solidFill>
                <a:latin typeface="Times New Roman"/>
                <a:ea typeface="Times New Roman"/>
                <a:cs typeface="Times New Roman"/>
                <a:sym typeface="Times New Roman"/>
              </a:rPr>
              <a:t>It looks at your resume first, I think, and then comes up with questions that fit your skills or what jobs youre aiming for, based on experience and all that. The avatar part is cool, its this virtual character that talks to you live, making it seem like an actual room with someone across the table.</a:t>
            </a:r>
          </a:p>
          <a:p>
            <a:pPr algn="ctr">
              <a:lnSpc>
                <a:spcPts val="2645"/>
              </a:lnSpc>
              <a:spcBef>
                <a:spcPct val="0"/>
              </a:spcBef>
            </a:pPr>
          </a:p>
          <a:p>
            <a:pPr algn="ctr">
              <a:lnSpc>
                <a:spcPts val="2645"/>
              </a:lnSpc>
              <a:spcBef>
                <a:spcPct val="0"/>
              </a:spcBef>
            </a:pPr>
            <a:r>
              <a:rPr lang="en-US" sz="2204">
                <a:solidFill>
                  <a:srgbClr val="262626"/>
                </a:solidFill>
                <a:latin typeface="Times New Roman"/>
                <a:ea typeface="Times New Roman"/>
                <a:cs typeface="Times New Roman"/>
                <a:sym typeface="Times New Roman"/>
              </a:rPr>
              <a:t>Sometimes I wonder if it catches everything right away. Anyway, it turns what you say into text and checks how clear or confident you sound, plus if it matches what they are asking. That evaluation bit might help spot weak spots, or at least thats the idea.</a:t>
            </a:r>
          </a:p>
          <a:p>
            <a:pPr algn="ctr">
              <a:lnSpc>
                <a:spcPts val="2645"/>
              </a:lnSpc>
              <a:spcBef>
                <a:spcPct val="0"/>
              </a:spcBef>
            </a:pPr>
          </a:p>
          <a:p>
            <a:pPr algn="ctr">
              <a:lnSpc>
                <a:spcPts val="2645"/>
              </a:lnSpc>
              <a:spcBef>
                <a:spcPct val="0"/>
              </a:spcBef>
            </a:pPr>
            <a:r>
              <a:rPr lang="en-US" sz="2204">
                <a:solidFill>
                  <a:srgbClr val="262626"/>
                </a:solidFill>
                <a:latin typeface="Times New Roman"/>
                <a:ea typeface="Times New Roman"/>
                <a:cs typeface="Times New Roman"/>
                <a:sym typeface="Times New Roman"/>
              </a:rPr>
              <a:t>The system overall just tries to mimic those nerve-wracking interviews without the real pressure, I suppose. Not sure how perfect it gets with every response though.</a:t>
            </a:r>
          </a:p>
        </p:txBody>
      </p:sp>
      <p:grpSp>
        <p:nvGrpSpPr>
          <p:cNvPr name="Group 20" id="20"/>
          <p:cNvGrpSpPr/>
          <p:nvPr/>
        </p:nvGrpSpPr>
        <p:grpSpPr>
          <a:xfrm rot="0">
            <a:off x="10259372" y="2120770"/>
            <a:ext cx="6813810" cy="7934154"/>
            <a:chOff x="0" y="0"/>
            <a:chExt cx="1794584" cy="2089654"/>
          </a:xfrm>
        </p:grpSpPr>
        <p:sp>
          <p:nvSpPr>
            <p:cNvPr name="Freeform 21" id="21"/>
            <p:cNvSpPr/>
            <p:nvPr/>
          </p:nvSpPr>
          <p:spPr>
            <a:xfrm flipH="false" flipV="false" rot="0">
              <a:off x="0" y="0"/>
              <a:ext cx="1794584" cy="2089654"/>
            </a:xfrm>
            <a:custGeom>
              <a:avLst/>
              <a:gdLst/>
              <a:ahLst/>
              <a:cxnLst/>
              <a:rect r="r" b="b" t="t" l="l"/>
              <a:pathLst>
                <a:path h="2089654" w="1794584">
                  <a:moveTo>
                    <a:pt x="57947" y="0"/>
                  </a:moveTo>
                  <a:lnTo>
                    <a:pt x="1736637" y="0"/>
                  </a:lnTo>
                  <a:cubicBezTo>
                    <a:pt x="1768640" y="0"/>
                    <a:pt x="1794584" y="25944"/>
                    <a:pt x="1794584" y="57947"/>
                  </a:cubicBezTo>
                  <a:lnTo>
                    <a:pt x="1794584" y="2031707"/>
                  </a:lnTo>
                  <a:cubicBezTo>
                    <a:pt x="1794584" y="2063710"/>
                    <a:pt x="1768640" y="2089654"/>
                    <a:pt x="1736637" y="2089654"/>
                  </a:cubicBezTo>
                  <a:lnTo>
                    <a:pt x="57947" y="2089654"/>
                  </a:lnTo>
                  <a:cubicBezTo>
                    <a:pt x="42578" y="2089654"/>
                    <a:pt x="27839" y="2083549"/>
                    <a:pt x="16972" y="2072681"/>
                  </a:cubicBezTo>
                  <a:cubicBezTo>
                    <a:pt x="6105" y="2061814"/>
                    <a:pt x="0" y="2047075"/>
                    <a:pt x="0" y="2031707"/>
                  </a:cubicBezTo>
                  <a:lnTo>
                    <a:pt x="0" y="57947"/>
                  </a:lnTo>
                  <a:cubicBezTo>
                    <a:pt x="0" y="25944"/>
                    <a:pt x="25944" y="0"/>
                    <a:pt x="57947" y="0"/>
                  </a:cubicBezTo>
                  <a:close/>
                </a:path>
              </a:pathLst>
            </a:custGeom>
            <a:solidFill>
              <a:srgbClr val="766F54">
                <a:alpha val="28627"/>
              </a:srgbClr>
            </a:solidFill>
          </p:spPr>
        </p:sp>
        <p:sp>
          <p:nvSpPr>
            <p:cNvPr name="TextBox 22" id="22"/>
            <p:cNvSpPr txBox="true"/>
            <p:nvPr/>
          </p:nvSpPr>
          <p:spPr>
            <a:xfrm>
              <a:off x="0" y="-38100"/>
              <a:ext cx="1794584" cy="2127754"/>
            </a:xfrm>
            <a:prstGeom prst="rect">
              <a:avLst/>
            </a:prstGeom>
          </p:spPr>
          <p:txBody>
            <a:bodyPr anchor="ctr" rtlCol="false" tIns="50800" lIns="50800" bIns="50800" rIns="50800"/>
            <a:lstStyle/>
            <a:p>
              <a:pPr algn="ctr">
                <a:lnSpc>
                  <a:spcPts val="2659"/>
                </a:lnSpc>
                <a:spcBef>
                  <a:spcPct val="0"/>
                </a:spcBef>
              </a:pPr>
            </a:p>
          </p:txBody>
        </p:sp>
      </p:grpSp>
      <p:sp>
        <p:nvSpPr>
          <p:cNvPr name="TextBox 23" id="23"/>
          <p:cNvSpPr txBox="true"/>
          <p:nvPr/>
        </p:nvSpPr>
        <p:spPr>
          <a:xfrm rot="0">
            <a:off x="10502434" y="2382152"/>
            <a:ext cx="6258089" cy="7419975"/>
          </a:xfrm>
          <a:prstGeom prst="rect">
            <a:avLst/>
          </a:prstGeom>
        </p:spPr>
        <p:txBody>
          <a:bodyPr anchor="t" rtlCol="false" tIns="0" lIns="0" bIns="0" rIns="0">
            <a:spAutoFit/>
          </a:bodyPr>
          <a:lstStyle/>
          <a:p>
            <a:pPr algn="ctr">
              <a:lnSpc>
                <a:spcPts val="2822"/>
              </a:lnSpc>
            </a:pPr>
            <a:r>
              <a:rPr lang="en-US" sz="2352">
                <a:solidFill>
                  <a:srgbClr val="262626"/>
                </a:solidFill>
                <a:latin typeface="Times New Roman"/>
                <a:ea typeface="Times New Roman"/>
                <a:cs typeface="Times New Roman"/>
                <a:sym typeface="Times New Roman"/>
              </a:rPr>
              <a:t>1.2 Purpose</a:t>
            </a:r>
          </a:p>
          <a:p>
            <a:pPr algn="ctr">
              <a:lnSpc>
                <a:spcPts val="2822"/>
              </a:lnSpc>
            </a:pPr>
          </a:p>
          <a:p>
            <a:pPr algn="ctr">
              <a:lnSpc>
                <a:spcPts val="2822"/>
              </a:lnSpc>
              <a:spcBef>
                <a:spcPct val="0"/>
              </a:spcBef>
            </a:pPr>
            <a:r>
              <a:rPr lang="en-US" sz="2352">
                <a:solidFill>
                  <a:srgbClr val="262626"/>
                </a:solidFill>
                <a:latin typeface="Times New Roman"/>
                <a:ea typeface="Times New Roman"/>
                <a:cs typeface="Times New Roman"/>
                <a:sym typeface="Times New Roman"/>
              </a:rPr>
              <a:t>This thing is supposed to give people a way to practice interviews without any real stress. Like, a platform that feels real but not overwhelming.</a:t>
            </a:r>
          </a:p>
          <a:p>
            <a:pPr algn="ctr">
              <a:lnSpc>
                <a:spcPts val="2822"/>
              </a:lnSpc>
              <a:spcBef>
                <a:spcPct val="0"/>
              </a:spcBef>
            </a:pPr>
          </a:p>
          <a:p>
            <a:pPr algn="ctr">
              <a:lnSpc>
                <a:spcPts val="2822"/>
              </a:lnSpc>
              <a:spcBef>
                <a:spcPct val="0"/>
              </a:spcBef>
            </a:pPr>
          </a:p>
          <a:p>
            <a:pPr algn="ctr">
              <a:lnSpc>
                <a:spcPts val="2822"/>
              </a:lnSpc>
              <a:spcBef>
                <a:spcPct val="0"/>
              </a:spcBef>
            </a:pPr>
            <a:r>
              <a:rPr lang="en-US" sz="2352">
                <a:solidFill>
                  <a:srgbClr val="262626"/>
                </a:solidFill>
                <a:latin typeface="Times New Roman"/>
                <a:ea typeface="Times New Roman"/>
                <a:cs typeface="Times New Roman"/>
                <a:sym typeface="Times New Roman"/>
              </a:rPr>
              <a:t> I think the main point is helping folks get better at talking and feeling more sure of themselves by doing it over and over. Sessions like that can build up skills, you know. Then theres the feedback part, where it points out what youre good at and what needs work, all tailored to you. That seems useful. </a:t>
            </a:r>
          </a:p>
          <a:p>
            <a:pPr algn="ctr">
              <a:lnSpc>
                <a:spcPts val="2822"/>
              </a:lnSpc>
              <a:spcBef>
                <a:spcPct val="0"/>
              </a:spcBef>
            </a:pPr>
          </a:p>
          <a:p>
            <a:pPr algn="ctr">
              <a:lnSpc>
                <a:spcPts val="2822"/>
              </a:lnSpc>
              <a:spcBef>
                <a:spcPct val="0"/>
              </a:spcBef>
            </a:pPr>
            <a:r>
              <a:rPr lang="en-US" sz="2352">
                <a:solidFill>
                  <a:srgbClr val="262626"/>
                </a:solidFill>
                <a:latin typeface="Times New Roman"/>
                <a:ea typeface="Times New Roman"/>
                <a:cs typeface="Times New Roman"/>
                <a:sym typeface="Times New Roman"/>
              </a:rPr>
              <a:t>It also cuts down on needing actual people to interview with or coach you, which might be a hassle sometimes. And overall, it shows how AI and stuff like speech tech and these LLM systems can actually help with training for interviews in a practical way. Not sure if it covers everything, but that is the gist.</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FFFFF">
                <a:alpha val="100000"/>
              </a:srgbClr>
            </a:gs>
            <a:gs pos="100000">
              <a:srgbClr val="DDE6C3">
                <a:alpha val="100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sp>
        <p:nvSpPr>
          <p:cNvPr name="Freeform 2" id="2"/>
          <p:cNvSpPr/>
          <p:nvPr/>
        </p:nvSpPr>
        <p:spPr>
          <a:xfrm flipH="false" flipV="false" rot="0">
            <a:off x="1" y="342900"/>
            <a:ext cx="4277277" cy="9957940"/>
          </a:xfrm>
          <a:custGeom>
            <a:avLst/>
            <a:gdLst/>
            <a:ahLst/>
            <a:cxnLst/>
            <a:rect r="r" b="b" t="t" l="l"/>
            <a:pathLst>
              <a:path h="9957940" w="4277277">
                <a:moveTo>
                  <a:pt x="0" y="0"/>
                </a:moveTo>
                <a:lnTo>
                  <a:pt x="4277278" y="0"/>
                </a:lnTo>
                <a:lnTo>
                  <a:pt x="4277278" y="9957940"/>
                </a:lnTo>
                <a:lnTo>
                  <a:pt x="0" y="995794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0">
            <a:off x="40834" y="-1181"/>
            <a:ext cx="3535013" cy="10281056"/>
          </a:xfrm>
          <a:custGeom>
            <a:avLst/>
            <a:gdLst/>
            <a:ahLst/>
            <a:cxnLst/>
            <a:rect r="r" b="b" t="t" l="l"/>
            <a:pathLst>
              <a:path h="10281056" w="3535013">
                <a:moveTo>
                  <a:pt x="0" y="0"/>
                </a:moveTo>
                <a:lnTo>
                  <a:pt x="3535013" y="0"/>
                </a:lnTo>
                <a:lnTo>
                  <a:pt x="3535013" y="10281056"/>
                </a:lnTo>
                <a:lnTo>
                  <a:pt x="0" y="1028105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4" id="4"/>
          <p:cNvGrpSpPr/>
          <p:nvPr/>
        </p:nvGrpSpPr>
        <p:grpSpPr>
          <a:xfrm rot="0">
            <a:off x="0" y="0"/>
            <a:ext cx="274320" cy="10287000"/>
            <a:chOff x="0" y="0"/>
            <a:chExt cx="365760" cy="13716000"/>
          </a:xfrm>
        </p:grpSpPr>
        <p:sp>
          <p:nvSpPr>
            <p:cNvPr name="Freeform 5" id="5"/>
            <p:cNvSpPr/>
            <p:nvPr/>
          </p:nvSpPr>
          <p:spPr>
            <a:xfrm flipH="false" flipV="false" rot="0">
              <a:off x="0" y="0"/>
              <a:ext cx="365760" cy="13716000"/>
            </a:xfrm>
            <a:custGeom>
              <a:avLst/>
              <a:gdLst/>
              <a:ahLst/>
              <a:cxnLst/>
              <a:rect r="r" b="b" t="t" l="l"/>
              <a:pathLst>
                <a:path h="13716000" w="365760">
                  <a:moveTo>
                    <a:pt x="0" y="0"/>
                  </a:moveTo>
                  <a:lnTo>
                    <a:pt x="365760" y="0"/>
                  </a:lnTo>
                  <a:lnTo>
                    <a:pt x="365760" y="13716000"/>
                  </a:lnTo>
                  <a:lnTo>
                    <a:pt x="0" y="13716000"/>
                  </a:lnTo>
                  <a:close/>
                </a:path>
              </a:pathLst>
            </a:custGeom>
            <a:solidFill>
              <a:srgbClr val="766F54"/>
            </a:solidFill>
          </p:spPr>
        </p:sp>
      </p:grpSp>
      <p:grpSp>
        <p:nvGrpSpPr>
          <p:cNvPr name="Group 6" id="6"/>
          <p:cNvGrpSpPr/>
          <p:nvPr/>
        </p:nvGrpSpPr>
        <p:grpSpPr>
          <a:xfrm rot="0">
            <a:off x="15881785" y="9370781"/>
            <a:ext cx="2382793" cy="760943"/>
            <a:chOff x="0" y="0"/>
            <a:chExt cx="3177057" cy="1014590"/>
          </a:xfrm>
        </p:grpSpPr>
        <p:sp>
          <p:nvSpPr>
            <p:cNvPr name="Freeform 7" id="7"/>
            <p:cNvSpPr/>
            <p:nvPr/>
          </p:nvSpPr>
          <p:spPr>
            <a:xfrm flipH="false" flipV="false" rot="0">
              <a:off x="-14192" y="0"/>
              <a:ext cx="3191224" cy="1014603"/>
            </a:xfrm>
            <a:custGeom>
              <a:avLst/>
              <a:gdLst/>
              <a:ahLst/>
              <a:cxnLst/>
              <a:rect r="r" b="b" t="t" l="l"/>
              <a:pathLst>
                <a:path h="1014603" w="3191224">
                  <a:moveTo>
                    <a:pt x="14192" y="477012"/>
                  </a:moveTo>
                  <a:lnTo>
                    <a:pt x="472154" y="19050"/>
                  </a:lnTo>
                  <a:cubicBezTo>
                    <a:pt x="475202" y="15748"/>
                    <a:pt x="479012" y="12700"/>
                    <a:pt x="482060" y="9525"/>
                  </a:cubicBezTo>
                  <a:cubicBezTo>
                    <a:pt x="491331" y="0"/>
                    <a:pt x="500983" y="0"/>
                    <a:pt x="510635" y="0"/>
                  </a:cubicBezTo>
                  <a:lnTo>
                    <a:pt x="691991" y="0"/>
                  </a:lnTo>
                  <a:lnTo>
                    <a:pt x="3191224" y="7112"/>
                  </a:lnTo>
                  <a:cubicBezTo>
                    <a:pt x="3188430" y="342900"/>
                    <a:pt x="3185382" y="678815"/>
                    <a:pt x="3182588" y="1014603"/>
                  </a:cubicBezTo>
                  <a:lnTo>
                    <a:pt x="691991" y="1011174"/>
                  </a:lnTo>
                  <a:lnTo>
                    <a:pt x="510635" y="1011174"/>
                  </a:lnTo>
                  <a:cubicBezTo>
                    <a:pt x="500983" y="1011174"/>
                    <a:pt x="491458" y="1001649"/>
                    <a:pt x="482060" y="1001649"/>
                  </a:cubicBezTo>
                  <a:cubicBezTo>
                    <a:pt x="482060" y="992124"/>
                    <a:pt x="472154" y="992124"/>
                    <a:pt x="472154" y="992124"/>
                  </a:cubicBezTo>
                  <a:lnTo>
                    <a:pt x="14192" y="534162"/>
                  </a:lnTo>
                  <a:cubicBezTo>
                    <a:pt x="-4731" y="515112"/>
                    <a:pt x="-4731" y="496062"/>
                    <a:pt x="14192" y="476885"/>
                  </a:cubicBezTo>
                  <a:close/>
                </a:path>
              </a:pathLst>
            </a:custGeom>
            <a:solidFill>
              <a:srgbClr val="A53010"/>
            </a:solidFill>
          </p:spPr>
        </p:sp>
      </p:grpSp>
      <p:grpSp>
        <p:nvGrpSpPr>
          <p:cNvPr name="Group 8" id="8"/>
          <p:cNvGrpSpPr/>
          <p:nvPr/>
        </p:nvGrpSpPr>
        <p:grpSpPr>
          <a:xfrm rot="0">
            <a:off x="233563" y="0"/>
            <a:ext cx="2185988" cy="1864519"/>
            <a:chOff x="0" y="0"/>
            <a:chExt cx="2914650" cy="2486025"/>
          </a:xfrm>
        </p:grpSpPr>
        <p:sp>
          <p:nvSpPr>
            <p:cNvPr name="Freeform 9" id="9"/>
            <p:cNvSpPr/>
            <p:nvPr/>
          </p:nvSpPr>
          <p:spPr>
            <a:xfrm flipH="false" flipV="false" rot="0">
              <a:off x="0" y="0"/>
              <a:ext cx="2914650" cy="2486025"/>
            </a:xfrm>
            <a:custGeom>
              <a:avLst/>
              <a:gdLst/>
              <a:ahLst/>
              <a:cxnLst/>
              <a:rect r="r" b="b" t="t" l="l"/>
              <a:pathLst>
                <a:path h="2486025" w="2914650">
                  <a:moveTo>
                    <a:pt x="0" y="0"/>
                  </a:moveTo>
                  <a:lnTo>
                    <a:pt x="2914650" y="0"/>
                  </a:lnTo>
                  <a:lnTo>
                    <a:pt x="2914650" y="2486025"/>
                  </a:lnTo>
                  <a:lnTo>
                    <a:pt x="0" y="2486025"/>
                  </a:lnTo>
                  <a:lnTo>
                    <a:pt x="0" y="0"/>
                  </a:lnTo>
                  <a:close/>
                </a:path>
              </a:pathLst>
            </a:custGeom>
            <a:blipFill>
              <a:blip r:embed="rId7"/>
              <a:stretch>
                <a:fillRect l="0" t="0" r="0" b="0"/>
              </a:stretch>
            </a:blipFill>
          </p:spPr>
        </p:sp>
      </p:grpSp>
      <p:grpSp>
        <p:nvGrpSpPr>
          <p:cNvPr name="Group 10" id="10"/>
          <p:cNvGrpSpPr/>
          <p:nvPr/>
        </p:nvGrpSpPr>
        <p:grpSpPr>
          <a:xfrm rot="0">
            <a:off x="16655091" y="-591331"/>
            <a:ext cx="1525553" cy="2712101"/>
            <a:chOff x="0" y="0"/>
            <a:chExt cx="2034070" cy="3616134"/>
          </a:xfrm>
        </p:grpSpPr>
        <p:sp>
          <p:nvSpPr>
            <p:cNvPr name="Freeform 11" id="11"/>
            <p:cNvSpPr/>
            <p:nvPr/>
          </p:nvSpPr>
          <p:spPr>
            <a:xfrm flipH="false" flipV="false" rot="0">
              <a:off x="0" y="0"/>
              <a:ext cx="2034032" cy="3616071"/>
            </a:xfrm>
            <a:custGeom>
              <a:avLst/>
              <a:gdLst/>
              <a:ahLst/>
              <a:cxnLst/>
              <a:rect r="r" b="b" t="t" l="l"/>
              <a:pathLst>
                <a:path h="3616071" w="2034032">
                  <a:moveTo>
                    <a:pt x="0" y="0"/>
                  </a:moveTo>
                  <a:lnTo>
                    <a:pt x="2034032" y="0"/>
                  </a:lnTo>
                  <a:lnTo>
                    <a:pt x="2034032" y="3616071"/>
                  </a:lnTo>
                  <a:lnTo>
                    <a:pt x="0" y="3616071"/>
                  </a:lnTo>
                  <a:lnTo>
                    <a:pt x="0" y="0"/>
                  </a:lnTo>
                  <a:close/>
                </a:path>
              </a:pathLst>
            </a:custGeom>
            <a:blipFill>
              <a:blip r:embed="rId8"/>
              <a:stretch>
                <a:fillRect l="0" t="0" r="-1" b="-55"/>
              </a:stretch>
            </a:blipFill>
          </p:spPr>
        </p:sp>
      </p:grpSp>
      <p:sp>
        <p:nvSpPr>
          <p:cNvPr name="TextBox 12" id="12"/>
          <p:cNvSpPr txBox="true"/>
          <p:nvPr/>
        </p:nvSpPr>
        <p:spPr>
          <a:xfrm rot="0">
            <a:off x="3019282" y="884025"/>
            <a:ext cx="13184848" cy="1849145"/>
          </a:xfrm>
          <a:prstGeom prst="rect">
            <a:avLst/>
          </a:prstGeom>
        </p:spPr>
        <p:txBody>
          <a:bodyPr anchor="t" rtlCol="false" tIns="0" lIns="0" bIns="0" rIns="0">
            <a:spAutoFit/>
          </a:bodyPr>
          <a:lstStyle/>
          <a:p>
            <a:pPr algn="l">
              <a:lnSpc>
                <a:spcPts val="5040"/>
              </a:lnSpc>
            </a:pPr>
            <a:r>
              <a:rPr lang="en-US" sz="4200">
                <a:solidFill>
                  <a:srgbClr val="262626"/>
                </a:solidFill>
                <a:latin typeface="Times New Roman"/>
                <a:ea typeface="Times New Roman"/>
                <a:cs typeface="Times New Roman"/>
                <a:sym typeface="Times New Roman"/>
              </a:rPr>
              <a:t>2. Literature Review</a:t>
            </a:r>
          </a:p>
        </p:txBody>
      </p:sp>
      <p:grpSp>
        <p:nvGrpSpPr>
          <p:cNvPr name="Group 13" id="13"/>
          <p:cNvGrpSpPr/>
          <p:nvPr/>
        </p:nvGrpSpPr>
        <p:grpSpPr>
          <a:xfrm rot="0">
            <a:off x="16833047" y="9507236"/>
            <a:ext cx="1169651" cy="547688"/>
            <a:chOff x="0" y="0"/>
            <a:chExt cx="1559535" cy="730250"/>
          </a:xfrm>
        </p:grpSpPr>
        <p:sp>
          <p:nvSpPr>
            <p:cNvPr name="Freeform 14" id="14"/>
            <p:cNvSpPr/>
            <p:nvPr/>
          </p:nvSpPr>
          <p:spPr>
            <a:xfrm flipH="false" flipV="false" rot="0">
              <a:off x="0" y="0"/>
              <a:ext cx="1559534" cy="730250"/>
            </a:xfrm>
            <a:custGeom>
              <a:avLst/>
              <a:gdLst/>
              <a:ahLst/>
              <a:cxnLst/>
              <a:rect r="r" b="b" t="t" l="l"/>
              <a:pathLst>
                <a:path h="730250" w="1559534">
                  <a:moveTo>
                    <a:pt x="0" y="0"/>
                  </a:moveTo>
                  <a:lnTo>
                    <a:pt x="1559534" y="0"/>
                  </a:lnTo>
                  <a:lnTo>
                    <a:pt x="1559534" y="730250"/>
                  </a:lnTo>
                  <a:lnTo>
                    <a:pt x="0" y="730250"/>
                  </a:lnTo>
                  <a:close/>
                </a:path>
              </a:pathLst>
            </a:custGeom>
            <a:blipFill>
              <a:blip r:embed="rId9">
                <a:alphaModFix amt="0"/>
              </a:blip>
              <a:stretch>
                <a:fillRect l="-10077" t="0" r="-10078" b="0"/>
              </a:stretch>
            </a:blipFill>
          </p:spPr>
        </p:sp>
        <p:sp>
          <p:nvSpPr>
            <p:cNvPr name="TextBox 15" id="15"/>
            <p:cNvSpPr txBox="true"/>
            <p:nvPr/>
          </p:nvSpPr>
          <p:spPr>
            <a:xfrm>
              <a:off x="0" y="0"/>
              <a:ext cx="1559535" cy="730250"/>
            </a:xfrm>
            <a:prstGeom prst="rect">
              <a:avLst/>
            </a:prstGeom>
          </p:spPr>
          <p:txBody>
            <a:bodyPr anchor="ctr" rtlCol="false" tIns="0" lIns="0" bIns="0" rIns="0"/>
            <a:lstStyle/>
            <a:p>
              <a:pPr algn="r">
                <a:lnSpc>
                  <a:spcPts val="3600"/>
                </a:lnSpc>
              </a:pPr>
              <a:r>
                <a:rPr lang="en-US" sz="3000">
                  <a:solidFill>
                    <a:srgbClr val="FFFFFF"/>
                  </a:solidFill>
                  <a:latin typeface="Century Gothic Paneuropean"/>
                  <a:ea typeface="Century Gothic Paneuropean"/>
                  <a:cs typeface="Century Gothic Paneuropean"/>
                  <a:sym typeface="Century Gothic Paneuropean"/>
                </a:rPr>
                <a:t>4</a:t>
              </a:r>
            </a:p>
          </p:txBody>
        </p:sp>
      </p:grpSp>
      <p:graphicFrame>
        <p:nvGraphicFramePr>
          <p:cNvPr name="Table 16" id="16"/>
          <p:cNvGraphicFramePr>
            <a:graphicFrameLocks noGrp="true"/>
          </p:cNvGraphicFramePr>
          <p:nvPr/>
        </p:nvGraphicFramePr>
        <p:xfrm>
          <a:off x="2955739" y="1449152"/>
          <a:ext cx="15046959" cy="8615362"/>
        </p:xfrm>
        <a:graphic>
          <a:graphicData uri="http://schemas.openxmlformats.org/drawingml/2006/table">
            <a:tbl>
              <a:tblPr/>
              <a:tblGrid>
                <a:gridCol w="1026226"/>
                <a:gridCol w="3427311"/>
                <a:gridCol w="2666386"/>
                <a:gridCol w="2626433"/>
                <a:gridCol w="2608931"/>
                <a:gridCol w="2691672"/>
              </a:tblGrid>
              <a:tr h="819603">
                <a:tc>
                  <a:txBody>
                    <a:bodyPr anchor="t" rtlCol="false"/>
                    <a:lstStyle/>
                    <a:p>
                      <a:pPr algn="l">
                        <a:lnSpc>
                          <a:spcPts val="3779"/>
                        </a:lnSpc>
                        <a:defRPr/>
                      </a:pPr>
                      <a:r>
                        <a:rPr lang="en-US" b="true" sz="3150">
                          <a:solidFill>
                            <a:srgbClr val="000000"/>
                          </a:solidFill>
                          <a:latin typeface="Times New Roman Bold"/>
                          <a:ea typeface="Times New Roman Bold"/>
                          <a:cs typeface="Times New Roman Bold"/>
                          <a:sym typeface="Times New Roman Bold"/>
                        </a:rPr>
                        <a:t>S.No</a:t>
                      </a:r>
                      <a:endParaRPr lang="en-US" sz="1100"/>
                    </a:p>
                  </a:txBody>
                  <a:tcPr marL="91425" marR="91425" marT="91425" marB="91425"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A53010"/>
                    </a:solidFill>
                  </a:tcPr>
                </a:tc>
                <a:tc>
                  <a:txBody>
                    <a:bodyPr anchor="t" rtlCol="false"/>
                    <a:lstStyle/>
                    <a:p>
                      <a:pPr algn="l">
                        <a:lnSpc>
                          <a:spcPts val="3419"/>
                        </a:lnSpc>
                        <a:defRPr/>
                      </a:pPr>
                      <a:r>
                        <a:rPr lang="en-US" b="true" sz="2850">
                          <a:solidFill>
                            <a:srgbClr val="000000"/>
                          </a:solidFill>
                          <a:latin typeface="Times New Roman Bold"/>
                          <a:ea typeface="Times New Roman Bold"/>
                          <a:cs typeface="Times New Roman Bold"/>
                          <a:sym typeface="Times New Roman Bold"/>
                        </a:rPr>
                        <a:t>      Author</a:t>
                      </a:r>
                      <a:endParaRPr lang="en-US" sz="1100"/>
                    </a:p>
                  </a:txBody>
                  <a:tcPr marL="91425" marR="91425" marT="91425" marB="91425"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A53010"/>
                    </a:solidFill>
                  </a:tcPr>
                </a:tc>
                <a:tc>
                  <a:txBody>
                    <a:bodyPr anchor="t" rtlCol="false"/>
                    <a:lstStyle/>
                    <a:p>
                      <a:pPr algn="l">
                        <a:lnSpc>
                          <a:spcPts val="3419"/>
                        </a:lnSpc>
                        <a:defRPr/>
                      </a:pPr>
                      <a:r>
                        <a:rPr lang="en-US" b="true" sz="2850">
                          <a:solidFill>
                            <a:srgbClr val="000000"/>
                          </a:solidFill>
                          <a:latin typeface="Times New Roman Bold"/>
                          <a:ea typeface="Times New Roman Bold"/>
                          <a:cs typeface="Times New Roman Bold"/>
                          <a:sym typeface="Times New Roman Bold"/>
                        </a:rPr>
                        <a:t>       Features</a:t>
                      </a:r>
                      <a:endParaRPr lang="en-US" sz="1100"/>
                    </a:p>
                  </a:txBody>
                  <a:tcPr marL="91425" marR="91425" marT="91425" marB="91425"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A53010"/>
                    </a:solidFill>
                  </a:tcPr>
                </a:tc>
                <a:tc>
                  <a:txBody>
                    <a:bodyPr anchor="t" rtlCol="false"/>
                    <a:lstStyle/>
                    <a:p>
                      <a:pPr algn="l">
                        <a:lnSpc>
                          <a:spcPts val="3419"/>
                        </a:lnSpc>
                        <a:defRPr/>
                      </a:pPr>
                      <a:r>
                        <a:rPr lang="en-US" b="true" sz="2850">
                          <a:solidFill>
                            <a:srgbClr val="000000"/>
                          </a:solidFill>
                          <a:latin typeface="Times New Roman Bold"/>
                          <a:ea typeface="Times New Roman Bold"/>
                          <a:cs typeface="Times New Roman Bold"/>
                          <a:sym typeface="Times New Roman Bold"/>
                        </a:rPr>
                        <a:t>  Methods</a:t>
                      </a:r>
                      <a:endParaRPr lang="en-US" sz="1100"/>
                    </a:p>
                  </a:txBody>
                  <a:tcPr marL="91425" marR="91425" marT="91425" marB="91425"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A53010"/>
                    </a:solidFill>
                  </a:tcPr>
                </a:tc>
                <a:tc>
                  <a:txBody>
                    <a:bodyPr anchor="t" rtlCol="false"/>
                    <a:lstStyle/>
                    <a:p>
                      <a:pPr algn="l">
                        <a:lnSpc>
                          <a:spcPts val="3419"/>
                        </a:lnSpc>
                        <a:defRPr/>
                      </a:pPr>
                      <a:r>
                        <a:rPr lang="en-US" b="true" sz="2850">
                          <a:solidFill>
                            <a:srgbClr val="000000"/>
                          </a:solidFill>
                          <a:latin typeface="Times New Roman Bold"/>
                          <a:ea typeface="Times New Roman Bold"/>
                          <a:cs typeface="Times New Roman Bold"/>
                          <a:sym typeface="Times New Roman Bold"/>
                        </a:rPr>
                        <a:t>Advantages</a:t>
                      </a:r>
                      <a:endParaRPr lang="en-US" sz="1100"/>
                    </a:p>
                  </a:txBody>
                  <a:tcPr marL="91425" marR="91425" marT="91425" marB="91425"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A53010"/>
                    </a:solidFill>
                  </a:tcPr>
                </a:tc>
                <a:tc>
                  <a:txBody>
                    <a:bodyPr anchor="t" rtlCol="false"/>
                    <a:lstStyle/>
                    <a:p>
                      <a:pPr algn="l">
                        <a:lnSpc>
                          <a:spcPts val="3240"/>
                        </a:lnSpc>
                        <a:defRPr/>
                      </a:pPr>
                      <a:r>
                        <a:rPr lang="en-US" b="true" sz="2700">
                          <a:solidFill>
                            <a:srgbClr val="000000"/>
                          </a:solidFill>
                          <a:latin typeface="Times New Roman Bold"/>
                          <a:ea typeface="Times New Roman Bold"/>
                          <a:cs typeface="Times New Roman Bold"/>
                          <a:sym typeface="Times New Roman Bold"/>
                        </a:rPr>
                        <a:t>Disadvantage</a:t>
                      </a:r>
                      <a:endParaRPr lang="en-US" sz="1100"/>
                    </a:p>
                  </a:txBody>
                  <a:tcPr marL="91425" marR="91425" marT="91425" marB="91425"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A53010"/>
                    </a:solidFill>
                  </a:tcPr>
                </a:tc>
              </a:tr>
              <a:tr h="1238935">
                <a:tc>
                  <a:txBody>
                    <a:bodyPr anchor="t" rtlCol="false"/>
                    <a:lstStyle/>
                    <a:p>
                      <a:pPr algn="l">
                        <a:lnSpc>
                          <a:spcPts val="2520"/>
                        </a:lnSpc>
                        <a:defRPr/>
                      </a:pPr>
                      <a:r>
                        <a:rPr lang="en-US" sz="2100">
                          <a:solidFill>
                            <a:srgbClr val="000000"/>
                          </a:solidFill>
                          <a:latin typeface="Times New Roman"/>
                          <a:ea typeface="Times New Roman"/>
                          <a:cs typeface="Times New Roman"/>
                          <a:sym typeface="Times New Roman"/>
                        </a:rPr>
                        <a:t>1</a:t>
                      </a:r>
                      <a:endParaRPr lang="en-US" sz="1100"/>
                    </a:p>
                  </a:txBody>
                  <a:tcPr marL="91425" marR="91425" marT="91425" marB="91425"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c>
                  <a:txBody>
                    <a:bodyPr anchor="t" rtlCol="false"/>
                    <a:lstStyle/>
                    <a:p>
                      <a:pPr algn="l">
                        <a:lnSpc>
                          <a:spcPts val="2520"/>
                        </a:lnSpc>
                        <a:defRPr/>
                      </a:pPr>
                      <a:r>
                        <a:rPr lang="en-US" sz="2100">
                          <a:solidFill>
                            <a:srgbClr val="000000"/>
                          </a:solidFill>
                          <a:latin typeface="Times New Roman"/>
                          <a:ea typeface="Times New Roman"/>
                          <a:cs typeface="Times New Roman"/>
                          <a:sym typeface="Times New Roman"/>
                        </a:rPr>
                        <a:t>S. S. Sagare, S. D. Shelke, S. V. Anekar (2025)</a:t>
                      </a:r>
                      <a:endParaRPr lang="en-US" sz="1100"/>
                    </a:p>
                  </a:txBody>
                  <a:tcPr marL="91425" marR="91425" marT="91425" marB="91425"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c>
                  <a:txBody>
                    <a:bodyPr anchor="t" rtlCol="false"/>
                    <a:lstStyle/>
                    <a:p>
                      <a:pPr algn="l">
                        <a:lnSpc>
                          <a:spcPts val="2520"/>
                        </a:lnSpc>
                        <a:defRPr/>
                      </a:pPr>
                      <a:r>
                        <a:rPr lang="en-US" sz="2100">
                          <a:solidFill>
                            <a:srgbClr val="000000"/>
                          </a:solidFill>
                          <a:latin typeface="Times New Roman"/>
                          <a:ea typeface="Times New Roman"/>
                          <a:cs typeface="Times New Roman"/>
                          <a:sym typeface="Times New Roman"/>
                        </a:rPr>
                        <a:t>Automated question generation, answer analysis</a:t>
                      </a:r>
                      <a:endParaRPr lang="en-US" sz="1100"/>
                    </a:p>
                  </a:txBody>
                  <a:tcPr marL="91425" marR="91425" marT="91425" marB="91425"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c>
                  <a:txBody>
                    <a:bodyPr anchor="t" rtlCol="false"/>
                    <a:lstStyle/>
                    <a:p>
                      <a:pPr algn="l">
                        <a:lnSpc>
                          <a:spcPts val="2520"/>
                        </a:lnSpc>
                        <a:defRPr/>
                      </a:pPr>
                      <a:r>
                        <a:rPr lang="en-US" sz="2100">
                          <a:solidFill>
                            <a:srgbClr val="000000"/>
                          </a:solidFill>
                          <a:latin typeface="Times New Roman"/>
                          <a:ea typeface="Times New Roman"/>
                          <a:cs typeface="Times New Roman"/>
                          <a:sym typeface="Times New Roman"/>
                        </a:rPr>
                        <a:t>NLP, ML</a:t>
                      </a:r>
                      <a:r>
                        <a:rPr lang="en-US" sz="2100">
                          <a:solidFill>
                            <a:srgbClr val="000000"/>
                          </a:solidFill>
                          <a:latin typeface="Times New Roman"/>
                          <a:ea typeface="Times New Roman"/>
                          <a:cs typeface="Times New Roman"/>
                          <a:sym typeface="Times New Roman"/>
                        </a:rPr>
                        <a:t>-based evaluation</a:t>
                      </a:r>
                      <a:endParaRPr lang="en-US" sz="1100"/>
                    </a:p>
                  </a:txBody>
                  <a:tcPr marL="91425" marR="91425" marT="91425" marB="91425"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c>
                  <a:txBody>
                    <a:bodyPr anchor="t" rtlCol="false"/>
                    <a:lstStyle/>
                    <a:p>
                      <a:pPr algn="l">
                        <a:lnSpc>
                          <a:spcPts val="2520"/>
                        </a:lnSpc>
                        <a:defRPr/>
                      </a:pPr>
                      <a:r>
                        <a:rPr lang="en-US" sz="2100">
                          <a:solidFill>
                            <a:srgbClr val="000000"/>
                          </a:solidFill>
                          <a:latin typeface="Times New Roman"/>
                          <a:ea typeface="Times New Roman"/>
                          <a:cs typeface="Times New Roman"/>
                          <a:sym typeface="Times New Roman"/>
                        </a:rPr>
                        <a:t>S</a:t>
                      </a:r>
                      <a:r>
                        <a:rPr lang="en-US" sz="2100">
                          <a:solidFill>
                            <a:srgbClr val="000000"/>
                          </a:solidFill>
                          <a:latin typeface="Times New Roman"/>
                          <a:ea typeface="Times New Roman"/>
                          <a:cs typeface="Times New Roman"/>
                          <a:sym typeface="Times New Roman"/>
                        </a:rPr>
                        <a:t>calable, consistent feedback</a:t>
                      </a:r>
                      <a:endParaRPr lang="en-US" sz="1100"/>
                    </a:p>
                  </a:txBody>
                  <a:tcPr marL="91425" marR="91425" marT="91425" marB="91425"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c>
                  <a:txBody>
                    <a:bodyPr anchor="t" rtlCol="false"/>
                    <a:lstStyle/>
                    <a:p>
                      <a:pPr algn="l">
                        <a:lnSpc>
                          <a:spcPts val="2520"/>
                        </a:lnSpc>
                        <a:defRPr/>
                      </a:pPr>
                      <a:r>
                        <a:rPr lang="en-US" sz="2100">
                          <a:solidFill>
                            <a:srgbClr val="000000"/>
                          </a:solidFill>
                          <a:latin typeface="Times New Roman"/>
                          <a:ea typeface="Times New Roman"/>
                          <a:cs typeface="Times New Roman"/>
                          <a:sym typeface="Times New Roman"/>
                        </a:rPr>
                        <a:t>Lacks human-like interaction depth</a:t>
                      </a:r>
                      <a:endParaRPr lang="en-US" sz="1100"/>
                    </a:p>
                  </a:txBody>
                  <a:tcPr marL="91425" marR="91425" marT="91425" marB="91425"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r>
              <a:tr h="1353298">
                <a:tc>
                  <a:txBody>
                    <a:bodyPr anchor="t" rtlCol="false"/>
                    <a:lstStyle/>
                    <a:p>
                      <a:pPr algn="l">
                        <a:lnSpc>
                          <a:spcPts val="2520"/>
                        </a:lnSpc>
                        <a:defRPr/>
                      </a:pPr>
                      <a:r>
                        <a:rPr lang="en-US" sz="2100">
                          <a:solidFill>
                            <a:srgbClr val="000000"/>
                          </a:solidFill>
                          <a:latin typeface="Times New Roman"/>
                          <a:ea typeface="Times New Roman"/>
                          <a:cs typeface="Times New Roman"/>
                          <a:sym typeface="Times New Roman"/>
                        </a:rPr>
                        <a:t>2</a:t>
                      </a:r>
                      <a:endParaRPr lang="en-US" sz="1100"/>
                    </a:p>
                  </a:txBody>
                  <a:tcPr marL="91425" marR="91425" marT="91425" marB="91425"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c>
                  <a:txBody>
                    <a:bodyPr anchor="t" rtlCol="false"/>
                    <a:lstStyle/>
                    <a:p>
                      <a:pPr algn="l">
                        <a:lnSpc>
                          <a:spcPts val="2520"/>
                        </a:lnSpc>
                        <a:defRPr/>
                      </a:pPr>
                      <a:r>
                        <a:rPr lang="en-US" sz="2100">
                          <a:solidFill>
                            <a:srgbClr val="000000"/>
                          </a:solidFill>
                          <a:latin typeface="Times New Roman"/>
                          <a:ea typeface="Times New Roman"/>
                          <a:cs typeface="Times New Roman"/>
                          <a:sym typeface="Times New Roman"/>
                        </a:rPr>
                        <a:t>Ayush Modanval, Ankitha Mohan, Nabeel Ahmed Khan, Payal Koolwal (2025)</a:t>
                      </a:r>
                      <a:endParaRPr lang="en-US" sz="1100"/>
                    </a:p>
                  </a:txBody>
                  <a:tcPr marL="91425" marR="91425" marT="91425" marB="91425"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c>
                  <a:txBody>
                    <a:bodyPr anchor="t" rtlCol="false"/>
                    <a:lstStyle/>
                    <a:p>
                      <a:pPr algn="l">
                        <a:lnSpc>
                          <a:spcPts val="2520"/>
                        </a:lnSpc>
                        <a:defRPr/>
                      </a:pPr>
                      <a:r>
                        <a:rPr lang="en-US" sz="2100">
                          <a:solidFill>
                            <a:srgbClr val="000000"/>
                          </a:solidFill>
                          <a:latin typeface="Times New Roman"/>
                          <a:ea typeface="Times New Roman"/>
                          <a:cs typeface="Times New Roman"/>
                          <a:sym typeface="Times New Roman"/>
                        </a:rPr>
                        <a:t>Voice-based interviews, real-time interaction</a:t>
                      </a:r>
                      <a:endParaRPr lang="en-US" sz="1100"/>
                    </a:p>
                  </a:txBody>
                  <a:tcPr marL="91425" marR="91425" marT="91425" marB="91425"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c>
                  <a:txBody>
                    <a:bodyPr anchor="t" rtlCol="false"/>
                    <a:lstStyle/>
                    <a:p>
                      <a:pPr algn="l">
                        <a:lnSpc>
                          <a:spcPts val="2939"/>
                        </a:lnSpc>
                        <a:defRPr/>
                      </a:pPr>
                      <a:r>
                        <a:rPr lang="en-US" sz="2099">
                          <a:solidFill>
                            <a:srgbClr val="000000"/>
                          </a:solidFill>
                          <a:latin typeface="Times New Roman"/>
                          <a:ea typeface="Times New Roman"/>
                          <a:cs typeface="Times New Roman"/>
                          <a:sym typeface="Times New Roman"/>
                        </a:rPr>
                        <a:t>Real-time AI voice agent, Speech Processingng</a:t>
                      </a:r>
                      <a:endParaRPr lang="en-US" sz="1100"/>
                    </a:p>
                  </a:txBody>
                  <a:tcPr marL="91425" marR="91425" marT="91425" marB="91425"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c>
                  <a:txBody>
                    <a:bodyPr anchor="t" rtlCol="false"/>
                    <a:lstStyle/>
                    <a:p>
                      <a:pPr algn="l">
                        <a:lnSpc>
                          <a:spcPts val="2520"/>
                        </a:lnSpc>
                        <a:defRPr/>
                      </a:pPr>
                      <a:r>
                        <a:rPr lang="en-US" sz="2100">
                          <a:solidFill>
                            <a:srgbClr val="000000"/>
                          </a:solidFill>
                          <a:latin typeface="Times New Roman"/>
                          <a:ea typeface="Times New Roman"/>
                          <a:cs typeface="Times New Roman"/>
                          <a:sym typeface="Times New Roman"/>
                        </a:rPr>
                        <a:t>More</a:t>
                      </a:r>
                      <a:r>
                        <a:rPr lang="en-US" sz="2100">
                          <a:solidFill>
                            <a:srgbClr val="000000"/>
                          </a:solidFill>
                          <a:latin typeface="Times New Roman"/>
                          <a:ea typeface="Times New Roman"/>
                          <a:cs typeface="Times New Roman"/>
                          <a:sym typeface="Times New Roman"/>
                        </a:rPr>
                        <a:t> realistic experience, interactive</a:t>
                      </a:r>
                      <a:endParaRPr lang="en-US" sz="1100"/>
                    </a:p>
                  </a:txBody>
                  <a:tcPr marL="91425" marR="91425" marT="91425" marB="91425"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c>
                  <a:txBody>
                    <a:bodyPr anchor="t" rtlCol="false"/>
                    <a:lstStyle/>
                    <a:p>
                      <a:pPr algn="l">
                        <a:lnSpc>
                          <a:spcPts val="2520"/>
                        </a:lnSpc>
                        <a:defRPr/>
                      </a:pPr>
                      <a:r>
                        <a:rPr lang="en-US" sz="2100">
                          <a:solidFill>
                            <a:srgbClr val="000000"/>
                          </a:solidFill>
                          <a:latin typeface="Times New Roman"/>
                          <a:ea typeface="Times New Roman"/>
                          <a:cs typeface="Times New Roman"/>
                          <a:sym typeface="Times New Roman"/>
                        </a:rPr>
                        <a:t>H</a:t>
                      </a:r>
                      <a:r>
                        <a:rPr lang="en-US" sz="2100">
                          <a:solidFill>
                            <a:srgbClr val="000000"/>
                          </a:solidFill>
                          <a:latin typeface="Times New Roman"/>
                          <a:ea typeface="Times New Roman"/>
                          <a:cs typeface="Times New Roman"/>
                          <a:sym typeface="Times New Roman"/>
                        </a:rPr>
                        <a:t>igh computation, latency issues</a:t>
                      </a:r>
                      <a:endParaRPr lang="en-US" sz="1100"/>
                    </a:p>
                  </a:txBody>
                  <a:tcPr marL="91425" marR="91425" marT="91425" marB="91425"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r>
              <a:tr h="1553434">
                <a:tc>
                  <a:txBody>
                    <a:bodyPr anchor="t" rtlCol="false"/>
                    <a:lstStyle/>
                    <a:p>
                      <a:pPr algn="l">
                        <a:lnSpc>
                          <a:spcPts val="2520"/>
                        </a:lnSpc>
                        <a:defRPr/>
                      </a:pPr>
                      <a:r>
                        <a:rPr lang="en-US" sz="2100">
                          <a:solidFill>
                            <a:srgbClr val="000000"/>
                          </a:solidFill>
                          <a:latin typeface="Times New Roman"/>
                          <a:ea typeface="Times New Roman"/>
                          <a:cs typeface="Times New Roman"/>
                          <a:sym typeface="Times New Roman"/>
                        </a:rPr>
                        <a:t>3</a:t>
                      </a:r>
                      <a:endParaRPr lang="en-US" sz="1100"/>
                    </a:p>
                  </a:txBody>
                  <a:tcPr marL="91425" marR="91425" marT="91425" marB="91425"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c>
                  <a:txBody>
                    <a:bodyPr anchor="t" rtlCol="false"/>
                    <a:lstStyle/>
                    <a:p>
                      <a:pPr algn="l">
                        <a:lnSpc>
                          <a:spcPts val="2520"/>
                        </a:lnSpc>
                        <a:defRPr/>
                      </a:pPr>
                      <a:r>
                        <a:rPr lang="en-US" sz="2100">
                          <a:solidFill>
                            <a:srgbClr val="000000"/>
                          </a:solidFill>
                          <a:latin typeface="Times New Roman"/>
                          <a:ea typeface="Times New Roman"/>
                          <a:cs typeface="Times New Roman"/>
                          <a:sym typeface="Times New Roman"/>
                        </a:rPr>
                        <a:t>Mohd Adnan Ahmed, Shashank BS, Munmeeth K, Sanjay J Ganiga (2025</a:t>
                      </a:r>
                      <a:endParaRPr lang="en-US" sz="1100"/>
                    </a:p>
                  </a:txBody>
                  <a:tcPr marL="91425" marR="91425" marT="91425" marB="91425"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c>
                  <a:txBody>
                    <a:bodyPr anchor="t" rtlCol="false"/>
                    <a:lstStyle/>
                    <a:p>
                      <a:pPr algn="l">
                        <a:lnSpc>
                          <a:spcPts val="2520"/>
                        </a:lnSpc>
                        <a:defRPr/>
                      </a:pPr>
                      <a:endParaRPr lang="en-US" sz="1100"/>
                    </a:p>
                    <a:p>
                      <a:pPr algn="l">
                        <a:lnSpc>
                          <a:spcPts val="2520"/>
                        </a:lnSpc>
                      </a:pPr>
                      <a:r>
                        <a:rPr lang="en-US" sz="2100">
                          <a:solidFill>
                            <a:srgbClr val="000000"/>
                          </a:solidFill>
                          <a:latin typeface="Times New Roman"/>
                          <a:ea typeface="Times New Roman"/>
                          <a:cs typeface="Times New Roman"/>
                          <a:sym typeface="Times New Roman"/>
                        </a:rPr>
                        <a:t>Performance tracking, feedback system</a:t>
                      </a:r>
                    </a:p>
                    <a:p>
                      <a:pPr algn="l">
                        <a:lnSpc>
                          <a:spcPts val="2520"/>
                        </a:lnSpc>
                      </a:pPr>
                    </a:p>
                  </a:txBody>
                  <a:tcPr marL="91425" marR="91425" marT="91425" marB="91425"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c>
                  <a:txBody>
                    <a:bodyPr anchor="t" rtlCol="false"/>
                    <a:lstStyle/>
                    <a:p>
                      <a:pPr algn="l">
                        <a:lnSpc>
                          <a:spcPts val="2520"/>
                        </a:lnSpc>
                        <a:defRPr/>
                      </a:pPr>
                      <a:r>
                        <a:rPr lang="en-US" sz="2100">
                          <a:solidFill>
                            <a:srgbClr val="000000"/>
                          </a:solidFill>
                          <a:latin typeface="Times New Roman"/>
                          <a:ea typeface="Times New Roman"/>
                          <a:cs typeface="Times New Roman"/>
                          <a:sym typeface="Times New Roman"/>
                        </a:rPr>
                        <a:t>AI-b</a:t>
                      </a:r>
                      <a:r>
                        <a:rPr lang="en-US" sz="2100">
                          <a:solidFill>
                            <a:srgbClr val="000000"/>
                          </a:solidFill>
                          <a:latin typeface="Times New Roman"/>
                          <a:ea typeface="Times New Roman"/>
                          <a:cs typeface="Times New Roman"/>
                          <a:sym typeface="Times New Roman"/>
                        </a:rPr>
                        <a:t>ased assessment, NLP</a:t>
                      </a:r>
                      <a:endParaRPr lang="en-US" sz="1100"/>
                    </a:p>
                  </a:txBody>
                  <a:tcPr marL="91425" marR="91425" marT="91425" marB="91425"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c>
                  <a:txBody>
                    <a:bodyPr anchor="t" rtlCol="false"/>
                    <a:lstStyle/>
                    <a:p>
                      <a:pPr algn="l">
                        <a:lnSpc>
                          <a:spcPts val="2520"/>
                        </a:lnSpc>
                        <a:defRPr/>
                      </a:pPr>
                      <a:r>
                        <a:rPr lang="en-US" sz="2100">
                          <a:solidFill>
                            <a:srgbClr val="000000"/>
                          </a:solidFill>
                          <a:latin typeface="Times New Roman"/>
                          <a:ea typeface="Times New Roman"/>
                          <a:cs typeface="Times New Roman"/>
                          <a:sym typeface="Times New Roman"/>
                        </a:rPr>
                        <a:t>Imp</a:t>
                      </a:r>
                      <a:r>
                        <a:rPr lang="en-US" sz="2100">
                          <a:solidFill>
                            <a:srgbClr val="000000"/>
                          </a:solidFill>
                          <a:latin typeface="Times New Roman"/>
                          <a:ea typeface="Times New Roman"/>
                          <a:cs typeface="Times New Roman"/>
                          <a:sym typeface="Times New Roman"/>
                        </a:rPr>
                        <a:t>roves preparation efficiency</a:t>
                      </a:r>
                      <a:endParaRPr lang="en-US" sz="1100"/>
                    </a:p>
                  </a:txBody>
                  <a:tcPr marL="91425" marR="91425" marT="91425" marB="91425"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c>
                  <a:txBody>
                    <a:bodyPr anchor="t" rtlCol="false"/>
                    <a:lstStyle/>
                    <a:p>
                      <a:pPr algn="l">
                        <a:lnSpc>
                          <a:spcPts val="2520"/>
                        </a:lnSpc>
                        <a:defRPr/>
                      </a:pPr>
                      <a:r>
                        <a:rPr lang="en-US" sz="2100">
                          <a:solidFill>
                            <a:srgbClr val="000000"/>
                          </a:solidFill>
                          <a:latin typeface="Times New Roman"/>
                          <a:ea typeface="Times New Roman"/>
                          <a:cs typeface="Times New Roman"/>
                          <a:sym typeface="Times New Roman"/>
                        </a:rPr>
                        <a:t>L</a:t>
                      </a:r>
                      <a:r>
                        <a:rPr lang="en-US" sz="2100">
                          <a:solidFill>
                            <a:srgbClr val="000000"/>
                          </a:solidFill>
                          <a:latin typeface="Times New Roman"/>
                          <a:ea typeface="Times New Roman"/>
                          <a:cs typeface="Times New Roman"/>
                          <a:sym typeface="Times New Roman"/>
                        </a:rPr>
                        <a:t>imited personalization</a:t>
                      </a:r>
                      <a:endParaRPr lang="en-US" sz="1100"/>
                    </a:p>
                  </a:txBody>
                  <a:tcPr marL="91425" marR="91425" marT="91425" marB="91425"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r>
              <a:tr h="1553434">
                <a:tc>
                  <a:txBody>
                    <a:bodyPr anchor="t" rtlCol="false"/>
                    <a:lstStyle/>
                    <a:p>
                      <a:pPr algn="l">
                        <a:lnSpc>
                          <a:spcPts val="2520"/>
                        </a:lnSpc>
                        <a:defRPr/>
                      </a:pPr>
                      <a:r>
                        <a:rPr lang="en-US" sz="2100">
                          <a:solidFill>
                            <a:srgbClr val="000000"/>
                          </a:solidFill>
                          <a:latin typeface="Times New Roman"/>
                          <a:ea typeface="Times New Roman"/>
                          <a:cs typeface="Times New Roman"/>
                          <a:sym typeface="Times New Roman"/>
                        </a:rPr>
                        <a:t>4</a:t>
                      </a:r>
                      <a:endParaRPr lang="en-US" sz="1100"/>
                    </a:p>
                  </a:txBody>
                  <a:tcPr marL="91425" marR="91425" marT="91425" marB="91425"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c>
                  <a:txBody>
                    <a:bodyPr anchor="t" rtlCol="false"/>
                    <a:lstStyle/>
                    <a:p>
                      <a:pPr algn="l">
                        <a:lnSpc>
                          <a:spcPts val="2520"/>
                        </a:lnSpc>
                        <a:defRPr/>
                      </a:pPr>
                      <a:r>
                        <a:rPr lang="en-US" sz="2100">
                          <a:solidFill>
                            <a:srgbClr val="000000"/>
                          </a:solidFill>
                          <a:latin typeface="Times New Roman"/>
                          <a:ea typeface="Times New Roman"/>
                          <a:cs typeface="Times New Roman"/>
                          <a:sym typeface="Times New Roman"/>
                        </a:rPr>
                        <a:t>G.</a:t>
                      </a:r>
                      <a:r>
                        <a:rPr lang="en-US" sz="2100">
                          <a:solidFill>
                            <a:srgbClr val="000000"/>
                          </a:solidFill>
                          <a:latin typeface="Times New Roman"/>
                          <a:ea typeface="Times New Roman"/>
                          <a:cs typeface="Times New Roman"/>
                          <a:sym typeface="Times New Roman"/>
                        </a:rPr>
                        <a:t> Ramachandra Rao, B. C. Reddy, A. S. Kalyan, G. K. Priya, K. Rajesh (2025)</a:t>
                      </a:r>
                      <a:endParaRPr lang="en-US" sz="1100"/>
                    </a:p>
                  </a:txBody>
                  <a:tcPr marL="91425" marR="91425" marT="91425" marB="91425"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c>
                  <a:txBody>
                    <a:bodyPr anchor="t" rtlCol="false"/>
                    <a:lstStyle/>
                    <a:p>
                      <a:pPr algn="l">
                        <a:lnSpc>
                          <a:spcPts val="2520"/>
                        </a:lnSpc>
                        <a:defRPr/>
                      </a:pPr>
                      <a:endParaRPr lang="en-US" sz="1100"/>
                    </a:p>
                    <a:p>
                      <a:pPr algn="l">
                        <a:lnSpc>
                          <a:spcPts val="2520"/>
                        </a:lnSpc>
                      </a:pPr>
                      <a:r>
                        <a:rPr lang="en-US" sz="2100">
                          <a:solidFill>
                            <a:srgbClr val="000000"/>
                          </a:solidFill>
                          <a:latin typeface="Times New Roman"/>
                          <a:ea typeface="Times New Roman"/>
                          <a:cs typeface="Times New Roman"/>
                          <a:sym typeface="Times New Roman"/>
                        </a:rPr>
                        <a:t>Mock i</a:t>
                      </a:r>
                      <a:r>
                        <a:rPr lang="en-US" sz="2100">
                          <a:solidFill>
                            <a:srgbClr val="000000"/>
                          </a:solidFill>
                          <a:latin typeface="Times New Roman"/>
                          <a:ea typeface="Times New Roman"/>
                          <a:cs typeface="Times New Roman"/>
                          <a:sym typeface="Times New Roman"/>
                        </a:rPr>
                        <a:t>nterview simulation, scoring</a:t>
                      </a:r>
                    </a:p>
                    <a:p>
                      <a:pPr algn="l">
                        <a:lnSpc>
                          <a:spcPts val="2520"/>
                        </a:lnSpc>
                      </a:pPr>
                    </a:p>
                  </a:txBody>
                  <a:tcPr marL="91425" marR="91425" marT="91425" marB="91425"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c>
                  <a:txBody>
                    <a:bodyPr anchor="t" rtlCol="false"/>
                    <a:lstStyle/>
                    <a:p>
                      <a:pPr algn="l">
                        <a:lnSpc>
                          <a:spcPts val="2520"/>
                        </a:lnSpc>
                        <a:defRPr/>
                      </a:pPr>
                      <a:r>
                        <a:rPr lang="en-US" sz="2100">
                          <a:solidFill>
                            <a:srgbClr val="000000"/>
                          </a:solidFill>
                          <a:latin typeface="Times New Roman"/>
                          <a:ea typeface="Times New Roman"/>
                          <a:cs typeface="Times New Roman"/>
                          <a:sym typeface="Times New Roman"/>
                        </a:rPr>
                        <a:t>AI</a:t>
                      </a:r>
                      <a:r>
                        <a:rPr lang="en-US" sz="2100">
                          <a:solidFill>
                            <a:srgbClr val="000000"/>
                          </a:solidFill>
                          <a:latin typeface="Times New Roman"/>
                          <a:ea typeface="Times New Roman"/>
                          <a:cs typeface="Times New Roman"/>
                          <a:sym typeface="Times New Roman"/>
                        </a:rPr>
                        <a:t> + rule-based system</a:t>
                      </a:r>
                      <a:endParaRPr lang="en-US" sz="1100"/>
                    </a:p>
                  </a:txBody>
                  <a:tcPr marL="91425" marR="91425" marT="91425" marB="91425"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c>
                  <a:txBody>
                    <a:bodyPr anchor="t" rtlCol="false"/>
                    <a:lstStyle/>
                    <a:p>
                      <a:pPr algn="l">
                        <a:lnSpc>
                          <a:spcPts val="2520"/>
                        </a:lnSpc>
                        <a:defRPr/>
                      </a:pPr>
                      <a:r>
                        <a:rPr lang="en-US" sz="2100">
                          <a:solidFill>
                            <a:srgbClr val="000000"/>
                          </a:solidFill>
                          <a:latin typeface="Times New Roman"/>
                          <a:ea typeface="Times New Roman"/>
                          <a:cs typeface="Times New Roman"/>
                          <a:sym typeface="Times New Roman"/>
                        </a:rPr>
                        <a:t>Easy to use, structured evaluation</a:t>
                      </a:r>
                      <a:endParaRPr lang="en-US" sz="1100"/>
                    </a:p>
                  </a:txBody>
                  <a:tcPr marL="91425" marR="91425" marT="91425" marB="91425"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c>
                  <a:txBody>
                    <a:bodyPr anchor="t" rtlCol="false"/>
                    <a:lstStyle/>
                    <a:p>
                      <a:pPr algn="l">
                        <a:lnSpc>
                          <a:spcPts val="2520"/>
                        </a:lnSpc>
                        <a:defRPr/>
                      </a:pPr>
                      <a:r>
                        <a:rPr lang="en-US" sz="2100">
                          <a:solidFill>
                            <a:srgbClr val="000000"/>
                          </a:solidFill>
                          <a:latin typeface="Times New Roman"/>
                          <a:ea typeface="Times New Roman"/>
                          <a:cs typeface="Times New Roman"/>
                          <a:sym typeface="Times New Roman"/>
                        </a:rPr>
                        <a:t>R</a:t>
                      </a:r>
                      <a:r>
                        <a:rPr lang="en-US" sz="2100">
                          <a:solidFill>
                            <a:srgbClr val="000000"/>
                          </a:solidFill>
                          <a:latin typeface="Times New Roman"/>
                          <a:ea typeface="Times New Roman"/>
                          <a:cs typeface="Times New Roman"/>
                          <a:sym typeface="Times New Roman"/>
                        </a:rPr>
                        <a:t>igid system, less adaptive</a:t>
                      </a:r>
                      <a:endParaRPr lang="en-US" sz="1100"/>
                    </a:p>
                  </a:txBody>
                  <a:tcPr marL="91425" marR="91425" marT="91425" marB="91425"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r>
              <a:tr h="2096659">
                <a:tc>
                  <a:txBody>
                    <a:bodyPr anchor="t" rtlCol="false"/>
                    <a:lstStyle/>
                    <a:p>
                      <a:pPr algn="l">
                        <a:lnSpc>
                          <a:spcPts val="2520"/>
                        </a:lnSpc>
                        <a:defRPr/>
                      </a:pPr>
                      <a:r>
                        <a:rPr lang="en-US" sz="2100">
                          <a:solidFill>
                            <a:srgbClr val="000000"/>
                          </a:solidFill>
                          <a:latin typeface="Times New Roman"/>
                          <a:ea typeface="Times New Roman"/>
                          <a:cs typeface="Times New Roman"/>
                          <a:sym typeface="Times New Roman"/>
                        </a:rPr>
                        <a:t>5</a:t>
                      </a:r>
                      <a:endParaRPr lang="en-US" sz="1100"/>
                    </a:p>
                  </a:txBody>
                  <a:tcPr marL="91425" marR="91425" marT="91425" marB="91425"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c>
                  <a:txBody>
                    <a:bodyPr anchor="t" rtlCol="false"/>
                    <a:lstStyle/>
                    <a:p>
                      <a:pPr algn="l">
                        <a:lnSpc>
                          <a:spcPts val="2520"/>
                        </a:lnSpc>
                        <a:defRPr/>
                      </a:pPr>
                      <a:r>
                        <a:rPr lang="en-US" sz="2100">
                          <a:solidFill>
                            <a:srgbClr val="000000"/>
                          </a:solidFill>
                          <a:latin typeface="Times New Roman"/>
                          <a:ea typeface="Times New Roman"/>
                          <a:cs typeface="Times New Roman"/>
                          <a:sym typeface="Times New Roman"/>
                        </a:rPr>
                        <a:t>Nguyen, T. T. H., N. M. Nguyen, and T. H. Truong. (2025)</a:t>
                      </a:r>
                      <a:endParaRPr lang="en-US" sz="1100"/>
                    </a:p>
                  </a:txBody>
                  <a:tcPr marL="91425" marR="91425" marT="91425" marB="91425"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c>
                  <a:txBody>
                    <a:bodyPr anchor="t" rtlCol="false"/>
                    <a:lstStyle/>
                    <a:p>
                      <a:pPr algn="l">
                        <a:lnSpc>
                          <a:spcPts val="2939"/>
                        </a:lnSpc>
                        <a:defRPr/>
                      </a:pPr>
                      <a:endParaRPr lang="en-US" sz="1100"/>
                    </a:p>
                    <a:p>
                      <a:pPr algn="l">
                        <a:lnSpc>
                          <a:spcPts val="2939"/>
                        </a:lnSpc>
                      </a:pPr>
                      <a:r>
                        <a:rPr lang="en-US" sz="2099">
                          <a:solidFill>
                            <a:srgbClr val="000000"/>
                          </a:solidFill>
                          <a:latin typeface="Times New Roman"/>
                          <a:ea typeface="Times New Roman"/>
                          <a:cs typeface="Times New Roman"/>
                          <a:sym typeface="Times New Roman"/>
                        </a:rPr>
                        <a:t>Personalized interview, adaptive Q&amp;A, feedback</a:t>
                      </a:r>
                    </a:p>
                    <a:p>
                      <a:pPr algn="l">
                        <a:lnSpc>
                          <a:spcPts val="2939"/>
                        </a:lnSpc>
                      </a:pPr>
                    </a:p>
                  </a:txBody>
                  <a:tcPr marL="91425" marR="91425" marT="91425" marB="91425"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c>
                  <a:txBody>
                    <a:bodyPr anchor="t" rtlCol="false"/>
                    <a:lstStyle/>
                    <a:p>
                      <a:pPr algn="l">
                        <a:lnSpc>
                          <a:spcPts val="2940"/>
                        </a:lnSpc>
                        <a:defRPr/>
                      </a:pPr>
                      <a:r>
                        <a:rPr lang="en-US" sz="2100">
                          <a:solidFill>
                            <a:srgbClr val="000000"/>
                          </a:solidFill>
                          <a:latin typeface="Times New Roman"/>
                          <a:ea typeface="Times New Roman"/>
                          <a:cs typeface="Times New Roman"/>
                          <a:sym typeface="Times New Roman"/>
                        </a:rPr>
                        <a:t>LLM-based conversational AI, NLP</a:t>
                      </a:r>
                      <a:endParaRPr lang="en-US" sz="1100"/>
                    </a:p>
                  </a:txBody>
                  <a:tcPr marL="91425" marR="91425" marT="91425" marB="91425"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c>
                  <a:txBody>
                    <a:bodyPr anchor="t" rtlCol="false"/>
                    <a:lstStyle/>
                    <a:p>
                      <a:pPr algn="l">
                        <a:lnSpc>
                          <a:spcPts val="2940"/>
                        </a:lnSpc>
                        <a:defRPr/>
                      </a:pPr>
                      <a:r>
                        <a:rPr lang="en-US" sz="2100">
                          <a:solidFill>
                            <a:srgbClr val="000000"/>
                          </a:solidFill>
                          <a:latin typeface="Times New Roman"/>
                          <a:ea typeface="Times New Roman"/>
                          <a:cs typeface="Times New Roman"/>
                          <a:sym typeface="Times New Roman"/>
                        </a:rPr>
                        <a:t>Realistic, scalable</a:t>
                      </a:r>
                      <a:endParaRPr lang="en-US" sz="1100"/>
                    </a:p>
                  </a:txBody>
                  <a:tcPr marL="91425" marR="91425" marT="91425" marB="91425"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c>
                  <a:txBody>
                    <a:bodyPr anchor="t" rtlCol="false"/>
                    <a:lstStyle/>
                    <a:p>
                      <a:pPr algn="l" marL="0" indent="0" lvl="0">
                        <a:lnSpc>
                          <a:spcPts val="2940"/>
                        </a:lnSpc>
                        <a:spcBef>
                          <a:spcPct val="0"/>
                        </a:spcBef>
                        <a:defRPr/>
                      </a:pPr>
                      <a:endParaRPr lang="en-US" sz="1100"/>
                    </a:p>
                    <a:p>
                      <a:pPr algn="l" marL="0" indent="0" lvl="0">
                        <a:lnSpc>
                          <a:spcPts val="2940"/>
                        </a:lnSpc>
                        <a:spcBef>
                          <a:spcPct val="0"/>
                        </a:spcBef>
                      </a:pPr>
                      <a:r>
                        <a:rPr lang="en-US" sz="2100" strike="noStrike" u="none">
                          <a:solidFill>
                            <a:srgbClr val="000000"/>
                          </a:solidFill>
                          <a:latin typeface="Times New Roman"/>
                          <a:ea typeface="Times New Roman"/>
                          <a:cs typeface="Times New Roman"/>
                          <a:sym typeface="Times New Roman"/>
                        </a:rPr>
                        <a:t>High cost, possible inaccuracies</a:t>
                      </a:r>
                    </a:p>
                    <a:p>
                      <a:pPr algn="l" marL="0" indent="0" lvl="0">
                        <a:lnSpc>
                          <a:spcPts val="2940"/>
                        </a:lnSpc>
                        <a:spcBef>
                          <a:spcPct val="0"/>
                        </a:spcBef>
                      </a:pPr>
                    </a:p>
                  </a:txBody>
                  <a:tcPr marL="91425" marR="91425" marT="91425" marB="91425"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r>
            </a:tbl>
          </a:graphicData>
        </a:graphic>
      </p:graphicFrame>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FFFFF">
                <a:alpha val="100000"/>
              </a:srgbClr>
            </a:gs>
            <a:gs pos="100000">
              <a:srgbClr val="DDE6C3">
                <a:alpha val="100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sp>
        <p:nvSpPr>
          <p:cNvPr name="Freeform 2" id="2"/>
          <p:cNvSpPr/>
          <p:nvPr/>
        </p:nvSpPr>
        <p:spPr>
          <a:xfrm flipH="false" flipV="false" rot="0">
            <a:off x="1" y="342900"/>
            <a:ext cx="4277277" cy="9957940"/>
          </a:xfrm>
          <a:custGeom>
            <a:avLst/>
            <a:gdLst/>
            <a:ahLst/>
            <a:cxnLst/>
            <a:rect r="r" b="b" t="t" l="l"/>
            <a:pathLst>
              <a:path h="9957940" w="4277277">
                <a:moveTo>
                  <a:pt x="0" y="0"/>
                </a:moveTo>
                <a:lnTo>
                  <a:pt x="4277278" y="0"/>
                </a:lnTo>
                <a:lnTo>
                  <a:pt x="4277278" y="9957940"/>
                </a:lnTo>
                <a:lnTo>
                  <a:pt x="0" y="995794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0">
            <a:off x="40834" y="-1181"/>
            <a:ext cx="3535013" cy="10281056"/>
          </a:xfrm>
          <a:custGeom>
            <a:avLst/>
            <a:gdLst/>
            <a:ahLst/>
            <a:cxnLst/>
            <a:rect r="r" b="b" t="t" l="l"/>
            <a:pathLst>
              <a:path h="10281056" w="3535013">
                <a:moveTo>
                  <a:pt x="0" y="0"/>
                </a:moveTo>
                <a:lnTo>
                  <a:pt x="3535013" y="0"/>
                </a:lnTo>
                <a:lnTo>
                  <a:pt x="3535013" y="10281056"/>
                </a:lnTo>
                <a:lnTo>
                  <a:pt x="0" y="1028105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4" id="4"/>
          <p:cNvGrpSpPr/>
          <p:nvPr/>
        </p:nvGrpSpPr>
        <p:grpSpPr>
          <a:xfrm rot="0">
            <a:off x="0" y="0"/>
            <a:ext cx="274320" cy="10287000"/>
            <a:chOff x="0" y="0"/>
            <a:chExt cx="365760" cy="13716000"/>
          </a:xfrm>
        </p:grpSpPr>
        <p:sp>
          <p:nvSpPr>
            <p:cNvPr name="Freeform 5" id="5"/>
            <p:cNvSpPr/>
            <p:nvPr/>
          </p:nvSpPr>
          <p:spPr>
            <a:xfrm flipH="false" flipV="false" rot="0">
              <a:off x="0" y="0"/>
              <a:ext cx="365760" cy="13716000"/>
            </a:xfrm>
            <a:custGeom>
              <a:avLst/>
              <a:gdLst/>
              <a:ahLst/>
              <a:cxnLst/>
              <a:rect r="r" b="b" t="t" l="l"/>
              <a:pathLst>
                <a:path h="13716000" w="365760">
                  <a:moveTo>
                    <a:pt x="0" y="0"/>
                  </a:moveTo>
                  <a:lnTo>
                    <a:pt x="365760" y="0"/>
                  </a:lnTo>
                  <a:lnTo>
                    <a:pt x="365760" y="13716000"/>
                  </a:lnTo>
                  <a:lnTo>
                    <a:pt x="0" y="13716000"/>
                  </a:lnTo>
                  <a:close/>
                </a:path>
              </a:pathLst>
            </a:custGeom>
            <a:solidFill>
              <a:srgbClr val="766F54"/>
            </a:solidFill>
          </p:spPr>
        </p:sp>
      </p:grpSp>
      <p:grpSp>
        <p:nvGrpSpPr>
          <p:cNvPr name="Group 6" id="6"/>
          <p:cNvGrpSpPr/>
          <p:nvPr/>
        </p:nvGrpSpPr>
        <p:grpSpPr>
          <a:xfrm rot="0">
            <a:off x="15881785" y="9370781"/>
            <a:ext cx="2382793" cy="760943"/>
            <a:chOff x="0" y="0"/>
            <a:chExt cx="3177057" cy="1014590"/>
          </a:xfrm>
        </p:grpSpPr>
        <p:sp>
          <p:nvSpPr>
            <p:cNvPr name="Freeform 7" id="7"/>
            <p:cNvSpPr/>
            <p:nvPr/>
          </p:nvSpPr>
          <p:spPr>
            <a:xfrm flipH="false" flipV="false" rot="0">
              <a:off x="-14192" y="0"/>
              <a:ext cx="3191224" cy="1014603"/>
            </a:xfrm>
            <a:custGeom>
              <a:avLst/>
              <a:gdLst/>
              <a:ahLst/>
              <a:cxnLst/>
              <a:rect r="r" b="b" t="t" l="l"/>
              <a:pathLst>
                <a:path h="1014603" w="3191224">
                  <a:moveTo>
                    <a:pt x="14192" y="477012"/>
                  </a:moveTo>
                  <a:lnTo>
                    <a:pt x="472154" y="19050"/>
                  </a:lnTo>
                  <a:cubicBezTo>
                    <a:pt x="475202" y="15748"/>
                    <a:pt x="479012" y="12700"/>
                    <a:pt x="482060" y="9525"/>
                  </a:cubicBezTo>
                  <a:cubicBezTo>
                    <a:pt x="491331" y="0"/>
                    <a:pt x="500983" y="0"/>
                    <a:pt x="510635" y="0"/>
                  </a:cubicBezTo>
                  <a:lnTo>
                    <a:pt x="691991" y="0"/>
                  </a:lnTo>
                  <a:lnTo>
                    <a:pt x="3191224" y="7112"/>
                  </a:lnTo>
                  <a:cubicBezTo>
                    <a:pt x="3188430" y="342900"/>
                    <a:pt x="3185382" y="678815"/>
                    <a:pt x="3182588" y="1014603"/>
                  </a:cubicBezTo>
                  <a:lnTo>
                    <a:pt x="691991" y="1011174"/>
                  </a:lnTo>
                  <a:lnTo>
                    <a:pt x="510635" y="1011174"/>
                  </a:lnTo>
                  <a:cubicBezTo>
                    <a:pt x="500983" y="1011174"/>
                    <a:pt x="491458" y="1001649"/>
                    <a:pt x="482060" y="1001649"/>
                  </a:cubicBezTo>
                  <a:cubicBezTo>
                    <a:pt x="482060" y="992124"/>
                    <a:pt x="472154" y="992124"/>
                    <a:pt x="472154" y="992124"/>
                  </a:cubicBezTo>
                  <a:lnTo>
                    <a:pt x="14192" y="534162"/>
                  </a:lnTo>
                  <a:cubicBezTo>
                    <a:pt x="-4731" y="515112"/>
                    <a:pt x="-4731" y="496062"/>
                    <a:pt x="14192" y="476885"/>
                  </a:cubicBezTo>
                  <a:close/>
                </a:path>
              </a:pathLst>
            </a:custGeom>
            <a:solidFill>
              <a:srgbClr val="A53010"/>
            </a:solidFill>
          </p:spPr>
        </p:sp>
      </p:grpSp>
      <p:grpSp>
        <p:nvGrpSpPr>
          <p:cNvPr name="Group 8" id="8"/>
          <p:cNvGrpSpPr/>
          <p:nvPr/>
        </p:nvGrpSpPr>
        <p:grpSpPr>
          <a:xfrm rot="0">
            <a:off x="233563" y="0"/>
            <a:ext cx="2185988" cy="1864519"/>
            <a:chOff x="0" y="0"/>
            <a:chExt cx="2914650" cy="2486025"/>
          </a:xfrm>
        </p:grpSpPr>
        <p:sp>
          <p:nvSpPr>
            <p:cNvPr name="Freeform 9" id="9"/>
            <p:cNvSpPr/>
            <p:nvPr/>
          </p:nvSpPr>
          <p:spPr>
            <a:xfrm flipH="false" flipV="false" rot="0">
              <a:off x="0" y="0"/>
              <a:ext cx="2914650" cy="2486025"/>
            </a:xfrm>
            <a:custGeom>
              <a:avLst/>
              <a:gdLst/>
              <a:ahLst/>
              <a:cxnLst/>
              <a:rect r="r" b="b" t="t" l="l"/>
              <a:pathLst>
                <a:path h="2486025" w="2914650">
                  <a:moveTo>
                    <a:pt x="0" y="0"/>
                  </a:moveTo>
                  <a:lnTo>
                    <a:pt x="2914650" y="0"/>
                  </a:lnTo>
                  <a:lnTo>
                    <a:pt x="2914650" y="2486025"/>
                  </a:lnTo>
                  <a:lnTo>
                    <a:pt x="0" y="2486025"/>
                  </a:lnTo>
                  <a:lnTo>
                    <a:pt x="0" y="0"/>
                  </a:lnTo>
                  <a:close/>
                </a:path>
              </a:pathLst>
            </a:custGeom>
            <a:blipFill>
              <a:blip r:embed="rId7"/>
              <a:stretch>
                <a:fillRect l="0" t="0" r="0" b="0"/>
              </a:stretch>
            </a:blipFill>
          </p:spPr>
        </p:sp>
      </p:grpSp>
      <p:grpSp>
        <p:nvGrpSpPr>
          <p:cNvPr name="Group 10" id="10"/>
          <p:cNvGrpSpPr/>
          <p:nvPr/>
        </p:nvGrpSpPr>
        <p:grpSpPr>
          <a:xfrm rot="0">
            <a:off x="16655091" y="-591331"/>
            <a:ext cx="1525553" cy="2712101"/>
            <a:chOff x="0" y="0"/>
            <a:chExt cx="2034070" cy="3616134"/>
          </a:xfrm>
        </p:grpSpPr>
        <p:sp>
          <p:nvSpPr>
            <p:cNvPr name="Freeform 11" id="11"/>
            <p:cNvSpPr/>
            <p:nvPr/>
          </p:nvSpPr>
          <p:spPr>
            <a:xfrm flipH="false" flipV="false" rot="0">
              <a:off x="0" y="0"/>
              <a:ext cx="2034032" cy="3616071"/>
            </a:xfrm>
            <a:custGeom>
              <a:avLst/>
              <a:gdLst/>
              <a:ahLst/>
              <a:cxnLst/>
              <a:rect r="r" b="b" t="t" l="l"/>
              <a:pathLst>
                <a:path h="3616071" w="2034032">
                  <a:moveTo>
                    <a:pt x="0" y="0"/>
                  </a:moveTo>
                  <a:lnTo>
                    <a:pt x="2034032" y="0"/>
                  </a:lnTo>
                  <a:lnTo>
                    <a:pt x="2034032" y="3616071"/>
                  </a:lnTo>
                  <a:lnTo>
                    <a:pt x="0" y="3616071"/>
                  </a:lnTo>
                  <a:lnTo>
                    <a:pt x="0" y="0"/>
                  </a:lnTo>
                  <a:close/>
                </a:path>
              </a:pathLst>
            </a:custGeom>
            <a:blipFill>
              <a:blip r:embed="rId8"/>
              <a:stretch>
                <a:fillRect l="0" t="0" r="-1" b="-55"/>
              </a:stretch>
            </a:blipFill>
          </p:spPr>
        </p:sp>
      </p:grpSp>
      <p:sp>
        <p:nvSpPr>
          <p:cNvPr name="TextBox 12" id="12"/>
          <p:cNvSpPr txBox="true"/>
          <p:nvPr/>
        </p:nvSpPr>
        <p:spPr>
          <a:xfrm rot="0">
            <a:off x="3575847" y="990600"/>
            <a:ext cx="13184676" cy="1868033"/>
          </a:xfrm>
          <a:prstGeom prst="rect">
            <a:avLst/>
          </a:prstGeom>
        </p:spPr>
        <p:txBody>
          <a:bodyPr anchor="t" rtlCol="false" tIns="0" lIns="0" bIns="0" rIns="0">
            <a:spAutoFit/>
          </a:bodyPr>
          <a:lstStyle/>
          <a:p>
            <a:pPr algn="l">
              <a:lnSpc>
                <a:spcPts val="7200"/>
              </a:lnSpc>
            </a:pPr>
            <a:r>
              <a:rPr lang="en-US" sz="6000">
                <a:solidFill>
                  <a:srgbClr val="262626"/>
                </a:solidFill>
                <a:latin typeface="Times New Roman"/>
                <a:ea typeface="Times New Roman"/>
                <a:cs typeface="Times New Roman"/>
                <a:sym typeface="Times New Roman"/>
              </a:rPr>
              <a:t>3. Problem Statement</a:t>
            </a:r>
          </a:p>
        </p:txBody>
      </p:sp>
      <p:sp>
        <p:nvSpPr>
          <p:cNvPr name="TextBox 13" id="13"/>
          <p:cNvSpPr txBox="true"/>
          <p:nvPr/>
        </p:nvSpPr>
        <p:spPr>
          <a:xfrm rot="0">
            <a:off x="3204496" y="2044570"/>
            <a:ext cx="13628551" cy="8573133"/>
          </a:xfrm>
          <a:prstGeom prst="rect">
            <a:avLst/>
          </a:prstGeom>
        </p:spPr>
        <p:txBody>
          <a:bodyPr anchor="t" rtlCol="false" tIns="0" lIns="0" bIns="0" rIns="0">
            <a:spAutoFit/>
          </a:bodyPr>
          <a:lstStyle/>
          <a:p>
            <a:pPr algn="l" marL="713688" indent="-356844" lvl="1">
              <a:lnSpc>
                <a:spcPts val="4561"/>
              </a:lnSpc>
              <a:buAutoNum type="arabicPeriod" startAt="1"/>
            </a:pPr>
            <a:r>
              <a:rPr lang="en-US" sz="3305" strike="noStrike" u="none">
                <a:solidFill>
                  <a:srgbClr val="262626"/>
                </a:solidFill>
                <a:latin typeface="Times New Roman"/>
                <a:ea typeface="Times New Roman"/>
                <a:cs typeface="Times New Roman"/>
                <a:sym typeface="Times New Roman"/>
              </a:rPr>
              <a:t>Many students and job seekers face difficulties during interviews despite having strong technical knowledge.</a:t>
            </a:r>
          </a:p>
          <a:p>
            <a:pPr algn="l" marL="713688" indent="-356844" lvl="1">
              <a:lnSpc>
                <a:spcPts val="4561"/>
              </a:lnSpc>
              <a:buAutoNum type="arabicPeriod" startAt="1"/>
            </a:pPr>
            <a:r>
              <a:rPr lang="en-US" sz="3305" strike="noStrike" u="none">
                <a:solidFill>
                  <a:srgbClr val="262626"/>
                </a:solidFill>
                <a:latin typeface="Times New Roman"/>
                <a:ea typeface="Times New Roman"/>
                <a:cs typeface="Times New Roman"/>
                <a:sym typeface="Times New Roman"/>
              </a:rPr>
              <a:t>Existing preparation methods like reading questions, watching videos, or practicing with peers lack real-time interaction and personalized feedback.</a:t>
            </a:r>
          </a:p>
          <a:p>
            <a:pPr algn="l" marL="713688" indent="-356844" lvl="1">
              <a:lnSpc>
                <a:spcPts val="4561"/>
              </a:lnSpc>
              <a:buAutoNum type="arabicPeriod" startAt="1"/>
            </a:pPr>
            <a:r>
              <a:rPr lang="en-US" sz="3305" strike="noStrike" u="none">
                <a:solidFill>
                  <a:srgbClr val="262626"/>
                </a:solidFill>
                <a:latin typeface="Times New Roman"/>
                <a:ea typeface="Times New Roman"/>
                <a:cs typeface="Times New Roman"/>
                <a:sym typeface="Times New Roman"/>
              </a:rPr>
              <a:t> </a:t>
            </a:r>
            <a:r>
              <a:rPr lang="en-US" sz="3305" strike="noStrike" u="none">
                <a:solidFill>
                  <a:srgbClr val="262626"/>
                </a:solidFill>
                <a:latin typeface="Times New Roman"/>
                <a:ea typeface="Times New Roman"/>
                <a:cs typeface="Times New Roman"/>
                <a:sym typeface="Times New Roman"/>
              </a:rPr>
              <a:t>Most available mock interview platforms follow fixed question patterns and fail to simulate the dynamic nature of real interviews.</a:t>
            </a:r>
          </a:p>
          <a:p>
            <a:pPr algn="l" marL="713688" indent="-356844" lvl="1">
              <a:lnSpc>
                <a:spcPts val="4561"/>
              </a:lnSpc>
              <a:buAutoNum type="arabicPeriod" startAt="1"/>
            </a:pPr>
            <a:r>
              <a:rPr lang="en-US" sz="3305" strike="noStrike" u="none">
                <a:solidFill>
                  <a:srgbClr val="262626"/>
                </a:solidFill>
                <a:latin typeface="Times New Roman"/>
                <a:ea typeface="Times New Roman"/>
                <a:cs typeface="Times New Roman"/>
                <a:sym typeface="Times New Roman"/>
              </a:rPr>
              <a:t> Access to experienced mentors or interview coaches is often limited, costly, or not always  available.</a:t>
            </a:r>
          </a:p>
          <a:p>
            <a:pPr algn="l" marL="713688" indent="-356844" lvl="1">
              <a:lnSpc>
                <a:spcPts val="4561"/>
              </a:lnSpc>
              <a:buAutoNum type="arabicPeriod" startAt="1"/>
            </a:pPr>
            <a:r>
              <a:rPr lang="en-US" sz="3305" strike="noStrike" u="none">
                <a:solidFill>
                  <a:srgbClr val="262626"/>
                </a:solidFill>
                <a:latin typeface="Times New Roman"/>
                <a:ea typeface="Times New Roman"/>
                <a:cs typeface="Times New Roman"/>
                <a:sym typeface="Times New Roman"/>
              </a:rPr>
              <a:t> </a:t>
            </a:r>
            <a:r>
              <a:rPr lang="en-US" sz="3305" strike="noStrike" u="none">
                <a:solidFill>
                  <a:srgbClr val="262626"/>
                </a:solidFill>
                <a:latin typeface="Times New Roman"/>
                <a:ea typeface="Times New Roman"/>
                <a:cs typeface="Times New Roman"/>
                <a:sym typeface="Times New Roman"/>
              </a:rPr>
              <a:t>Candidates do not receive proper insights into their communication skills,  confidence level, and answer quality.</a:t>
            </a:r>
          </a:p>
          <a:p>
            <a:pPr algn="l" marL="713688" indent="-356844" lvl="1">
              <a:lnSpc>
                <a:spcPts val="4561"/>
              </a:lnSpc>
              <a:buAutoNum type="arabicPeriod" startAt="1"/>
            </a:pPr>
            <a:r>
              <a:rPr lang="en-US" sz="3305" strike="noStrike" u="none">
                <a:solidFill>
                  <a:srgbClr val="262626"/>
                </a:solidFill>
                <a:latin typeface="Times New Roman"/>
                <a:ea typeface="Times New Roman"/>
                <a:cs typeface="Times New Roman"/>
                <a:sym typeface="Times New Roman"/>
              </a:rPr>
              <a:t>There is a need for a system that provides a realistic, adaptive, and intelligent interview environment for effective practice and improvement.</a:t>
            </a:r>
          </a:p>
          <a:p>
            <a:pPr algn="l">
              <a:lnSpc>
                <a:spcPts val="4561"/>
              </a:lnSpc>
            </a:pPr>
          </a:p>
          <a:p>
            <a:pPr algn="l">
              <a:lnSpc>
                <a:spcPts val="4561"/>
              </a:lnSpc>
              <a:spcBef>
                <a:spcPct val="0"/>
              </a:spcBef>
            </a:pPr>
          </a:p>
          <a:p>
            <a:pPr algn="l">
              <a:lnSpc>
                <a:spcPts val="4561"/>
              </a:lnSpc>
              <a:spcBef>
                <a:spcPct val="0"/>
              </a:spcBef>
            </a:pPr>
          </a:p>
        </p:txBody>
      </p:sp>
      <p:grpSp>
        <p:nvGrpSpPr>
          <p:cNvPr name="Group 14" id="14"/>
          <p:cNvGrpSpPr/>
          <p:nvPr/>
        </p:nvGrpSpPr>
        <p:grpSpPr>
          <a:xfrm rot="0">
            <a:off x="16833047" y="9507236"/>
            <a:ext cx="1169651" cy="547688"/>
            <a:chOff x="0" y="0"/>
            <a:chExt cx="1559535" cy="730250"/>
          </a:xfrm>
        </p:grpSpPr>
        <p:sp>
          <p:nvSpPr>
            <p:cNvPr name="Freeform 15" id="15"/>
            <p:cNvSpPr/>
            <p:nvPr/>
          </p:nvSpPr>
          <p:spPr>
            <a:xfrm flipH="false" flipV="false" rot="0">
              <a:off x="0" y="0"/>
              <a:ext cx="1559534" cy="730250"/>
            </a:xfrm>
            <a:custGeom>
              <a:avLst/>
              <a:gdLst/>
              <a:ahLst/>
              <a:cxnLst/>
              <a:rect r="r" b="b" t="t" l="l"/>
              <a:pathLst>
                <a:path h="730250" w="1559534">
                  <a:moveTo>
                    <a:pt x="0" y="0"/>
                  </a:moveTo>
                  <a:lnTo>
                    <a:pt x="1559534" y="0"/>
                  </a:lnTo>
                  <a:lnTo>
                    <a:pt x="1559534" y="730250"/>
                  </a:lnTo>
                  <a:lnTo>
                    <a:pt x="0" y="730250"/>
                  </a:lnTo>
                  <a:close/>
                </a:path>
              </a:pathLst>
            </a:custGeom>
            <a:blipFill>
              <a:blip r:embed="rId9">
                <a:alphaModFix amt="0"/>
              </a:blip>
              <a:stretch>
                <a:fillRect l="-10077" t="0" r="-10078" b="0"/>
              </a:stretch>
            </a:blipFill>
          </p:spPr>
        </p:sp>
        <p:sp>
          <p:nvSpPr>
            <p:cNvPr name="TextBox 16" id="16"/>
            <p:cNvSpPr txBox="true"/>
            <p:nvPr/>
          </p:nvSpPr>
          <p:spPr>
            <a:xfrm>
              <a:off x="0" y="0"/>
              <a:ext cx="1559535" cy="730250"/>
            </a:xfrm>
            <a:prstGeom prst="rect">
              <a:avLst/>
            </a:prstGeom>
          </p:spPr>
          <p:txBody>
            <a:bodyPr anchor="ctr" rtlCol="false" tIns="0" lIns="0" bIns="0" rIns="0"/>
            <a:lstStyle/>
            <a:p>
              <a:pPr algn="r">
                <a:lnSpc>
                  <a:spcPts val="3600"/>
                </a:lnSpc>
              </a:pPr>
              <a:r>
                <a:rPr lang="en-US" sz="3000">
                  <a:solidFill>
                    <a:srgbClr val="FFFFFF"/>
                  </a:solidFill>
                  <a:latin typeface="Century Gothic Paneuropean"/>
                  <a:ea typeface="Century Gothic Paneuropean"/>
                  <a:cs typeface="Century Gothic Paneuropean"/>
                  <a:sym typeface="Century Gothic Paneuropean"/>
                </a:rPr>
                <a:t>5</a:t>
              </a:r>
            </a:p>
          </p:txBody>
        </p:sp>
      </p:gr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FFFFF">
                <a:alpha val="100000"/>
              </a:srgbClr>
            </a:gs>
            <a:gs pos="100000">
              <a:srgbClr val="DDE6C3">
                <a:alpha val="100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sp>
        <p:nvSpPr>
          <p:cNvPr name="Freeform 2" id="2"/>
          <p:cNvSpPr/>
          <p:nvPr/>
        </p:nvSpPr>
        <p:spPr>
          <a:xfrm flipH="false" flipV="false" rot="0">
            <a:off x="1" y="342900"/>
            <a:ext cx="4277277" cy="9957940"/>
          </a:xfrm>
          <a:custGeom>
            <a:avLst/>
            <a:gdLst/>
            <a:ahLst/>
            <a:cxnLst/>
            <a:rect r="r" b="b" t="t" l="l"/>
            <a:pathLst>
              <a:path h="9957940" w="4277277">
                <a:moveTo>
                  <a:pt x="0" y="0"/>
                </a:moveTo>
                <a:lnTo>
                  <a:pt x="4277278" y="0"/>
                </a:lnTo>
                <a:lnTo>
                  <a:pt x="4277278" y="9957940"/>
                </a:lnTo>
                <a:lnTo>
                  <a:pt x="0" y="995794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0">
            <a:off x="40834" y="-1181"/>
            <a:ext cx="3535013" cy="10281056"/>
          </a:xfrm>
          <a:custGeom>
            <a:avLst/>
            <a:gdLst/>
            <a:ahLst/>
            <a:cxnLst/>
            <a:rect r="r" b="b" t="t" l="l"/>
            <a:pathLst>
              <a:path h="10281056" w="3535013">
                <a:moveTo>
                  <a:pt x="0" y="0"/>
                </a:moveTo>
                <a:lnTo>
                  <a:pt x="3535013" y="0"/>
                </a:lnTo>
                <a:lnTo>
                  <a:pt x="3535013" y="10281056"/>
                </a:lnTo>
                <a:lnTo>
                  <a:pt x="0" y="1028105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4" id="4"/>
          <p:cNvGrpSpPr/>
          <p:nvPr/>
        </p:nvGrpSpPr>
        <p:grpSpPr>
          <a:xfrm rot="0">
            <a:off x="0" y="0"/>
            <a:ext cx="274320" cy="10287000"/>
            <a:chOff x="0" y="0"/>
            <a:chExt cx="365760" cy="13716000"/>
          </a:xfrm>
        </p:grpSpPr>
        <p:sp>
          <p:nvSpPr>
            <p:cNvPr name="Freeform 5" id="5"/>
            <p:cNvSpPr/>
            <p:nvPr/>
          </p:nvSpPr>
          <p:spPr>
            <a:xfrm flipH="false" flipV="false" rot="0">
              <a:off x="0" y="0"/>
              <a:ext cx="365760" cy="13716000"/>
            </a:xfrm>
            <a:custGeom>
              <a:avLst/>
              <a:gdLst/>
              <a:ahLst/>
              <a:cxnLst/>
              <a:rect r="r" b="b" t="t" l="l"/>
              <a:pathLst>
                <a:path h="13716000" w="365760">
                  <a:moveTo>
                    <a:pt x="0" y="0"/>
                  </a:moveTo>
                  <a:lnTo>
                    <a:pt x="365760" y="0"/>
                  </a:lnTo>
                  <a:lnTo>
                    <a:pt x="365760" y="13716000"/>
                  </a:lnTo>
                  <a:lnTo>
                    <a:pt x="0" y="13716000"/>
                  </a:lnTo>
                  <a:close/>
                </a:path>
              </a:pathLst>
            </a:custGeom>
            <a:solidFill>
              <a:srgbClr val="766F54"/>
            </a:solidFill>
          </p:spPr>
        </p:sp>
      </p:grpSp>
      <p:grpSp>
        <p:nvGrpSpPr>
          <p:cNvPr name="Group 6" id="6"/>
          <p:cNvGrpSpPr/>
          <p:nvPr/>
        </p:nvGrpSpPr>
        <p:grpSpPr>
          <a:xfrm rot="0">
            <a:off x="15881785" y="9370781"/>
            <a:ext cx="2382793" cy="760943"/>
            <a:chOff x="0" y="0"/>
            <a:chExt cx="3177057" cy="1014590"/>
          </a:xfrm>
        </p:grpSpPr>
        <p:sp>
          <p:nvSpPr>
            <p:cNvPr name="Freeform 7" id="7"/>
            <p:cNvSpPr/>
            <p:nvPr/>
          </p:nvSpPr>
          <p:spPr>
            <a:xfrm flipH="false" flipV="false" rot="0">
              <a:off x="-14192" y="0"/>
              <a:ext cx="3191224" cy="1014603"/>
            </a:xfrm>
            <a:custGeom>
              <a:avLst/>
              <a:gdLst/>
              <a:ahLst/>
              <a:cxnLst/>
              <a:rect r="r" b="b" t="t" l="l"/>
              <a:pathLst>
                <a:path h="1014603" w="3191224">
                  <a:moveTo>
                    <a:pt x="14192" y="477012"/>
                  </a:moveTo>
                  <a:lnTo>
                    <a:pt x="472154" y="19050"/>
                  </a:lnTo>
                  <a:cubicBezTo>
                    <a:pt x="475202" y="15748"/>
                    <a:pt x="479012" y="12700"/>
                    <a:pt x="482060" y="9525"/>
                  </a:cubicBezTo>
                  <a:cubicBezTo>
                    <a:pt x="491331" y="0"/>
                    <a:pt x="500983" y="0"/>
                    <a:pt x="510635" y="0"/>
                  </a:cubicBezTo>
                  <a:lnTo>
                    <a:pt x="691991" y="0"/>
                  </a:lnTo>
                  <a:lnTo>
                    <a:pt x="3191224" y="7112"/>
                  </a:lnTo>
                  <a:cubicBezTo>
                    <a:pt x="3188430" y="342900"/>
                    <a:pt x="3185382" y="678815"/>
                    <a:pt x="3182588" y="1014603"/>
                  </a:cubicBezTo>
                  <a:lnTo>
                    <a:pt x="691991" y="1011174"/>
                  </a:lnTo>
                  <a:lnTo>
                    <a:pt x="510635" y="1011174"/>
                  </a:lnTo>
                  <a:cubicBezTo>
                    <a:pt x="500983" y="1011174"/>
                    <a:pt x="491458" y="1001649"/>
                    <a:pt x="482060" y="1001649"/>
                  </a:cubicBezTo>
                  <a:cubicBezTo>
                    <a:pt x="482060" y="992124"/>
                    <a:pt x="472154" y="992124"/>
                    <a:pt x="472154" y="992124"/>
                  </a:cubicBezTo>
                  <a:lnTo>
                    <a:pt x="14192" y="534162"/>
                  </a:lnTo>
                  <a:cubicBezTo>
                    <a:pt x="-4731" y="515112"/>
                    <a:pt x="-4731" y="496062"/>
                    <a:pt x="14192" y="476885"/>
                  </a:cubicBezTo>
                  <a:close/>
                </a:path>
              </a:pathLst>
            </a:custGeom>
            <a:solidFill>
              <a:srgbClr val="A53010"/>
            </a:solidFill>
          </p:spPr>
        </p:sp>
      </p:grpSp>
      <p:grpSp>
        <p:nvGrpSpPr>
          <p:cNvPr name="Group 8" id="8"/>
          <p:cNvGrpSpPr/>
          <p:nvPr/>
        </p:nvGrpSpPr>
        <p:grpSpPr>
          <a:xfrm rot="0">
            <a:off x="233563" y="0"/>
            <a:ext cx="2185988" cy="1864519"/>
            <a:chOff x="0" y="0"/>
            <a:chExt cx="2914650" cy="2486025"/>
          </a:xfrm>
        </p:grpSpPr>
        <p:sp>
          <p:nvSpPr>
            <p:cNvPr name="Freeform 9" id="9"/>
            <p:cNvSpPr/>
            <p:nvPr/>
          </p:nvSpPr>
          <p:spPr>
            <a:xfrm flipH="false" flipV="false" rot="0">
              <a:off x="0" y="0"/>
              <a:ext cx="2914650" cy="2486025"/>
            </a:xfrm>
            <a:custGeom>
              <a:avLst/>
              <a:gdLst/>
              <a:ahLst/>
              <a:cxnLst/>
              <a:rect r="r" b="b" t="t" l="l"/>
              <a:pathLst>
                <a:path h="2486025" w="2914650">
                  <a:moveTo>
                    <a:pt x="0" y="0"/>
                  </a:moveTo>
                  <a:lnTo>
                    <a:pt x="2914650" y="0"/>
                  </a:lnTo>
                  <a:lnTo>
                    <a:pt x="2914650" y="2486025"/>
                  </a:lnTo>
                  <a:lnTo>
                    <a:pt x="0" y="2486025"/>
                  </a:lnTo>
                  <a:lnTo>
                    <a:pt x="0" y="0"/>
                  </a:lnTo>
                  <a:close/>
                </a:path>
              </a:pathLst>
            </a:custGeom>
            <a:blipFill>
              <a:blip r:embed="rId7"/>
              <a:stretch>
                <a:fillRect l="0" t="0" r="0" b="0"/>
              </a:stretch>
            </a:blipFill>
          </p:spPr>
        </p:sp>
      </p:grpSp>
      <p:grpSp>
        <p:nvGrpSpPr>
          <p:cNvPr name="Group 10" id="10"/>
          <p:cNvGrpSpPr/>
          <p:nvPr/>
        </p:nvGrpSpPr>
        <p:grpSpPr>
          <a:xfrm rot="0">
            <a:off x="16655091" y="-591331"/>
            <a:ext cx="1525553" cy="2712101"/>
            <a:chOff x="0" y="0"/>
            <a:chExt cx="2034070" cy="3616134"/>
          </a:xfrm>
        </p:grpSpPr>
        <p:sp>
          <p:nvSpPr>
            <p:cNvPr name="Freeform 11" id="11"/>
            <p:cNvSpPr/>
            <p:nvPr/>
          </p:nvSpPr>
          <p:spPr>
            <a:xfrm flipH="false" flipV="false" rot="0">
              <a:off x="0" y="0"/>
              <a:ext cx="2034032" cy="3616071"/>
            </a:xfrm>
            <a:custGeom>
              <a:avLst/>
              <a:gdLst/>
              <a:ahLst/>
              <a:cxnLst/>
              <a:rect r="r" b="b" t="t" l="l"/>
              <a:pathLst>
                <a:path h="3616071" w="2034032">
                  <a:moveTo>
                    <a:pt x="0" y="0"/>
                  </a:moveTo>
                  <a:lnTo>
                    <a:pt x="2034032" y="0"/>
                  </a:lnTo>
                  <a:lnTo>
                    <a:pt x="2034032" y="3616071"/>
                  </a:lnTo>
                  <a:lnTo>
                    <a:pt x="0" y="3616071"/>
                  </a:lnTo>
                  <a:lnTo>
                    <a:pt x="0" y="0"/>
                  </a:lnTo>
                  <a:close/>
                </a:path>
              </a:pathLst>
            </a:custGeom>
            <a:blipFill>
              <a:blip r:embed="rId8"/>
              <a:stretch>
                <a:fillRect l="0" t="0" r="-1" b="-55"/>
              </a:stretch>
            </a:blipFill>
          </p:spPr>
        </p:sp>
      </p:grpSp>
      <p:sp>
        <p:nvSpPr>
          <p:cNvPr name="TextBox 12" id="12"/>
          <p:cNvSpPr txBox="true"/>
          <p:nvPr/>
        </p:nvSpPr>
        <p:spPr>
          <a:xfrm rot="0">
            <a:off x="3582781" y="990600"/>
            <a:ext cx="13490400" cy="952500"/>
          </a:xfrm>
          <a:prstGeom prst="rect">
            <a:avLst/>
          </a:prstGeom>
        </p:spPr>
        <p:txBody>
          <a:bodyPr anchor="t" rtlCol="false" tIns="0" lIns="0" bIns="0" rIns="0">
            <a:spAutoFit/>
          </a:bodyPr>
          <a:lstStyle/>
          <a:p>
            <a:pPr algn="l">
              <a:lnSpc>
                <a:spcPts val="7200"/>
              </a:lnSpc>
            </a:pPr>
            <a:r>
              <a:rPr lang="en-US" sz="6000">
                <a:solidFill>
                  <a:srgbClr val="262626"/>
                </a:solidFill>
                <a:latin typeface="Times New Roman"/>
                <a:ea typeface="Times New Roman"/>
                <a:cs typeface="Times New Roman"/>
                <a:sym typeface="Times New Roman"/>
              </a:rPr>
              <a:t>4.Proposed Solution</a:t>
            </a:r>
          </a:p>
        </p:txBody>
      </p:sp>
      <p:grpSp>
        <p:nvGrpSpPr>
          <p:cNvPr name="Group 13" id="13"/>
          <p:cNvGrpSpPr/>
          <p:nvPr/>
        </p:nvGrpSpPr>
        <p:grpSpPr>
          <a:xfrm rot="0">
            <a:off x="16833047" y="9507236"/>
            <a:ext cx="1169651" cy="547688"/>
            <a:chOff x="0" y="0"/>
            <a:chExt cx="1559535" cy="730250"/>
          </a:xfrm>
        </p:grpSpPr>
        <p:sp>
          <p:nvSpPr>
            <p:cNvPr name="Freeform 14" id="14"/>
            <p:cNvSpPr/>
            <p:nvPr/>
          </p:nvSpPr>
          <p:spPr>
            <a:xfrm flipH="false" flipV="false" rot="0">
              <a:off x="0" y="0"/>
              <a:ext cx="1559534" cy="730250"/>
            </a:xfrm>
            <a:custGeom>
              <a:avLst/>
              <a:gdLst/>
              <a:ahLst/>
              <a:cxnLst/>
              <a:rect r="r" b="b" t="t" l="l"/>
              <a:pathLst>
                <a:path h="730250" w="1559534">
                  <a:moveTo>
                    <a:pt x="0" y="0"/>
                  </a:moveTo>
                  <a:lnTo>
                    <a:pt x="1559534" y="0"/>
                  </a:lnTo>
                  <a:lnTo>
                    <a:pt x="1559534" y="730250"/>
                  </a:lnTo>
                  <a:lnTo>
                    <a:pt x="0" y="730250"/>
                  </a:lnTo>
                  <a:close/>
                </a:path>
              </a:pathLst>
            </a:custGeom>
            <a:blipFill>
              <a:blip r:embed="rId9">
                <a:alphaModFix amt="0"/>
              </a:blip>
              <a:stretch>
                <a:fillRect l="-10077" t="0" r="-10078" b="0"/>
              </a:stretch>
            </a:blipFill>
          </p:spPr>
        </p:sp>
        <p:sp>
          <p:nvSpPr>
            <p:cNvPr name="TextBox 15" id="15"/>
            <p:cNvSpPr txBox="true"/>
            <p:nvPr/>
          </p:nvSpPr>
          <p:spPr>
            <a:xfrm>
              <a:off x="0" y="0"/>
              <a:ext cx="1559535" cy="730250"/>
            </a:xfrm>
            <a:prstGeom prst="rect">
              <a:avLst/>
            </a:prstGeom>
          </p:spPr>
          <p:txBody>
            <a:bodyPr anchor="ctr" rtlCol="false" tIns="0" lIns="0" bIns="0" rIns="0"/>
            <a:lstStyle/>
            <a:p>
              <a:pPr algn="r">
                <a:lnSpc>
                  <a:spcPts val="3600"/>
                </a:lnSpc>
              </a:pPr>
              <a:r>
                <a:rPr lang="en-US" sz="3000">
                  <a:solidFill>
                    <a:srgbClr val="FFFFFF"/>
                  </a:solidFill>
                  <a:latin typeface="Century Gothic Paneuropean"/>
                  <a:ea typeface="Century Gothic Paneuropean"/>
                  <a:cs typeface="Century Gothic Paneuropean"/>
                  <a:sym typeface="Century Gothic Paneuropean"/>
                </a:rPr>
                <a:t>7</a:t>
              </a:r>
            </a:p>
          </p:txBody>
        </p:sp>
      </p:grpSp>
      <p:sp>
        <p:nvSpPr>
          <p:cNvPr name="TextBox 16" id="16"/>
          <p:cNvSpPr txBox="true"/>
          <p:nvPr/>
        </p:nvSpPr>
        <p:spPr>
          <a:xfrm rot="0">
            <a:off x="3362723" y="2056490"/>
            <a:ext cx="13710458" cy="7181850"/>
          </a:xfrm>
          <a:prstGeom prst="rect">
            <a:avLst/>
          </a:prstGeom>
        </p:spPr>
        <p:txBody>
          <a:bodyPr anchor="t" rtlCol="false" tIns="0" lIns="0" bIns="0" rIns="0">
            <a:spAutoFit/>
          </a:bodyPr>
          <a:lstStyle/>
          <a:p>
            <a:pPr algn="l">
              <a:lnSpc>
                <a:spcPts val="3557"/>
              </a:lnSpc>
            </a:pPr>
          </a:p>
          <a:p>
            <a:pPr algn="l" marL="640067" indent="-320033" lvl="1">
              <a:lnSpc>
                <a:spcPts val="3557"/>
              </a:lnSpc>
              <a:buFont typeface="Arial"/>
              <a:buChar char="•"/>
            </a:pPr>
            <a:r>
              <a:rPr lang="en-US" sz="2964">
                <a:solidFill>
                  <a:srgbClr val="000000"/>
                </a:solidFill>
                <a:latin typeface="Times New Roman"/>
                <a:ea typeface="Times New Roman"/>
                <a:cs typeface="Times New Roman"/>
                <a:sym typeface="Times New Roman"/>
              </a:rPr>
              <a:t>The process begins when a user uploads their resume into the system. Artificial intelligence quickly studies the information. Skills, projects, work history — everything gets scanned. From there, the interview slowly starts to take shape.</a:t>
            </a:r>
          </a:p>
          <a:p>
            <a:pPr algn="l">
              <a:lnSpc>
                <a:spcPts val="3557"/>
              </a:lnSpc>
            </a:pPr>
          </a:p>
          <a:p>
            <a:pPr algn="l" marL="640067" indent="-320033" lvl="1">
              <a:lnSpc>
                <a:spcPts val="3557"/>
              </a:lnSpc>
              <a:buFont typeface="Arial"/>
              <a:buChar char="•"/>
            </a:pPr>
            <a:r>
              <a:rPr lang="en-US" sz="2964">
                <a:solidFill>
                  <a:srgbClr val="000000"/>
                </a:solidFill>
                <a:latin typeface="Times New Roman"/>
                <a:ea typeface="Times New Roman"/>
                <a:cs typeface="Times New Roman"/>
                <a:sym typeface="Times New Roman"/>
              </a:rPr>
              <a:t>Advanced language models guide the conversation. Questions are not fixed beforehand. They adapt depending on what the candidate says. Sometimes the flow feels formal, other times a bit casual. Almost like a real interviewer thinking on the spot.</a:t>
            </a:r>
          </a:p>
          <a:p>
            <a:pPr algn="l">
              <a:lnSpc>
                <a:spcPts val="3557"/>
              </a:lnSpc>
            </a:pPr>
          </a:p>
          <a:p>
            <a:pPr algn="l" marL="640067" indent="-320033" lvl="1">
              <a:lnSpc>
                <a:spcPts val="3557"/>
              </a:lnSpc>
              <a:buFont typeface="Arial"/>
              <a:buChar char="•"/>
            </a:pPr>
            <a:r>
              <a:rPr lang="en-US" sz="2964">
                <a:solidFill>
                  <a:srgbClr val="000000"/>
                </a:solidFill>
                <a:latin typeface="Times New Roman"/>
                <a:ea typeface="Times New Roman"/>
                <a:cs typeface="Times New Roman"/>
                <a:sym typeface="Times New Roman"/>
              </a:rPr>
              <a:t>Repeating practice sessions helps candidates slowly build confidence. Each round improves clarity and response quality. Small progress appears over time.</a:t>
            </a:r>
          </a:p>
          <a:p>
            <a:pPr algn="l">
              <a:lnSpc>
                <a:spcPts val="3557"/>
              </a:lnSpc>
            </a:pPr>
          </a:p>
          <a:p>
            <a:pPr algn="l" marL="640067" indent="-320033" lvl="1">
              <a:lnSpc>
                <a:spcPts val="3557"/>
              </a:lnSpc>
              <a:buFont typeface="Arial"/>
              <a:buChar char="•"/>
            </a:pPr>
            <a:r>
              <a:rPr lang="en-US" sz="2964">
                <a:solidFill>
                  <a:srgbClr val="000000"/>
                </a:solidFill>
                <a:latin typeface="Times New Roman"/>
                <a:ea typeface="Times New Roman"/>
                <a:cs typeface="Times New Roman"/>
                <a:sym typeface="Times New Roman"/>
              </a:rPr>
              <a:t>Mistakes during practice are expected. In fact, they help the learning process. With repeated  sessions, thinking becomes faster and interview anxiety begins to fade</a:t>
            </a:r>
          </a:p>
          <a:p>
            <a:pPr algn="l">
              <a:lnSpc>
                <a:spcPts val="3557"/>
              </a:lnSpc>
            </a:pP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FFFFF">
                <a:alpha val="100000"/>
              </a:srgbClr>
            </a:gs>
            <a:gs pos="100000">
              <a:srgbClr val="DDE6C3">
                <a:alpha val="100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sp>
        <p:nvSpPr>
          <p:cNvPr name="Freeform 2" id="2"/>
          <p:cNvSpPr/>
          <p:nvPr/>
        </p:nvSpPr>
        <p:spPr>
          <a:xfrm flipH="false" flipV="false" rot="0">
            <a:off x="1" y="342900"/>
            <a:ext cx="4277277" cy="9957940"/>
          </a:xfrm>
          <a:custGeom>
            <a:avLst/>
            <a:gdLst/>
            <a:ahLst/>
            <a:cxnLst/>
            <a:rect r="r" b="b" t="t" l="l"/>
            <a:pathLst>
              <a:path h="9957940" w="4277277">
                <a:moveTo>
                  <a:pt x="0" y="0"/>
                </a:moveTo>
                <a:lnTo>
                  <a:pt x="4277278" y="0"/>
                </a:lnTo>
                <a:lnTo>
                  <a:pt x="4277278" y="9957940"/>
                </a:lnTo>
                <a:lnTo>
                  <a:pt x="0" y="995794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0">
            <a:off x="40834" y="-1181"/>
            <a:ext cx="3535013" cy="10281056"/>
          </a:xfrm>
          <a:custGeom>
            <a:avLst/>
            <a:gdLst/>
            <a:ahLst/>
            <a:cxnLst/>
            <a:rect r="r" b="b" t="t" l="l"/>
            <a:pathLst>
              <a:path h="10281056" w="3535013">
                <a:moveTo>
                  <a:pt x="0" y="0"/>
                </a:moveTo>
                <a:lnTo>
                  <a:pt x="3535013" y="0"/>
                </a:lnTo>
                <a:lnTo>
                  <a:pt x="3535013" y="10281056"/>
                </a:lnTo>
                <a:lnTo>
                  <a:pt x="0" y="1028105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4" id="4"/>
          <p:cNvGrpSpPr/>
          <p:nvPr/>
        </p:nvGrpSpPr>
        <p:grpSpPr>
          <a:xfrm rot="0">
            <a:off x="0" y="0"/>
            <a:ext cx="274320" cy="10287000"/>
            <a:chOff x="0" y="0"/>
            <a:chExt cx="365760" cy="13716000"/>
          </a:xfrm>
        </p:grpSpPr>
        <p:sp>
          <p:nvSpPr>
            <p:cNvPr name="Freeform 5" id="5"/>
            <p:cNvSpPr/>
            <p:nvPr/>
          </p:nvSpPr>
          <p:spPr>
            <a:xfrm flipH="false" flipV="false" rot="0">
              <a:off x="0" y="0"/>
              <a:ext cx="365760" cy="13716000"/>
            </a:xfrm>
            <a:custGeom>
              <a:avLst/>
              <a:gdLst/>
              <a:ahLst/>
              <a:cxnLst/>
              <a:rect r="r" b="b" t="t" l="l"/>
              <a:pathLst>
                <a:path h="13716000" w="365760">
                  <a:moveTo>
                    <a:pt x="0" y="0"/>
                  </a:moveTo>
                  <a:lnTo>
                    <a:pt x="365760" y="0"/>
                  </a:lnTo>
                  <a:lnTo>
                    <a:pt x="365760" y="13716000"/>
                  </a:lnTo>
                  <a:lnTo>
                    <a:pt x="0" y="13716000"/>
                  </a:lnTo>
                  <a:close/>
                </a:path>
              </a:pathLst>
            </a:custGeom>
            <a:solidFill>
              <a:srgbClr val="766F54"/>
            </a:solidFill>
          </p:spPr>
        </p:sp>
      </p:grpSp>
      <p:grpSp>
        <p:nvGrpSpPr>
          <p:cNvPr name="Group 6" id="6"/>
          <p:cNvGrpSpPr/>
          <p:nvPr/>
        </p:nvGrpSpPr>
        <p:grpSpPr>
          <a:xfrm rot="0">
            <a:off x="15881785" y="9370781"/>
            <a:ext cx="2382793" cy="760943"/>
            <a:chOff x="0" y="0"/>
            <a:chExt cx="3177057" cy="1014590"/>
          </a:xfrm>
        </p:grpSpPr>
        <p:sp>
          <p:nvSpPr>
            <p:cNvPr name="Freeform 7" id="7"/>
            <p:cNvSpPr/>
            <p:nvPr/>
          </p:nvSpPr>
          <p:spPr>
            <a:xfrm flipH="false" flipV="false" rot="0">
              <a:off x="-14192" y="0"/>
              <a:ext cx="3191224" cy="1014603"/>
            </a:xfrm>
            <a:custGeom>
              <a:avLst/>
              <a:gdLst/>
              <a:ahLst/>
              <a:cxnLst/>
              <a:rect r="r" b="b" t="t" l="l"/>
              <a:pathLst>
                <a:path h="1014603" w="3191224">
                  <a:moveTo>
                    <a:pt x="14192" y="477012"/>
                  </a:moveTo>
                  <a:lnTo>
                    <a:pt x="472154" y="19050"/>
                  </a:lnTo>
                  <a:cubicBezTo>
                    <a:pt x="475202" y="15748"/>
                    <a:pt x="479012" y="12700"/>
                    <a:pt x="482060" y="9525"/>
                  </a:cubicBezTo>
                  <a:cubicBezTo>
                    <a:pt x="491331" y="0"/>
                    <a:pt x="500983" y="0"/>
                    <a:pt x="510635" y="0"/>
                  </a:cubicBezTo>
                  <a:lnTo>
                    <a:pt x="691991" y="0"/>
                  </a:lnTo>
                  <a:lnTo>
                    <a:pt x="3191224" y="7112"/>
                  </a:lnTo>
                  <a:cubicBezTo>
                    <a:pt x="3188430" y="342900"/>
                    <a:pt x="3185382" y="678815"/>
                    <a:pt x="3182588" y="1014603"/>
                  </a:cubicBezTo>
                  <a:lnTo>
                    <a:pt x="691991" y="1011174"/>
                  </a:lnTo>
                  <a:lnTo>
                    <a:pt x="510635" y="1011174"/>
                  </a:lnTo>
                  <a:cubicBezTo>
                    <a:pt x="500983" y="1011174"/>
                    <a:pt x="491458" y="1001649"/>
                    <a:pt x="482060" y="1001649"/>
                  </a:cubicBezTo>
                  <a:cubicBezTo>
                    <a:pt x="482060" y="992124"/>
                    <a:pt x="472154" y="992124"/>
                    <a:pt x="472154" y="992124"/>
                  </a:cubicBezTo>
                  <a:lnTo>
                    <a:pt x="14192" y="534162"/>
                  </a:lnTo>
                  <a:cubicBezTo>
                    <a:pt x="-4731" y="515112"/>
                    <a:pt x="-4731" y="496062"/>
                    <a:pt x="14192" y="476885"/>
                  </a:cubicBezTo>
                  <a:close/>
                </a:path>
              </a:pathLst>
            </a:custGeom>
            <a:solidFill>
              <a:srgbClr val="A53010"/>
            </a:solidFill>
          </p:spPr>
        </p:sp>
      </p:grpSp>
      <p:grpSp>
        <p:nvGrpSpPr>
          <p:cNvPr name="Group 8" id="8"/>
          <p:cNvGrpSpPr/>
          <p:nvPr/>
        </p:nvGrpSpPr>
        <p:grpSpPr>
          <a:xfrm rot="0">
            <a:off x="233563" y="0"/>
            <a:ext cx="2185988" cy="1864519"/>
            <a:chOff x="0" y="0"/>
            <a:chExt cx="2914650" cy="2486025"/>
          </a:xfrm>
        </p:grpSpPr>
        <p:sp>
          <p:nvSpPr>
            <p:cNvPr name="Freeform 9" id="9"/>
            <p:cNvSpPr/>
            <p:nvPr/>
          </p:nvSpPr>
          <p:spPr>
            <a:xfrm flipH="false" flipV="false" rot="0">
              <a:off x="0" y="0"/>
              <a:ext cx="2914650" cy="2486025"/>
            </a:xfrm>
            <a:custGeom>
              <a:avLst/>
              <a:gdLst/>
              <a:ahLst/>
              <a:cxnLst/>
              <a:rect r="r" b="b" t="t" l="l"/>
              <a:pathLst>
                <a:path h="2486025" w="2914650">
                  <a:moveTo>
                    <a:pt x="0" y="0"/>
                  </a:moveTo>
                  <a:lnTo>
                    <a:pt x="2914650" y="0"/>
                  </a:lnTo>
                  <a:lnTo>
                    <a:pt x="2914650" y="2486025"/>
                  </a:lnTo>
                  <a:lnTo>
                    <a:pt x="0" y="2486025"/>
                  </a:lnTo>
                  <a:lnTo>
                    <a:pt x="0" y="0"/>
                  </a:lnTo>
                  <a:close/>
                </a:path>
              </a:pathLst>
            </a:custGeom>
            <a:blipFill>
              <a:blip r:embed="rId7"/>
              <a:stretch>
                <a:fillRect l="0" t="0" r="0" b="0"/>
              </a:stretch>
            </a:blipFill>
          </p:spPr>
        </p:sp>
      </p:grpSp>
      <p:grpSp>
        <p:nvGrpSpPr>
          <p:cNvPr name="Group 10" id="10"/>
          <p:cNvGrpSpPr/>
          <p:nvPr/>
        </p:nvGrpSpPr>
        <p:grpSpPr>
          <a:xfrm rot="0">
            <a:off x="16655091" y="-591331"/>
            <a:ext cx="1525553" cy="2712101"/>
            <a:chOff x="0" y="0"/>
            <a:chExt cx="2034070" cy="3616134"/>
          </a:xfrm>
        </p:grpSpPr>
        <p:sp>
          <p:nvSpPr>
            <p:cNvPr name="Freeform 11" id="11"/>
            <p:cNvSpPr/>
            <p:nvPr/>
          </p:nvSpPr>
          <p:spPr>
            <a:xfrm flipH="false" flipV="false" rot="0">
              <a:off x="0" y="0"/>
              <a:ext cx="2034032" cy="3616071"/>
            </a:xfrm>
            <a:custGeom>
              <a:avLst/>
              <a:gdLst/>
              <a:ahLst/>
              <a:cxnLst/>
              <a:rect r="r" b="b" t="t" l="l"/>
              <a:pathLst>
                <a:path h="3616071" w="2034032">
                  <a:moveTo>
                    <a:pt x="0" y="0"/>
                  </a:moveTo>
                  <a:lnTo>
                    <a:pt x="2034032" y="0"/>
                  </a:lnTo>
                  <a:lnTo>
                    <a:pt x="2034032" y="3616071"/>
                  </a:lnTo>
                  <a:lnTo>
                    <a:pt x="0" y="3616071"/>
                  </a:lnTo>
                  <a:lnTo>
                    <a:pt x="0" y="0"/>
                  </a:lnTo>
                  <a:close/>
                </a:path>
              </a:pathLst>
            </a:custGeom>
            <a:blipFill>
              <a:blip r:embed="rId8"/>
              <a:stretch>
                <a:fillRect l="0" t="0" r="-1" b="-55"/>
              </a:stretch>
            </a:blipFill>
          </p:spPr>
        </p:sp>
      </p:grpSp>
      <p:sp>
        <p:nvSpPr>
          <p:cNvPr name="TextBox 12" id="12"/>
          <p:cNvSpPr txBox="true"/>
          <p:nvPr/>
        </p:nvSpPr>
        <p:spPr>
          <a:xfrm rot="0">
            <a:off x="3675297" y="1282688"/>
            <a:ext cx="13490400" cy="1868195"/>
          </a:xfrm>
          <a:prstGeom prst="rect">
            <a:avLst/>
          </a:prstGeom>
        </p:spPr>
        <p:txBody>
          <a:bodyPr anchor="t" rtlCol="false" tIns="0" lIns="0" bIns="0" rIns="0">
            <a:spAutoFit/>
          </a:bodyPr>
          <a:lstStyle/>
          <a:p>
            <a:pPr algn="l">
              <a:lnSpc>
                <a:spcPts val="7200"/>
              </a:lnSpc>
            </a:pPr>
            <a:r>
              <a:rPr lang="en-US" sz="6000">
                <a:solidFill>
                  <a:srgbClr val="262626"/>
                </a:solidFill>
                <a:latin typeface="Times New Roman"/>
                <a:ea typeface="Times New Roman"/>
                <a:cs typeface="Times New Roman"/>
                <a:sym typeface="Times New Roman"/>
              </a:rPr>
              <a:t>5. Objectives</a:t>
            </a:r>
          </a:p>
        </p:txBody>
      </p:sp>
      <p:grpSp>
        <p:nvGrpSpPr>
          <p:cNvPr name="Group 13" id="13"/>
          <p:cNvGrpSpPr/>
          <p:nvPr/>
        </p:nvGrpSpPr>
        <p:grpSpPr>
          <a:xfrm rot="0">
            <a:off x="16833047" y="9507236"/>
            <a:ext cx="1169651" cy="547688"/>
            <a:chOff x="0" y="0"/>
            <a:chExt cx="1559535" cy="730250"/>
          </a:xfrm>
        </p:grpSpPr>
        <p:sp>
          <p:nvSpPr>
            <p:cNvPr name="Freeform 14" id="14"/>
            <p:cNvSpPr/>
            <p:nvPr/>
          </p:nvSpPr>
          <p:spPr>
            <a:xfrm flipH="false" flipV="false" rot="0">
              <a:off x="0" y="0"/>
              <a:ext cx="1559534" cy="730250"/>
            </a:xfrm>
            <a:custGeom>
              <a:avLst/>
              <a:gdLst/>
              <a:ahLst/>
              <a:cxnLst/>
              <a:rect r="r" b="b" t="t" l="l"/>
              <a:pathLst>
                <a:path h="730250" w="1559534">
                  <a:moveTo>
                    <a:pt x="0" y="0"/>
                  </a:moveTo>
                  <a:lnTo>
                    <a:pt x="1559534" y="0"/>
                  </a:lnTo>
                  <a:lnTo>
                    <a:pt x="1559534" y="730250"/>
                  </a:lnTo>
                  <a:lnTo>
                    <a:pt x="0" y="730250"/>
                  </a:lnTo>
                  <a:close/>
                </a:path>
              </a:pathLst>
            </a:custGeom>
            <a:blipFill>
              <a:blip r:embed="rId9">
                <a:alphaModFix amt="0"/>
              </a:blip>
              <a:stretch>
                <a:fillRect l="-10077" t="0" r="-10078" b="0"/>
              </a:stretch>
            </a:blipFill>
          </p:spPr>
        </p:sp>
        <p:sp>
          <p:nvSpPr>
            <p:cNvPr name="TextBox 15" id="15"/>
            <p:cNvSpPr txBox="true"/>
            <p:nvPr/>
          </p:nvSpPr>
          <p:spPr>
            <a:xfrm>
              <a:off x="0" y="0"/>
              <a:ext cx="1559535" cy="730250"/>
            </a:xfrm>
            <a:prstGeom prst="rect">
              <a:avLst/>
            </a:prstGeom>
          </p:spPr>
          <p:txBody>
            <a:bodyPr anchor="ctr" rtlCol="false" tIns="0" lIns="0" bIns="0" rIns="0"/>
            <a:lstStyle/>
            <a:p>
              <a:pPr algn="r">
                <a:lnSpc>
                  <a:spcPts val="3600"/>
                </a:lnSpc>
              </a:pPr>
              <a:r>
                <a:rPr lang="en-US" sz="3000">
                  <a:solidFill>
                    <a:srgbClr val="FFFFFF"/>
                  </a:solidFill>
                  <a:latin typeface="Century Gothic Paneuropean"/>
                  <a:ea typeface="Century Gothic Paneuropean"/>
                  <a:cs typeface="Century Gothic Paneuropean"/>
                  <a:sym typeface="Century Gothic Paneuropean"/>
                </a:rPr>
                <a:t>7</a:t>
              </a:r>
            </a:p>
          </p:txBody>
        </p:sp>
      </p:grpSp>
      <p:sp>
        <p:nvSpPr>
          <p:cNvPr name="TextBox 16" id="16"/>
          <p:cNvSpPr txBox="true"/>
          <p:nvPr/>
        </p:nvSpPr>
        <p:spPr>
          <a:xfrm rot="0">
            <a:off x="3675297" y="2920498"/>
            <a:ext cx="12261447" cy="5343525"/>
          </a:xfrm>
          <a:prstGeom prst="rect">
            <a:avLst/>
          </a:prstGeom>
        </p:spPr>
        <p:txBody>
          <a:bodyPr anchor="t" rtlCol="false" tIns="0" lIns="0" bIns="0" rIns="0">
            <a:spAutoFit/>
          </a:bodyPr>
          <a:lstStyle/>
          <a:p>
            <a:pPr algn="l" marL="686753" indent="-343376" lvl="1">
              <a:lnSpc>
                <a:spcPts val="4680"/>
              </a:lnSpc>
              <a:buFont typeface="Arial"/>
              <a:buChar char="•"/>
            </a:pPr>
            <a:r>
              <a:rPr lang="en-US" sz="3900">
                <a:solidFill>
                  <a:srgbClr val="000000"/>
                </a:solidFill>
                <a:latin typeface="Times New Roman"/>
                <a:ea typeface="Times New Roman"/>
                <a:cs typeface="Times New Roman"/>
                <a:sym typeface="Times New Roman"/>
              </a:rPr>
              <a:t>Simul</a:t>
            </a:r>
            <a:r>
              <a:rPr lang="en-US" sz="3900">
                <a:solidFill>
                  <a:srgbClr val="000000"/>
                </a:solidFill>
                <a:latin typeface="Times New Roman"/>
                <a:ea typeface="Times New Roman"/>
                <a:cs typeface="Times New Roman"/>
                <a:sym typeface="Times New Roman"/>
              </a:rPr>
              <a:t>ate realistic interview experiences using AI-driven adaptive questioning and conversational interaction</a:t>
            </a:r>
          </a:p>
          <a:p>
            <a:pPr algn="l" marL="686753" indent="-343376" lvl="1">
              <a:lnSpc>
                <a:spcPts val="4680"/>
              </a:lnSpc>
            </a:pPr>
          </a:p>
          <a:p>
            <a:pPr algn="l" marL="686753" indent="-343376" lvl="1">
              <a:lnSpc>
                <a:spcPts val="4680"/>
              </a:lnSpc>
              <a:buFont typeface="Arial"/>
              <a:buChar char="•"/>
            </a:pPr>
            <a:r>
              <a:rPr lang="en-US" sz="3900">
                <a:solidFill>
                  <a:srgbClr val="000000"/>
                </a:solidFill>
                <a:latin typeface="Times New Roman"/>
                <a:ea typeface="Times New Roman"/>
                <a:cs typeface="Times New Roman"/>
                <a:sym typeface="Times New Roman"/>
              </a:rPr>
              <a:t>G</a:t>
            </a:r>
            <a:r>
              <a:rPr lang="en-US" sz="3900">
                <a:solidFill>
                  <a:srgbClr val="000000"/>
                </a:solidFill>
                <a:latin typeface="Times New Roman"/>
                <a:ea typeface="Times New Roman"/>
                <a:cs typeface="Times New Roman"/>
                <a:sym typeface="Times New Roman"/>
              </a:rPr>
              <a:t>enerate personalized interview questions based on user resumes, skills, and target roles</a:t>
            </a:r>
          </a:p>
          <a:p>
            <a:pPr algn="l" marL="686753" indent="-343376" lvl="1">
              <a:lnSpc>
                <a:spcPts val="4680"/>
              </a:lnSpc>
            </a:pPr>
          </a:p>
          <a:p>
            <a:pPr algn="l" marL="686753" indent="-343376" lvl="1">
              <a:lnSpc>
                <a:spcPts val="4680"/>
              </a:lnSpc>
              <a:buFont typeface="Arial"/>
              <a:buChar char="•"/>
            </a:pPr>
            <a:r>
              <a:rPr lang="en-US" sz="3900">
                <a:solidFill>
                  <a:srgbClr val="000000"/>
                </a:solidFill>
                <a:latin typeface="Times New Roman"/>
                <a:ea typeface="Times New Roman"/>
                <a:cs typeface="Times New Roman"/>
                <a:sym typeface="Times New Roman"/>
              </a:rPr>
              <a:t>Analyze responses to p</a:t>
            </a:r>
            <a:r>
              <a:rPr lang="en-US" sz="3900">
                <a:solidFill>
                  <a:srgbClr val="000000"/>
                </a:solidFill>
                <a:latin typeface="Times New Roman"/>
                <a:ea typeface="Times New Roman"/>
                <a:cs typeface="Times New Roman"/>
                <a:sym typeface="Times New Roman"/>
              </a:rPr>
              <a:t>rovide feedback on clarity, communication, strengths, and areas for improvement.</a:t>
            </a:r>
          </a:p>
          <a:p>
            <a:pPr algn="l" marL="686753" indent="-343376" lvl="1">
              <a:lnSpc>
                <a:spcPts val="4680"/>
              </a:lnSpc>
            </a:pP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FFFFF">
                <a:alpha val="100000"/>
              </a:srgbClr>
            </a:gs>
            <a:gs pos="100000">
              <a:srgbClr val="DDE6C3">
                <a:alpha val="100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sp>
        <p:nvSpPr>
          <p:cNvPr name="Freeform 2" id="2"/>
          <p:cNvSpPr/>
          <p:nvPr/>
        </p:nvSpPr>
        <p:spPr>
          <a:xfrm flipH="false" flipV="false" rot="0">
            <a:off x="1" y="342900"/>
            <a:ext cx="4277277" cy="9957940"/>
          </a:xfrm>
          <a:custGeom>
            <a:avLst/>
            <a:gdLst/>
            <a:ahLst/>
            <a:cxnLst/>
            <a:rect r="r" b="b" t="t" l="l"/>
            <a:pathLst>
              <a:path h="9957940" w="4277277">
                <a:moveTo>
                  <a:pt x="0" y="0"/>
                </a:moveTo>
                <a:lnTo>
                  <a:pt x="4277278" y="0"/>
                </a:lnTo>
                <a:lnTo>
                  <a:pt x="4277278" y="9957940"/>
                </a:lnTo>
                <a:lnTo>
                  <a:pt x="0" y="995794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0">
            <a:off x="40834" y="-1181"/>
            <a:ext cx="3535013" cy="10281056"/>
          </a:xfrm>
          <a:custGeom>
            <a:avLst/>
            <a:gdLst/>
            <a:ahLst/>
            <a:cxnLst/>
            <a:rect r="r" b="b" t="t" l="l"/>
            <a:pathLst>
              <a:path h="10281056" w="3535013">
                <a:moveTo>
                  <a:pt x="0" y="0"/>
                </a:moveTo>
                <a:lnTo>
                  <a:pt x="3535013" y="0"/>
                </a:lnTo>
                <a:lnTo>
                  <a:pt x="3535013" y="10281056"/>
                </a:lnTo>
                <a:lnTo>
                  <a:pt x="0" y="1028105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4" id="4"/>
          <p:cNvGrpSpPr/>
          <p:nvPr/>
        </p:nvGrpSpPr>
        <p:grpSpPr>
          <a:xfrm rot="0">
            <a:off x="0" y="0"/>
            <a:ext cx="274320" cy="10287000"/>
            <a:chOff x="0" y="0"/>
            <a:chExt cx="365760" cy="13716000"/>
          </a:xfrm>
        </p:grpSpPr>
        <p:sp>
          <p:nvSpPr>
            <p:cNvPr name="Freeform 5" id="5"/>
            <p:cNvSpPr/>
            <p:nvPr/>
          </p:nvSpPr>
          <p:spPr>
            <a:xfrm flipH="false" flipV="false" rot="0">
              <a:off x="0" y="0"/>
              <a:ext cx="365760" cy="13716000"/>
            </a:xfrm>
            <a:custGeom>
              <a:avLst/>
              <a:gdLst/>
              <a:ahLst/>
              <a:cxnLst/>
              <a:rect r="r" b="b" t="t" l="l"/>
              <a:pathLst>
                <a:path h="13716000" w="365760">
                  <a:moveTo>
                    <a:pt x="0" y="0"/>
                  </a:moveTo>
                  <a:lnTo>
                    <a:pt x="365760" y="0"/>
                  </a:lnTo>
                  <a:lnTo>
                    <a:pt x="365760" y="13716000"/>
                  </a:lnTo>
                  <a:lnTo>
                    <a:pt x="0" y="13716000"/>
                  </a:lnTo>
                  <a:close/>
                </a:path>
              </a:pathLst>
            </a:custGeom>
            <a:solidFill>
              <a:srgbClr val="766F54"/>
            </a:solidFill>
          </p:spPr>
        </p:sp>
      </p:grpSp>
      <p:grpSp>
        <p:nvGrpSpPr>
          <p:cNvPr name="Group 6" id="6"/>
          <p:cNvGrpSpPr/>
          <p:nvPr/>
        </p:nvGrpSpPr>
        <p:grpSpPr>
          <a:xfrm rot="0">
            <a:off x="15881785" y="9370781"/>
            <a:ext cx="2382793" cy="760943"/>
            <a:chOff x="0" y="0"/>
            <a:chExt cx="3177057" cy="1014590"/>
          </a:xfrm>
        </p:grpSpPr>
        <p:sp>
          <p:nvSpPr>
            <p:cNvPr name="Freeform 7" id="7"/>
            <p:cNvSpPr/>
            <p:nvPr/>
          </p:nvSpPr>
          <p:spPr>
            <a:xfrm flipH="false" flipV="false" rot="0">
              <a:off x="-14192" y="0"/>
              <a:ext cx="3191224" cy="1014603"/>
            </a:xfrm>
            <a:custGeom>
              <a:avLst/>
              <a:gdLst/>
              <a:ahLst/>
              <a:cxnLst/>
              <a:rect r="r" b="b" t="t" l="l"/>
              <a:pathLst>
                <a:path h="1014603" w="3191224">
                  <a:moveTo>
                    <a:pt x="14192" y="477012"/>
                  </a:moveTo>
                  <a:lnTo>
                    <a:pt x="472154" y="19050"/>
                  </a:lnTo>
                  <a:cubicBezTo>
                    <a:pt x="475202" y="15748"/>
                    <a:pt x="479012" y="12700"/>
                    <a:pt x="482060" y="9525"/>
                  </a:cubicBezTo>
                  <a:cubicBezTo>
                    <a:pt x="491331" y="0"/>
                    <a:pt x="500983" y="0"/>
                    <a:pt x="510635" y="0"/>
                  </a:cubicBezTo>
                  <a:lnTo>
                    <a:pt x="691991" y="0"/>
                  </a:lnTo>
                  <a:lnTo>
                    <a:pt x="3191224" y="7112"/>
                  </a:lnTo>
                  <a:cubicBezTo>
                    <a:pt x="3188430" y="342900"/>
                    <a:pt x="3185382" y="678815"/>
                    <a:pt x="3182588" y="1014603"/>
                  </a:cubicBezTo>
                  <a:lnTo>
                    <a:pt x="691991" y="1011174"/>
                  </a:lnTo>
                  <a:lnTo>
                    <a:pt x="510635" y="1011174"/>
                  </a:lnTo>
                  <a:cubicBezTo>
                    <a:pt x="500983" y="1011174"/>
                    <a:pt x="491458" y="1001649"/>
                    <a:pt x="482060" y="1001649"/>
                  </a:cubicBezTo>
                  <a:cubicBezTo>
                    <a:pt x="482060" y="992124"/>
                    <a:pt x="472154" y="992124"/>
                    <a:pt x="472154" y="992124"/>
                  </a:cubicBezTo>
                  <a:lnTo>
                    <a:pt x="14192" y="534162"/>
                  </a:lnTo>
                  <a:cubicBezTo>
                    <a:pt x="-4731" y="515112"/>
                    <a:pt x="-4731" y="496062"/>
                    <a:pt x="14192" y="476885"/>
                  </a:cubicBezTo>
                  <a:close/>
                </a:path>
              </a:pathLst>
            </a:custGeom>
            <a:solidFill>
              <a:srgbClr val="A53010"/>
            </a:solidFill>
          </p:spPr>
        </p:sp>
      </p:grpSp>
      <p:grpSp>
        <p:nvGrpSpPr>
          <p:cNvPr name="Group 8" id="8"/>
          <p:cNvGrpSpPr/>
          <p:nvPr/>
        </p:nvGrpSpPr>
        <p:grpSpPr>
          <a:xfrm rot="0">
            <a:off x="233563" y="0"/>
            <a:ext cx="2185988" cy="1864519"/>
            <a:chOff x="0" y="0"/>
            <a:chExt cx="2914650" cy="2486025"/>
          </a:xfrm>
        </p:grpSpPr>
        <p:sp>
          <p:nvSpPr>
            <p:cNvPr name="Freeform 9" id="9"/>
            <p:cNvSpPr/>
            <p:nvPr/>
          </p:nvSpPr>
          <p:spPr>
            <a:xfrm flipH="false" flipV="false" rot="0">
              <a:off x="0" y="0"/>
              <a:ext cx="2914650" cy="2486025"/>
            </a:xfrm>
            <a:custGeom>
              <a:avLst/>
              <a:gdLst/>
              <a:ahLst/>
              <a:cxnLst/>
              <a:rect r="r" b="b" t="t" l="l"/>
              <a:pathLst>
                <a:path h="2486025" w="2914650">
                  <a:moveTo>
                    <a:pt x="0" y="0"/>
                  </a:moveTo>
                  <a:lnTo>
                    <a:pt x="2914650" y="0"/>
                  </a:lnTo>
                  <a:lnTo>
                    <a:pt x="2914650" y="2486025"/>
                  </a:lnTo>
                  <a:lnTo>
                    <a:pt x="0" y="2486025"/>
                  </a:lnTo>
                  <a:lnTo>
                    <a:pt x="0" y="0"/>
                  </a:lnTo>
                  <a:close/>
                </a:path>
              </a:pathLst>
            </a:custGeom>
            <a:blipFill>
              <a:blip r:embed="rId7"/>
              <a:stretch>
                <a:fillRect l="0" t="0" r="0" b="0"/>
              </a:stretch>
            </a:blipFill>
          </p:spPr>
        </p:sp>
      </p:grpSp>
      <p:grpSp>
        <p:nvGrpSpPr>
          <p:cNvPr name="Group 10" id="10"/>
          <p:cNvGrpSpPr/>
          <p:nvPr/>
        </p:nvGrpSpPr>
        <p:grpSpPr>
          <a:xfrm rot="0">
            <a:off x="16655091" y="-591331"/>
            <a:ext cx="1525553" cy="2712101"/>
            <a:chOff x="0" y="0"/>
            <a:chExt cx="2034070" cy="3616134"/>
          </a:xfrm>
        </p:grpSpPr>
        <p:sp>
          <p:nvSpPr>
            <p:cNvPr name="Freeform 11" id="11"/>
            <p:cNvSpPr/>
            <p:nvPr/>
          </p:nvSpPr>
          <p:spPr>
            <a:xfrm flipH="false" flipV="false" rot="0">
              <a:off x="0" y="0"/>
              <a:ext cx="2034032" cy="3616071"/>
            </a:xfrm>
            <a:custGeom>
              <a:avLst/>
              <a:gdLst/>
              <a:ahLst/>
              <a:cxnLst/>
              <a:rect r="r" b="b" t="t" l="l"/>
              <a:pathLst>
                <a:path h="3616071" w="2034032">
                  <a:moveTo>
                    <a:pt x="0" y="0"/>
                  </a:moveTo>
                  <a:lnTo>
                    <a:pt x="2034032" y="0"/>
                  </a:lnTo>
                  <a:lnTo>
                    <a:pt x="2034032" y="3616071"/>
                  </a:lnTo>
                  <a:lnTo>
                    <a:pt x="0" y="3616071"/>
                  </a:lnTo>
                  <a:lnTo>
                    <a:pt x="0" y="0"/>
                  </a:lnTo>
                  <a:close/>
                </a:path>
              </a:pathLst>
            </a:custGeom>
            <a:blipFill>
              <a:blip r:embed="rId8"/>
              <a:stretch>
                <a:fillRect l="0" t="0" r="-1" b="-55"/>
              </a:stretch>
            </a:blipFill>
          </p:spPr>
        </p:sp>
      </p:grpSp>
      <p:grpSp>
        <p:nvGrpSpPr>
          <p:cNvPr name="Group 12" id="12"/>
          <p:cNvGrpSpPr/>
          <p:nvPr/>
        </p:nvGrpSpPr>
        <p:grpSpPr>
          <a:xfrm rot="0">
            <a:off x="16833047" y="9507236"/>
            <a:ext cx="1169651" cy="547688"/>
            <a:chOff x="0" y="0"/>
            <a:chExt cx="1559535" cy="730250"/>
          </a:xfrm>
        </p:grpSpPr>
        <p:sp>
          <p:nvSpPr>
            <p:cNvPr name="Freeform 13" id="13"/>
            <p:cNvSpPr/>
            <p:nvPr/>
          </p:nvSpPr>
          <p:spPr>
            <a:xfrm flipH="false" flipV="false" rot="0">
              <a:off x="0" y="0"/>
              <a:ext cx="1559534" cy="730250"/>
            </a:xfrm>
            <a:custGeom>
              <a:avLst/>
              <a:gdLst/>
              <a:ahLst/>
              <a:cxnLst/>
              <a:rect r="r" b="b" t="t" l="l"/>
              <a:pathLst>
                <a:path h="730250" w="1559534">
                  <a:moveTo>
                    <a:pt x="0" y="0"/>
                  </a:moveTo>
                  <a:lnTo>
                    <a:pt x="1559534" y="0"/>
                  </a:lnTo>
                  <a:lnTo>
                    <a:pt x="1559534" y="730250"/>
                  </a:lnTo>
                  <a:lnTo>
                    <a:pt x="0" y="730250"/>
                  </a:lnTo>
                  <a:close/>
                </a:path>
              </a:pathLst>
            </a:custGeom>
            <a:blipFill>
              <a:blip r:embed="rId9">
                <a:alphaModFix amt="0"/>
              </a:blip>
              <a:stretch>
                <a:fillRect l="-10077" t="0" r="-10078" b="0"/>
              </a:stretch>
            </a:blipFill>
          </p:spPr>
        </p:sp>
        <p:sp>
          <p:nvSpPr>
            <p:cNvPr name="TextBox 14" id="14"/>
            <p:cNvSpPr txBox="true"/>
            <p:nvPr/>
          </p:nvSpPr>
          <p:spPr>
            <a:xfrm>
              <a:off x="0" y="0"/>
              <a:ext cx="1559535" cy="730250"/>
            </a:xfrm>
            <a:prstGeom prst="rect">
              <a:avLst/>
            </a:prstGeom>
          </p:spPr>
          <p:txBody>
            <a:bodyPr anchor="ctr" rtlCol="false" tIns="0" lIns="0" bIns="0" rIns="0"/>
            <a:lstStyle/>
            <a:p>
              <a:pPr algn="r">
                <a:lnSpc>
                  <a:spcPts val="3600"/>
                </a:lnSpc>
              </a:pPr>
              <a:r>
                <a:rPr lang="en-US" sz="3000">
                  <a:solidFill>
                    <a:srgbClr val="FFFFFF"/>
                  </a:solidFill>
                  <a:latin typeface="Century Gothic Paneuropean"/>
                  <a:ea typeface="Century Gothic Paneuropean"/>
                  <a:cs typeface="Century Gothic Paneuropean"/>
                  <a:sym typeface="Century Gothic Paneuropean"/>
                </a:rPr>
                <a:t>8</a:t>
              </a:r>
            </a:p>
          </p:txBody>
        </p:sp>
      </p:grpSp>
      <p:grpSp>
        <p:nvGrpSpPr>
          <p:cNvPr name="Group 15" id="15"/>
          <p:cNvGrpSpPr/>
          <p:nvPr/>
        </p:nvGrpSpPr>
        <p:grpSpPr>
          <a:xfrm rot="0">
            <a:off x="3980812" y="2811799"/>
            <a:ext cx="12196848" cy="6392457"/>
            <a:chOff x="0" y="0"/>
            <a:chExt cx="17823370" cy="9341358"/>
          </a:xfrm>
        </p:grpSpPr>
        <p:sp>
          <p:nvSpPr>
            <p:cNvPr name="Freeform 16" id="16"/>
            <p:cNvSpPr/>
            <p:nvPr/>
          </p:nvSpPr>
          <p:spPr>
            <a:xfrm flipH="false" flipV="false" rot="0">
              <a:off x="0" y="0"/>
              <a:ext cx="17823435" cy="9341317"/>
            </a:xfrm>
            <a:custGeom>
              <a:avLst/>
              <a:gdLst/>
              <a:ahLst/>
              <a:cxnLst/>
              <a:rect r="r" b="b" t="t" l="l"/>
              <a:pathLst>
                <a:path h="9341317" w="17823435">
                  <a:moveTo>
                    <a:pt x="208785" y="0"/>
                  </a:moveTo>
                  <a:lnTo>
                    <a:pt x="17614650" y="0"/>
                  </a:lnTo>
                  <a:cubicBezTo>
                    <a:pt x="17670024" y="0"/>
                    <a:pt x="17723128" y="21997"/>
                    <a:pt x="17762283" y="61152"/>
                  </a:cubicBezTo>
                  <a:cubicBezTo>
                    <a:pt x="17801437" y="100306"/>
                    <a:pt x="17823435" y="153411"/>
                    <a:pt x="17823435" y="208785"/>
                  </a:cubicBezTo>
                  <a:lnTo>
                    <a:pt x="17823435" y="9132532"/>
                  </a:lnTo>
                  <a:cubicBezTo>
                    <a:pt x="17823435" y="9247842"/>
                    <a:pt x="17729958" y="9341317"/>
                    <a:pt x="17614650" y="9341317"/>
                  </a:cubicBezTo>
                  <a:lnTo>
                    <a:pt x="208785" y="9341317"/>
                  </a:lnTo>
                  <a:cubicBezTo>
                    <a:pt x="93476" y="9341317"/>
                    <a:pt x="0" y="9247842"/>
                    <a:pt x="0" y="9132532"/>
                  </a:cubicBezTo>
                  <a:lnTo>
                    <a:pt x="0" y="208785"/>
                  </a:lnTo>
                  <a:cubicBezTo>
                    <a:pt x="0" y="93476"/>
                    <a:pt x="93476" y="0"/>
                    <a:pt x="208785" y="0"/>
                  </a:cubicBezTo>
                  <a:close/>
                </a:path>
              </a:pathLst>
            </a:custGeom>
            <a:blipFill>
              <a:blip r:embed="rId10"/>
              <a:stretch>
                <a:fillRect l="0" t="-3000" r="0" b="-3000"/>
              </a:stretch>
            </a:blipFill>
            <a:ln w="38100" cap="sq">
              <a:solidFill>
                <a:srgbClr val="000000"/>
              </a:solidFill>
              <a:prstDash val="solid"/>
              <a:miter/>
            </a:ln>
          </p:spPr>
        </p:sp>
      </p:grpSp>
      <p:sp>
        <p:nvSpPr>
          <p:cNvPr name="TextBox 17" id="17"/>
          <p:cNvSpPr txBox="true"/>
          <p:nvPr/>
        </p:nvSpPr>
        <p:spPr>
          <a:xfrm rot="0">
            <a:off x="3980812" y="943766"/>
            <a:ext cx="13184676" cy="1868033"/>
          </a:xfrm>
          <a:prstGeom prst="rect">
            <a:avLst/>
          </a:prstGeom>
        </p:spPr>
        <p:txBody>
          <a:bodyPr anchor="t" rtlCol="false" tIns="0" lIns="0" bIns="0" rIns="0">
            <a:spAutoFit/>
          </a:bodyPr>
          <a:lstStyle/>
          <a:p>
            <a:pPr algn="l">
              <a:lnSpc>
                <a:spcPts val="7200"/>
              </a:lnSpc>
            </a:pPr>
            <a:r>
              <a:rPr lang="en-US" sz="6000">
                <a:solidFill>
                  <a:srgbClr val="262626"/>
                </a:solidFill>
                <a:latin typeface="Times New Roman"/>
                <a:ea typeface="Times New Roman"/>
                <a:cs typeface="Times New Roman"/>
                <a:sym typeface="Times New Roman"/>
              </a:rPr>
              <a:t>6. Theoretical Analysis</a:t>
            </a:r>
          </a:p>
        </p:txBody>
      </p:sp>
      <p:sp>
        <p:nvSpPr>
          <p:cNvPr name="TextBox 18" id="18"/>
          <p:cNvSpPr txBox="true"/>
          <p:nvPr/>
        </p:nvSpPr>
        <p:spPr>
          <a:xfrm rot="0">
            <a:off x="3980812" y="2089204"/>
            <a:ext cx="10218896" cy="676875"/>
          </a:xfrm>
          <a:prstGeom prst="rect">
            <a:avLst/>
          </a:prstGeom>
        </p:spPr>
        <p:txBody>
          <a:bodyPr anchor="t" rtlCol="false" tIns="0" lIns="0" bIns="0" rIns="0">
            <a:spAutoFit/>
          </a:bodyPr>
          <a:lstStyle/>
          <a:p>
            <a:pPr algn="l">
              <a:lnSpc>
                <a:spcPts val="4320"/>
              </a:lnSpc>
            </a:pPr>
            <a:r>
              <a:rPr lang="en-US" b="true" sz="3600">
                <a:solidFill>
                  <a:srgbClr val="000000"/>
                </a:solidFill>
                <a:latin typeface="Times New Roman Bold"/>
                <a:ea typeface="Times New Roman Bold"/>
                <a:cs typeface="Times New Roman Bold"/>
                <a:sym typeface="Times New Roman Bold"/>
              </a:rPr>
              <a:t>6.1 Block Diagram</a:t>
            </a:r>
          </a:p>
        </p:txBody>
      </p:sp>
      <p:sp>
        <p:nvSpPr>
          <p:cNvPr name="TextBox 19" id="19"/>
          <p:cNvSpPr txBox="true"/>
          <p:nvPr/>
        </p:nvSpPr>
        <p:spPr>
          <a:xfrm rot="0">
            <a:off x="6773614" y="9239250"/>
            <a:ext cx="6611243" cy="323850"/>
          </a:xfrm>
          <a:prstGeom prst="rect">
            <a:avLst/>
          </a:prstGeom>
        </p:spPr>
        <p:txBody>
          <a:bodyPr anchor="t" rtlCol="false" tIns="0" lIns="0" bIns="0" rIns="0">
            <a:spAutoFit/>
          </a:bodyPr>
          <a:lstStyle/>
          <a:p>
            <a:pPr algn="ctr">
              <a:lnSpc>
                <a:spcPts val="2400"/>
              </a:lnSpc>
              <a:spcBef>
                <a:spcPct val="0"/>
              </a:spcBef>
            </a:pPr>
            <a:r>
              <a:rPr lang="en-US" sz="2000">
                <a:solidFill>
                  <a:srgbClr val="000000"/>
                </a:solidFill>
                <a:latin typeface="Times New Roman"/>
                <a:ea typeface="Times New Roman"/>
                <a:cs typeface="Times New Roman"/>
                <a:sym typeface="Times New Roman"/>
              </a:rPr>
              <a:t>fig. 1. Architecture of AI Mock Interview with Streaming Avatar </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FFFFF">
                <a:alpha val="100000"/>
              </a:srgbClr>
            </a:gs>
            <a:gs pos="100000">
              <a:srgbClr val="DDE6C3">
                <a:alpha val="100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sp>
        <p:nvSpPr>
          <p:cNvPr name="Freeform 2" id="2"/>
          <p:cNvSpPr/>
          <p:nvPr/>
        </p:nvSpPr>
        <p:spPr>
          <a:xfrm flipH="false" flipV="false" rot="0">
            <a:off x="1" y="342900"/>
            <a:ext cx="4277277" cy="9957940"/>
          </a:xfrm>
          <a:custGeom>
            <a:avLst/>
            <a:gdLst/>
            <a:ahLst/>
            <a:cxnLst/>
            <a:rect r="r" b="b" t="t" l="l"/>
            <a:pathLst>
              <a:path h="9957940" w="4277277">
                <a:moveTo>
                  <a:pt x="0" y="0"/>
                </a:moveTo>
                <a:lnTo>
                  <a:pt x="4277278" y="0"/>
                </a:lnTo>
                <a:lnTo>
                  <a:pt x="4277278" y="9957940"/>
                </a:lnTo>
                <a:lnTo>
                  <a:pt x="0" y="995794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0">
            <a:off x="-106013" y="-499977"/>
            <a:ext cx="3535013" cy="10281056"/>
          </a:xfrm>
          <a:custGeom>
            <a:avLst/>
            <a:gdLst/>
            <a:ahLst/>
            <a:cxnLst/>
            <a:rect r="r" b="b" t="t" l="l"/>
            <a:pathLst>
              <a:path h="10281056" w="3535013">
                <a:moveTo>
                  <a:pt x="0" y="0"/>
                </a:moveTo>
                <a:lnTo>
                  <a:pt x="3535013" y="0"/>
                </a:lnTo>
                <a:lnTo>
                  <a:pt x="3535013" y="10281057"/>
                </a:lnTo>
                <a:lnTo>
                  <a:pt x="0" y="1028105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4" id="4"/>
          <p:cNvGrpSpPr/>
          <p:nvPr/>
        </p:nvGrpSpPr>
        <p:grpSpPr>
          <a:xfrm rot="0">
            <a:off x="0" y="0"/>
            <a:ext cx="274320" cy="10287000"/>
            <a:chOff x="0" y="0"/>
            <a:chExt cx="365760" cy="13716000"/>
          </a:xfrm>
        </p:grpSpPr>
        <p:sp>
          <p:nvSpPr>
            <p:cNvPr name="Freeform 5" id="5"/>
            <p:cNvSpPr/>
            <p:nvPr/>
          </p:nvSpPr>
          <p:spPr>
            <a:xfrm flipH="false" flipV="false" rot="0">
              <a:off x="0" y="0"/>
              <a:ext cx="365760" cy="13716000"/>
            </a:xfrm>
            <a:custGeom>
              <a:avLst/>
              <a:gdLst/>
              <a:ahLst/>
              <a:cxnLst/>
              <a:rect r="r" b="b" t="t" l="l"/>
              <a:pathLst>
                <a:path h="13716000" w="365760">
                  <a:moveTo>
                    <a:pt x="0" y="0"/>
                  </a:moveTo>
                  <a:lnTo>
                    <a:pt x="365760" y="0"/>
                  </a:lnTo>
                  <a:lnTo>
                    <a:pt x="365760" y="13716000"/>
                  </a:lnTo>
                  <a:lnTo>
                    <a:pt x="0" y="13716000"/>
                  </a:lnTo>
                  <a:close/>
                </a:path>
              </a:pathLst>
            </a:custGeom>
            <a:solidFill>
              <a:srgbClr val="766F54"/>
            </a:solidFill>
          </p:spPr>
        </p:sp>
      </p:grpSp>
      <p:grpSp>
        <p:nvGrpSpPr>
          <p:cNvPr name="Group 6" id="6"/>
          <p:cNvGrpSpPr/>
          <p:nvPr/>
        </p:nvGrpSpPr>
        <p:grpSpPr>
          <a:xfrm rot="0">
            <a:off x="15881785" y="9370781"/>
            <a:ext cx="2382793" cy="760943"/>
            <a:chOff x="0" y="0"/>
            <a:chExt cx="3177057" cy="1014590"/>
          </a:xfrm>
        </p:grpSpPr>
        <p:sp>
          <p:nvSpPr>
            <p:cNvPr name="Freeform 7" id="7"/>
            <p:cNvSpPr/>
            <p:nvPr/>
          </p:nvSpPr>
          <p:spPr>
            <a:xfrm flipH="false" flipV="false" rot="0">
              <a:off x="-14192" y="0"/>
              <a:ext cx="3191224" cy="1014603"/>
            </a:xfrm>
            <a:custGeom>
              <a:avLst/>
              <a:gdLst/>
              <a:ahLst/>
              <a:cxnLst/>
              <a:rect r="r" b="b" t="t" l="l"/>
              <a:pathLst>
                <a:path h="1014603" w="3191224">
                  <a:moveTo>
                    <a:pt x="14192" y="477012"/>
                  </a:moveTo>
                  <a:lnTo>
                    <a:pt x="472154" y="19050"/>
                  </a:lnTo>
                  <a:cubicBezTo>
                    <a:pt x="475202" y="15748"/>
                    <a:pt x="479012" y="12700"/>
                    <a:pt x="482060" y="9525"/>
                  </a:cubicBezTo>
                  <a:cubicBezTo>
                    <a:pt x="491331" y="0"/>
                    <a:pt x="500983" y="0"/>
                    <a:pt x="510635" y="0"/>
                  </a:cubicBezTo>
                  <a:lnTo>
                    <a:pt x="691991" y="0"/>
                  </a:lnTo>
                  <a:lnTo>
                    <a:pt x="3191224" y="7112"/>
                  </a:lnTo>
                  <a:cubicBezTo>
                    <a:pt x="3188430" y="342900"/>
                    <a:pt x="3185382" y="678815"/>
                    <a:pt x="3182588" y="1014603"/>
                  </a:cubicBezTo>
                  <a:lnTo>
                    <a:pt x="691991" y="1011174"/>
                  </a:lnTo>
                  <a:lnTo>
                    <a:pt x="510635" y="1011174"/>
                  </a:lnTo>
                  <a:cubicBezTo>
                    <a:pt x="500983" y="1011174"/>
                    <a:pt x="491458" y="1001649"/>
                    <a:pt x="482060" y="1001649"/>
                  </a:cubicBezTo>
                  <a:cubicBezTo>
                    <a:pt x="482060" y="992124"/>
                    <a:pt x="472154" y="992124"/>
                    <a:pt x="472154" y="992124"/>
                  </a:cubicBezTo>
                  <a:lnTo>
                    <a:pt x="14192" y="534162"/>
                  </a:lnTo>
                  <a:cubicBezTo>
                    <a:pt x="-4731" y="515112"/>
                    <a:pt x="-4731" y="496062"/>
                    <a:pt x="14192" y="476885"/>
                  </a:cubicBezTo>
                  <a:close/>
                </a:path>
              </a:pathLst>
            </a:custGeom>
            <a:solidFill>
              <a:srgbClr val="A53010"/>
            </a:solidFill>
          </p:spPr>
        </p:sp>
      </p:grpSp>
      <p:grpSp>
        <p:nvGrpSpPr>
          <p:cNvPr name="Group 8" id="8"/>
          <p:cNvGrpSpPr/>
          <p:nvPr/>
        </p:nvGrpSpPr>
        <p:grpSpPr>
          <a:xfrm rot="0">
            <a:off x="233563" y="0"/>
            <a:ext cx="2185988" cy="1864519"/>
            <a:chOff x="0" y="0"/>
            <a:chExt cx="2914650" cy="2486025"/>
          </a:xfrm>
        </p:grpSpPr>
        <p:sp>
          <p:nvSpPr>
            <p:cNvPr name="Freeform 9" id="9"/>
            <p:cNvSpPr/>
            <p:nvPr/>
          </p:nvSpPr>
          <p:spPr>
            <a:xfrm flipH="false" flipV="false" rot="0">
              <a:off x="0" y="0"/>
              <a:ext cx="2914650" cy="2486025"/>
            </a:xfrm>
            <a:custGeom>
              <a:avLst/>
              <a:gdLst/>
              <a:ahLst/>
              <a:cxnLst/>
              <a:rect r="r" b="b" t="t" l="l"/>
              <a:pathLst>
                <a:path h="2486025" w="2914650">
                  <a:moveTo>
                    <a:pt x="0" y="0"/>
                  </a:moveTo>
                  <a:lnTo>
                    <a:pt x="2914650" y="0"/>
                  </a:lnTo>
                  <a:lnTo>
                    <a:pt x="2914650" y="2486025"/>
                  </a:lnTo>
                  <a:lnTo>
                    <a:pt x="0" y="2486025"/>
                  </a:lnTo>
                  <a:lnTo>
                    <a:pt x="0" y="0"/>
                  </a:lnTo>
                  <a:close/>
                </a:path>
              </a:pathLst>
            </a:custGeom>
            <a:blipFill>
              <a:blip r:embed="rId7"/>
              <a:stretch>
                <a:fillRect l="0" t="0" r="0" b="0"/>
              </a:stretch>
            </a:blipFill>
          </p:spPr>
        </p:sp>
      </p:grpSp>
      <p:grpSp>
        <p:nvGrpSpPr>
          <p:cNvPr name="Group 10" id="10"/>
          <p:cNvGrpSpPr/>
          <p:nvPr/>
        </p:nvGrpSpPr>
        <p:grpSpPr>
          <a:xfrm rot="0">
            <a:off x="16655091" y="-591331"/>
            <a:ext cx="1525553" cy="2712101"/>
            <a:chOff x="0" y="0"/>
            <a:chExt cx="2034070" cy="3616134"/>
          </a:xfrm>
        </p:grpSpPr>
        <p:sp>
          <p:nvSpPr>
            <p:cNvPr name="Freeform 11" id="11"/>
            <p:cNvSpPr/>
            <p:nvPr/>
          </p:nvSpPr>
          <p:spPr>
            <a:xfrm flipH="false" flipV="false" rot="0">
              <a:off x="0" y="0"/>
              <a:ext cx="2034032" cy="3616071"/>
            </a:xfrm>
            <a:custGeom>
              <a:avLst/>
              <a:gdLst/>
              <a:ahLst/>
              <a:cxnLst/>
              <a:rect r="r" b="b" t="t" l="l"/>
              <a:pathLst>
                <a:path h="3616071" w="2034032">
                  <a:moveTo>
                    <a:pt x="0" y="0"/>
                  </a:moveTo>
                  <a:lnTo>
                    <a:pt x="2034032" y="0"/>
                  </a:lnTo>
                  <a:lnTo>
                    <a:pt x="2034032" y="3616071"/>
                  </a:lnTo>
                  <a:lnTo>
                    <a:pt x="0" y="3616071"/>
                  </a:lnTo>
                  <a:lnTo>
                    <a:pt x="0" y="0"/>
                  </a:lnTo>
                  <a:close/>
                </a:path>
              </a:pathLst>
            </a:custGeom>
            <a:blipFill>
              <a:blip r:embed="rId8"/>
              <a:stretch>
                <a:fillRect l="0" t="0" r="-1" b="-55"/>
              </a:stretch>
            </a:blipFill>
          </p:spPr>
        </p:sp>
      </p:grpSp>
      <p:sp>
        <p:nvSpPr>
          <p:cNvPr name="TextBox 12" id="12"/>
          <p:cNvSpPr txBox="true"/>
          <p:nvPr/>
        </p:nvSpPr>
        <p:spPr>
          <a:xfrm rot="0">
            <a:off x="3391281" y="394116"/>
            <a:ext cx="13184848" cy="1470403"/>
          </a:xfrm>
          <a:prstGeom prst="rect">
            <a:avLst/>
          </a:prstGeom>
        </p:spPr>
        <p:txBody>
          <a:bodyPr anchor="t" rtlCol="false" tIns="0" lIns="0" bIns="0" rIns="0">
            <a:spAutoFit/>
          </a:bodyPr>
          <a:lstStyle/>
          <a:p>
            <a:pPr algn="l">
              <a:lnSpc>
                <a:spcPts val="7200"/>
              </a:lnSpc>
            </a:pPr>
            <a:r>
              <a:rPr lang="en-US" sz="6000">
                <a:solidFill>
                  <a:srgbClr val="262626"/>
                </a:solidFill>
                <a:latin typeface="Times New Roman"/>
                <a:ea typeface="Times New Roman"/>
                <a:cs typeface="Times New Roman"/>
                <a:sym typeface="Times New Roman"/>
              </a:rPr>
              <a:t>6. Theoretical Analysis</a:t>
            </a:r>
          </a:p>
        </p:txBody>
      </p:sp>
      <p:sp>
        <p:nvSpPr>
          <p:cNvPr name="TextBox 13" id="13"/>
          <p:cNvSpPr txBox="true"/>
          <p:nvPr/>
        </p:nvSpPr>
        <p:spPr>
          <a:xfrm rot="0">
            <a:off x="3429000" y="1612798"/>
            <a:ext cx="13830300" cy="2992111"/>
          </a:xfrm>
          <a:prstGeom prst="rect">
            <a:avLst/>
          </a:prstGeom>
        </p:spPr>
        <p:txBody>
          <a:bodyPr anchor="t" rtlCol="false" tIns="0" lIns="0" bIns="0" rIns="0">
            <a:spAutoFit/>
          </a:bodyPr>
          <a:lstStyle/>
          <a:p>
            <a:pPr algn="l">
              <a:lnSpc>
                <a:spcPts val="2656"/>
              </a:lnSpc>
            </a:pPr>
            <a:r>
              <a:rPr lang="en-US" b="true" sz="2767">
                <a:solidFill>
                  <a:srgbClr val="3F3F3F"/>
                </a:solidFill>
                <a:latin typeface="Times New Roman Bold"/>
                <a:ea typeface="Times New Roman Bold"/>
                <a:cs typeface="Times New Roman Bold"/>
                <a:sym typeface="Times New Roman Bold"/>
              </a:rPr>
              <a:t>6.2 Hardware Requirements:</a:t>
            </a:r>
          </a:p>
          <a:p>
            <a:pPr algn="l">
              <a:lnSpc>
                <a:spcPts val="2656"/>
              </a:lnSpc>
            </a:pPr>
          </a:p>
          <a:p>
            <a:pPr algn="l">
              <a:lnSpc>
                <a:spcPts val="2584"/>
              </a:lnSpc>
            </a:pPr>
            <a:r>
              <a:rPr lang="en-US" sz="2692">
                <a:solidFill>
                  <a:srgbClr val="000000"/>
                </a:solidFill>
                <a:latin typeface="Times New Roman"/>
                <a:ea typeface="Times New Roman"/>
                <a:cs typeface="Times New Roman"/>
                <a:sym typeface="Times New Roman"/>
              </a:rPr>
              <a:t>Since this is a software-focused project, hardware needs are minimal:</a:t>
            </a:r>
          </a:p>
          <a:p>
            <a:pPr algn="l" marL="581345" indent="-290672" lvl="1">
              <a:lnSpc>
                <a:spcPts val="2584"/>
              </a:lnSpc>
              <a:buFont typeface="Arial"/>
              <a:buChar char="•"/>
            </a:pPr>
            <a:r>
              <a:rPr lang="en-US" sz="2692">
                <a:solidFill>
                  <a:srgbClr val="000000"/>
                </a:solidFill>
                <a:latin typeface="Times New Roman"/>
                <a:ea typeface="Times New Roman"/>
                <a:cs typeface="Times New Roman"/>
                <a:sym typeface="Times New Roman"/>
              </a:rPr>
              <a:t> A laptop or desktop with internet access</a:t>
            </a:r>
          </a:p>
          <a:p>
            <a:pPr algn="l" marL="581345" indent="-290672" lvl="1">
              <a:lnSpc>
                <a:spcPts val="2584"/>
              </a:lnSpc>
              <a:buFont typeface="Arial"/>
              <a:buChar char="•"/>
            </a:pPr>
            <a:r>
              <a:rPr lang="en-US" sz="2692">
                <a:solidFill>
                  <a:srgbClr val="000000"/>
                </a:solidFill>
                <a:latin typeface="Times New Roman"/>
                <a:ea typeface="Times New Roman"/>
                <a:cs typeface="Times New Roman"/>
                <a:sym typeface="Times New Roman"/>
              </a:rPr>
              <a:t> Minimum 8 GB RAM , multi core processor , audio/video input device(microphone/webcam)</a:t>
            </a:r>
          </a:p>
          <a:p>
            <a:pPr algn="l" marL="581345" indent="-290672" lvl="1">
              <a:lnSpc>
                <a:spcPts val="2584"/>
              </a:lnSpc>
              <a:buFont typeface="Arial"/>
              <a:buChar char="•"/>
            </a:pPr>
            <a:r>
              <a:rPr lang="en-US" sz="2692">
                <a:solidFill>
                  <a:srgbClr val="000000"/>
                </a:solidFill>
                <a:latin typeface="Times New Roman"/>
                <a:ea typeface="Times New Roman"/>
                <a:cs typeface="Times New Roman"/>
                <a:sym typeface="Times New Roman"/>
              </a:rPr>
              <a:t>Cloud or local server infrastructure for deployment, data storage, and handling AI model processing and user sessions.</a:t>
            </a:r>
          </a:p>
          <a:p>
            <a:pPr algn="l">
              <a:lnSpc>
                <a:spcPts val="2584"/>
              </a:lnSpc>
            </a:pPr>
          </a:p>
          <a:p>
            <a:pPr algn="l">
              <a:lnSpc>
                <a:spcPts val="2728"/>
              </a:lnSpc>
            </a:pPr>
            <a:r>
              <a:rPr lang="en-US" b="true" sz="2842">
                <a:solidFill>
                  <a:srgbClr val="3F3F3F"/>
                </a:solidFill>
                <a:latin typeface="Times New Roman Bold"/>
                <a:ea typeface="Times New Roman Bold"/>
                <a:cs typeface="Times New Roman Bold"/>
                <a:sym typeface="Times New Roman Bold"/>
              </a:rPr>
              <a:t>6.3 Software Requirements</a:t>
            </a:r>
          </a:p>
        </p:txBody>
      </p:sp>
      <p:grpSp>
        <p:nvGrpSpPr>
          <p:cNvPr name="Group 14" id="14"/>
          <p:cNvGrpSpPr/>
          <p:nvPr/>
        </p:nvGrpSpPr>
        <p:grpSpPr>
          <a:xfrm rot="0">
            <a:off x="16833047" y="9507236"/>
            <a:ext cx="1169651" cy="547688"/>
            <a:chOff x="0" y="0"/>
            <a:chExt cx="1559535" cy="730250"/>
          </a:xfrm>
        </p:grpSpPr>
        <p:sp>
          <p:nvSpPr>
            <p:cNvPr name="Freeform 15" id="15"/>
            <p:cNvSpPr/>
            <p:nvPr/>
          </p:nvSpPr>
          <p:spPr>
            <a:xfrm flipH="false" flipV="false" rot="0">
              <a:off x="0" y="0"/>
              <a:ext cx="1559534" cy="730250"/>
            </a:xfrm>
            <a:custGeom>
              <a:avLst/>
              <a:gdLst/>
              <a:ahLst/>
              <a:cxnLst/>
              <a:rect r="r" b="b" t="t" l="l"/>
              <a:pathLst>
                <a:path h="730250" w="1559534">
                  <a:moveTo>
                    <a:pt x="0" y="0"/>
                  </a:moveTo>
                  <a:lnTo>
                    <a:pt x="1559534" y="0"/>
                  </a:lnTo>
                  <a:lnTo>
                    <a:pt x="1559534" y="730250"/>
                  </a:lnTo>
                  <a:lnTo>
                    <a:pt x="0" y="730250"/>
                  </a:lnTo>
                  <a:close/>
                </a:path>
              </a:pathLst>
            </a:custGeom>
            <a:blipFill>
              <a:blip r:embed="rId9">
                <a:alphaModFix amt="0"/>
              </a:blip>
              <a:stretch>
                <a:fillRect l="-10077" t="0" r="-10078" b="0"/>
              </a:stretch>
            </a:blipFill>
          </p:spPr>
        </p:sp>
        <p:sp>
          <p:nvSpPr>
            <p:cNvPr name="TextBox 16" id="16"/>
            <p:cNvSpPr txBox="true"/>
            <p:nvPr/>
          </p:nvSpPr>
          <p:spPr>
            <a:xfrm>
              <a:off x="0" y="0"/>
              <a:ext cx="1559535" cy="730250"/>
            </a:xfrm>
            <a:prstGeom prst="rect">
              <a:avLst/>
            </a:prstGeom>
          </p:spPr>
          <p:txBody>
            <a:bodyPr anchor="ctr" rtlCol="false" tIns="0" lIns="0" bIns="0" rIns="0"/>
            <a:lstStyle/>
            <a:p>
              <a:pPr algn="r">
                <a:lnSpc>
                  <a:spcPts val="3600"/>
                </a:lnSpc>
              </a:pPr>
              <a:r>
                <a:rPr lang="en-US" sz="3000">
                  <a:solidFill>
                    <a:srgbClr val="FFFFFF"/>
                  </a:solidFill>
                  <a:latin typeface="Century Gothic Paneuropean"/>
                  <a:ea typeface="Century Gothic Paneuropean"/>
                  <a:cs typeface="Century Gothic Paneuropean"/>
                  <a:sym typeface="Century Gothic Paneuropean"/>
                </a:rPr>
                <a:t>9</a:t>
              </a:r>
            </a:p>
          </p:txBody>
        </p:sp>
      </p:grpSp>
      <p:graphicFrame>
        <p:nvGraphicFramePr>
          <p:cNvPr name="Table 17" id="17"/>
          <p:cNvGraphicFramePr>
            <a:graphicFrameLocks noGrp="true"/>
          </p:cNvGraphicFramePr>
          <p:nvPr/>
        </p:nvGraphicFramePr>
        <p:xfrm>
          <a:off x="3540342" y="4646799"/>
          <a:ext cx="12230100" cy="5208300"/>
        </p:xfrm>
        <a:graphic>
          <a:graphicData uri="http://schemas.openxmlformats.org/drawingml/2006/table">
            <a:tbl>
              <a:tblPr/>
              <a:tblGrid>
                <a:gridCol w="3911476"/>
                <a:gridCol w="8318624"/>
              </a:tblGrid>
              <a:tr h="800832">
                <a:tc>
                  <a:txBody>
                    <a:bodyPr anchor="t" rtlCol="false"/>
                    <a:lstStyle/>
                    <a:p>
                      <a:pPr algn="l">
                        <a:lnSpc>
                          <a:spcPts val="3600"/>
                        </a:lnSpc>
                        <a:defRPr/>
                      </a:pPr>
                      <a:r>
                        <a:rPr lang="en-US" b="true" sz="3000">
                          <a:solidFill>
                            <a:srgbClr val="000000"/>
                          </a:solidFill>
                          <a:latin typeface="Times New Roman Bold"/>
                          <a:ea typeface="Times New Roman Bold"/>
                          <a:cs typeface="Times New Roman Bold"/>
                          <a:sym typeface="Times New Roman Bold"/>
                        </a:rPr>
                        <a:t>Component</a:t>
                      </a:r>
                      <a:endParaRPr lang="en-US" sz="1100"/>
                    </a:p>
                  </a:txBody>
                  <a:tcPr marL="91425" marR="91425" marT="91425" marB="91425"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c>
                  <a:txBody>
                    <a:bodyPr anchor="t" rtlCol="false"/>
                    <a:lstStyle/>
                    <a:p>
                      <a:pPr algn="l">
                        <a:lnSpc>
                          <a:spcPts val="3600"/>
                        </a:lnSpc>
                        <a:defRPr/>
                      </a:pPr>
                      <a:r>
                        <a:rPr lang="en-US" b="true" sz="3000">
                          <a:solidFill>
                            <a:srgbClr val="000000"/>
                          </a:solidFill>
                          <a:latin typeface="Times New Roman Bold"/>
                          <a:ea typeface="Times New Roman Bold"/>
                          <a:cs typeface="Times New Roman Bold"/>
                          <a:sym typeface="Times New Roman Bold"/>
                        </a:rPr>
                        <a:t>Frameworks</a:t>
                      </a:r>
                      <a:endParaRPr lang="en-US" sz="1100"/>
                    </a:p>
                  </a:txBody>
                  <a:tcPr marL="91425" marR="91425" marT="91425" marB="91425"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r>
              <a:tr h="667360">
                <a:tc>
                  <a:txBody>
                    <a:bodyPr anchor="t" rtlCol="false"/>
                    <a:lstStyle/>
                    <a:p>
                      <a:pPr algn="l">
                        <a:lnSpc>
                          <a:spcPts val="2879"/>
                        </a:lnSpc>
                        <a:defRPr/>
                      </a:pPr>
                      <a:r>
                        <a:rPr lang="en-US" sz="2400">
                          <a:solidFill>
                            <a:srgbClr val="000000"/>
                          </a:solidFill>
                          <a:latin typeface="Times New Roman"/>
                          <a:ea typeface="Times New Roman"/>
                          <a:cs typeface="Times New Roman"/>
                          <a:sym typeface="Times New Roman"/>
                        </a:rPr>
                        <a:t>Programming language </a:t>
                      </a:r>
                      <a:endParaRPr lang="en-US" sz="1100"/>
                    </a:p>
                  </a:txBody>
                  <a:tcPr marL="91425" marR="91425" marT="91425" marB="91425"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c>
                  <a:txBody>
                    <a:bodyPr anchor="t" rtlCol="false"/>
                    <a:lstStyle/>
                    <a:p>
                      <a:pPr algn="l">
                        <a:lnSpc>
                          <a:spcPts val="2879"/>
                        </a:lnSpc>
                        <a:defRPr/>
                      </a:pPr>
                      <a:r>
                        <a:rPr lang="en-US" sz="2400">
                          <a:solidFill>
                            <a:srgbClr val="000000"/>
                          </a:solidFill>
                          <a:latin typeface="Times New Roman"/>
                          <a:ea typeface="Times New Roman"/>
                          <a:cs typeface="Times New Roman"/>
                          <a:sym typeface="Times New Roman"/>
                        </a:rPr>
                        <a:t>Python(backend , AI/ML, NLP integration)</a:t>
                      </a:r>
                      <a:endParaRPr lang="en-US" sz="1100"/>
                    </a:p>
                  </a:txBody>
                  <a:tcPr marL="91425" marR="91425" marT="91425" marB="91425"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r>
              <a:tr h="681035">
                <a:tc>
                  <a:txBody>
                    <a:bodyPr anchor="t" rtlCol="false"/>
                    <a:lstStyle/>
                    <a:p>
                      <a:pPr algn="l">
                        <a:lnSpc>
                          <a:spcPts val="2879"/>
                        </a:lnSpc>
                        <a:defRPr/>
                      </a:pPr>
                      <a:r>
                        <a:rPr lang="en-US" sz="2400">
                          <a:solidFill>
                            <a:srgbClr val="000000"/>
                          </a:solidFill>
                          <a:latin typeface="Times New Roman"/>
                          <a:ea typeface="Times New Roman"/>
                          <a:cs typeface="Times New Roman"/>
                          <a:sym typeface="Times New Roman"/>
                        </a:rPr>
                        <a:t>Operating System</a:t>
                      </a:r>
                      <a:endParaRPr lang="en-US" sz="1100"/>
                    </a:p>
                  </a:txBody>
                  <a:tcPr marL="91425" marR="91425" marT="91425" marB="91425"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c>
                  <a:txBody>
                    <a:bodyPr anchor="t" rtlCol="false"/>
                    <a:lstStyle/>
                    <a:p>
                      <a:pPr algn="l">
                        <a:lnSpc>
                          <a:spcPts val="2879"/>
                        </a:lnSpc>
                        <a:defRPr/>
                      </a:pPr>
                      <a:r>
                        <a:rPr lang="en-US" sz="2400">
                          <a:solidFill>
                            <a:srgbClr val="000000"/>
                          </a:solidFill>
                          <a:latin typeface="Times New Roman"/>
                          <a:ea typeface="Times New Roman"/>
                          <a:cs typeface="Times New Roman"/>
                          <a:sym typeface="Times New Roman"/>
                        </a:rPr>
                        <a:t>Windows 11</a:t>
                      </a:r>
                      <a:endParaRPr lang="en-US" sz="1100"/>
                    </a:p>
                  </a:txBody>
                  <a:tcPr marL="91425" marR="91425" marT="91425" marB="91425"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r>
              <a:tr h="667360">
                <a:tc>
                  <a:txBody>
                    <a:bodyPr anchor="t" rtlCol="false"/>
                    <a:lstStyle/>
                    <a:p>
                      <a:pPr algn="l">
                        <a:lnSpc>
                          <a:spcPts val="2879"/>
                        </a:lnSpc>
                        <a:defRPr/>
                      </a:pPr>
                      <a:r>
                        <a:rPr lang="en-US" sz="2400">
                          <a:solidFill>
                            <a:srgbClr val="000000"/>
                          </a:solidFill>
                          <a:latin typeface="Times New Roman"/>
                          <a:ea typeface="Times New Roman"/>
                          <a:cs typeface="Times New Roman"/>
                          <a:sym typeface="Times New Roman"/>
                        </a:rPr>
                        <a:t>Framework</a:t>
                      </a:r>
                      <a:endParaRPr lang="en-US" sz="1100"/>
                    </a:p>
                  </a:txBody>
                  <a:tcPr marL="91425" marR="91425" marT="91425" marB="91425"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c>
                  <a:txBody>
                    <a:bodyPr anchor="t" rtlCol="false"/>
                    <a:lstStyle/>
                    <a:p>
                      <a:pPr algn="l">
                        <a:lnSpc>
                          <a:spcPts val="2879"/>
                        </a:lnSpc>
                        <a:defRPr/>
                      </a:pPr>
                      <a:r>
                        <a:rPr lang="en-US" sz="2400">
                          <a:solidFill>
                            <a:srgbClr val="000000"/>
                          </a:solidFill>
                          <a:latin typeface="Times New Roman"/>
                          <a:ea typeface="Times New Roman"/>
                          <a:cs typeface="Times New Roman"/>
                          <a:sym typeface="Times New Roman"/>
                        </a:rPr>
                        <a:t>Flask or Django (for web interface)</a:t>
                      </a:r>
                      <a:endParaRPr lang="en-US" sz="1100"/>
                    </a:p>
                  </a:txBody>
                  <a:tcPr marL="91425" marR="91425" marT="91425" marB="91425"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r>
              <a:tr h="681035">
                <a:tc>
                  <a:txBody>
                    <a:bodyPr anchor="t" rtlCol="false"/>
                    <a:lstStyle/>
                    <a:p>
                      <a:pPr algn="l">
                        <a:lnSpc>
                          <a:spcPts val="2879"/>
                        </a:lnSpc>
                        <a:defRPr/>
                      </a:pPr>
                      <a:r>
                        <a:rPr lang="en-US" sz="2400">
                          <a:solidFill>
                            <a:srgbClr val="000000"/>
                          </a:solidFill>
                          <a:latin typeface="Times New Roman"/>
                          <a:ea typeface="Times New Roman"/>
                          <a:cs typeface="Times New Roman"/>
                          <a:sym typeface="Times New Roman"/>
                        </a:rPr>
                        <a:t>Database</a:t>
                      </a:r>
                      <a:endParaRPr lang="en-US" sz="1100"/>
                    </a:p>
                  </a:txBody>
                  <a:tcPr marL="91425" marR="91425" marT="91425" marB="91425"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c>
                  <a:txBody>
                    <a:bodyPr anchor="t" rtlCol="false"/>
                    <a:lstStyle/>
                    <a:p>
                      <a:pPr algn="l">
                        <a:lnSpc>
                          <a:spcPts val="2879"/>
                        </a:lnSpc>
                        <a:defRPr/>
                      </a:pPr>
                      <a:r>
                        <a:rPr lang="en-US" sz="2400">
                          <a:solidFill>
                            <a:srgbClr val="000000"/>
                          </a:solidFill>
                          <a:latin typeface="Times New Roman"/>
                          <a:ea typeface="Times New Roman"/>
                          <a:cs typeface="Times New Roman"/>
                          <a:sym typeface="Times New Roman"/>
                        </a:rPr>
                        <a:t>MySQL (to store college data)</a:t>
                      </a:r>
                      <a:endParaRPr lang="en-US" sz="1100"/>
                    </a:p>
                  </a:txBody>
                  <a:tcPr marL="91425" marR="91425" marT="91425" marB="91425"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r>
              <a:tr h="681035">
                <a:tc>
                  <a:txBody>
                    <a:bodyPr anchor="t" rtlCol="false"/>
                    <a:lstStyle/>
                    <a:p>
                      <a:pPr algn="l">
                        <a:lnSpc>
                          <a:spcPts val="2879"/>
                        </a:lnSpc>
                        <a:defRPr/>
                      </a:pPr>
                      <a:r>
                        <a:rPr lang="en-US" sz="2400">
                          <a:solidFill>
                            <a:srgbClr val="000000"/>
                          </a:solidFill>
                          <a:latin typeface="Times New Roman"/>
                          <a:ea typeface="Times New Roman"/>
                          <a:cs typeface="Times New Roman"/>
                          <a:sym typeface="Times New Roman"/>
                        </a:rPr>
                        <a:t>Frontend Tools</a:t>
                      </a:r>
                      <a:endParaRPr lang="en-US" sz="1100"/>
                    </a:p>
                  </a:txBody>
                  <a:tcPr marL="91425" marR="91425" marT="91425" marB="91425"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c>
                  <a:txBody>
                    <a:bodyPr anchor="t" rtlCol="false"/>
                    <a:lstStyle/>
                    <a:p>
                      <a:pPr algn="l">
                        <a:lnSpc>
                          <a:spcPts val="2879"/>
                        </a:lnSpc>
                        <a:defRPr/>
                      </a:pPr>
                      <a:r>
                        <a:rPr lang="en-US" sz="2400">
                          <a:solidFill>
                            <a:srgbClr val="000000"/>
                          </a:solidFill>
                          <a:latin typeface="Times New Roman"/>
                          <a:ea typeface="Times New Roman"/>
                          <a:cs typeface="Times New Roman"/>
                          <a:sym typeface="Times New Roman"/>
                        </a:rPr>
                        <a:t>HTML , CSS , JavaScript (for user interface)</a:t>
                      </a:r>
                      <a:endParaRPr lang="en-US" sz="1100"/>
                    </a:p>
                  </a:txBody>
                  <a:tcPr marL="91425" marR="91425" marT="91425" marB="91425"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r>
              <a:tr h="1029642">
                <a:tc>
                  <a:txBody>
                    <a:bodyPr anchor="t" rtlCol="false"/>
                    <a:lstStyle/>
                    <a:p>
                      <a:pPr algn="l">
                        <a:lnSpc>
                          <a:spcPts val="2879"/>
                        </a:lnSpc>
                        <a:defRPr/>
                      </a:pPr>
                      <a:r>
                        <a:rPr lang="en-US" sz="2400">
                          <a:solidFill>
                            <a:srgbClr val="000000"/>
                          </a:solidFill>
                          <a:latin typeface="Times New Roman"/>
                          <a:ea typeface="Times New Roman"/>
                          <a:cs typeface="Times New Roman"/>
                          <a:sym typeface="Times New Roman"/>
                        </a:rPr>
                        <a:t>AI Architecture</a:t>
                      </a:r>
                      <a:endParaRPr lang="en-US" sz="1100"/>
                    </a:p>
                  </a:txBody>
                  <a:tcPr marL="91425" marR="91425" marT="91425" marB="91425"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c>
                  <a:txBody>
                    <a:bodyPr anchor="t" rtlCol="false"/>
                    <a:lstStyle/>
                    <a:p>
                      <a:pPr algn="l">
                        <a:lnSpc>
                          <a:spcPts val="2879"/>
                        </a:lnSpc>
                        <a:defRPr/>
                      </a:pPr>
                      <a:r>
                        <a:rPr lang="en-US" sz="2400">
                          <a:solidFill>
                            <a:srgbClr val="000000"/>
                          </a:solidFill>
                          <a:latin typeface="Times New Roman"/>
                          <a:ea typeface="Times New Roman"/>
                          <a:cs typeface="Times New Roman"/>
                          <a:sym typeface="Times New Roman"/>
                        </a:rPr>
                        <a:t>LLM-based system (GPT/Gemini) with Agentic AI (multi-agent system for HR, technical, and evaluation roles)</a:t>
                      </a:r>
                      <a:endParaRPr lang="en-US" sz="1100"/>
                    </a:p>
                  </a:txBody>
                  <a:tcPr marL="91425" marR="91425" marT="91425" marB="91425"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r>
            </a:tbl>
          </a:graphicData>
        </a:graphic>
      </p:graphicFrame>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FFFFF">
                <a:alpha val="100000"/>
              </a:srgbClr>
            </a:gs>
            <a:gs pos="100000">
              <a:srgbClr val="DDE6C3">
                <a:alpha val="100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sp>
        <p:nvSpPr>
          <p:cNvPr name="Freeform 2" id="2"/>
          <p:cNvSpPr/>
          <p:nvPr/>
        </p:nvSpPr>
        <p:spPr>
          <a:xfrm flipH="false" flipV="false" rot="0">
            <a:off x="1" y="342900"/>
            <a:ext cx="4277277" cy="9957940"/>
          </a:xfrm>
          <a:custGeom>
            <a:avLst/>
            <a:gdLst/>
            <a:ahLst/>
            <a:cxnLst/>
            <a:rect r="r" b="b" t="t" l="l"/>
            <a:pathLst>
              <a:path h="9957940" w="4277277">
                <a:moveTo>
                  <a:pt x="0" y="0"/>
                </a:moveTo>
                <a:lnTo>
                  <a:pt x="4277278" y="0"/>
                </a:lnTo>
                <a:lnTo>
                  <a:pt x="4277278" y="9957940"/>
                </a:lnTo>
                <a:lnTo>
                  <a:pt x="0" y="995794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0">
            <a:off x="40834" y="-1181"/>
            <a:ext cx="3535013" cy="10281056"/>
          </a:xfrm>
          <a:custGeom>
            <a:avLst/>
            <a:gdLst/>
            <a:ahLst/>
            <a:cxnLst/>
            <a:rect r="r" b="b" t="t" l="l"/>
            <a:pathLst>
              <a:path h="10281056" w="3535013">
                <a:moveTo>
                  <a:pt x="0" y="0"/>
                </a:moveTo>
                <a:lnTo>
                  <a:pt x="3535013" y="0"/>
                </a:lnTo>
                <a:lnTo>
                  <a:pt x="3535013" y="10281056"/>
                </a:lnTo>
                <a:lnTo>
                  <a:pt x="0" y="1028105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4" id="4"/>
          <p:cNvGrpSpPr/>
          <p:nvPr/>
        </p:nvGrpSpPr>
        <p:grpSpPr>
          <a:xfrm rot="0">
            <a:off x="0" y="0"/>
            <a:ext cx="274320" cy="10287000"/>
            <a:chOff x="0" y="0"/>
            <a:chExt cx="365760" cy="13716000"/>
          </a:xfrm>
        </p:grpSpPr>
        <p:sp>
          <p:nvSpPr>
            <p:cNvPr name="Freeform 5" id="5"/>
            <p:cNvSpPr/>
            <p:nvPr/>
          </p:nvSpPr>
          <p:spPr>
            <a:xfrm flipH="false" flipV="false" rot="0">
              <a:off x="0" y="0"/>
              <a:ext cx="365760" cy="13716000"/>
            </a:xfrm>
            <a:custGeom>
              <a:avLst/>
              <a:gdLst/>
              <a:ahLst/>
              <a:cxnLst/>
              <a:rect r="r" b="b" t="t" l="l"/>
              <a:pathLst>
                <a:path h="13716000" w="365760">
                  <a:moveTo>
                    <a:pt x="0" y="0"/>
                  </a:moveTo>
                  <a:lnTo>
                    <a:pt x="365760" y="0"/>
                  </a:lnTo>
                  <a:lnTo>
                    <a:pt x="365760" y="13716000"/>
                  </a:lnTo>
                  <a:lnTo>
                    <a:pt x="0" y="13716000"/>
                  </a:lnTo>
                  <a:close/>
                </a:path>
              </a:pathLst>
            </a:custGeom>
            <a:solidFill>
              <a:srgbClr val="766F54"/>
            </a:solidFill>
          </p:spPr>
        </p:sp>
      </p:grpSp>
      <p:grpSp>
        <p:nvGrpSpPr>
          <p:cNvPr name="Group 6" id="6"/>
          <p:cNvGrpSpPr/>
          <p:nvPr/>
        </p:nvGrpSpPr>
        <p:grpSpPr>
          <a:xfrm rot="0">
            <a:off x="15881785" y="9370781"/>
            <a:ext cx="2382793" cy="760943"/>
            <a:chOff x="0" y="0"/>
            <a:chExt cx="3177057" cy="1014590"/>
          </a:xfrm>
        </p:grpSpPr>
        <p:sp>
          <p:nvSpPr>
            <p:cNvPr name="Freeform 7" id="7"/>
            <p:cNvSpPr/>
            <p:nvPr/>
          </p:nvSpPr>
          <p:spPr>
            <a:xfrm flipH="false" flipV="false" rot="0">
              <a:off x="-14192" y="0"/>
              <a:ext cx="3191224" cy="1014603"/>
            </a:xfrm>
            <a:custGeom>
              <a:avLst/>
              <a:gdLst/>
              <a:ahLst/>
              <a:cxnLst/>
              <a:rect r="r" b="b" t="t" l="l"/>
              <a:pathLst>
                <a:path h="1014603" w="3191224">
                  <a:moveTo>
                    <a:pt x="14192" y="477012"/>
                  </a:moveTo>
                  <a:lnTo>
                    <a:pt x="472154" y="19050"/>
                  </a:lnTo>
                  <a:cubicBezTo>
                    <a:pt x="475202" y="15748"/>
                    <a:pt x="479012" y="12700"/>
                    <a:pt x="482060" y="9525"/>
                  </a:cubicBezTo>
                  <a:cubicBezTo>
                    <a:pt x="491331" y="0"/>
                    <a:pt x="500983" y="0"/>
                    <a:pt x="510635" y="0"/>
                  </a:cubicBezTo>
                  <a:lnTo>
                    <a:pt x="691991" y="0"/>
                  </a:lnTo>
                  <a:lnTo>
                    <a:pt x="3191224" y="7112"/>
                  </a:lnTo>
                  <a:cubicBezTo>
                    <a:pt x="3188430" y="342900"/>
                    <a:pt x="3185382" y="678815"/>
                    <a:pt x="3182588" y="1014603"/>
                  </a:cubicBezTo>
                  <a:lnTo>
                    <a:pt x="691991" y="1011174"/>
                  </a:lnTo>
                  <a:lnTo>
                    <a:pt x="510635" y="1011174"/>
                  </a:lnTo>
                  <a:cubicBezTo>
                    <a:pt x="500983" y="1011174"/>
                    <a:pt x="491458" y="1001649"/>
                    <a:pt x="482060" y="1001649"/>
                  </a:cubicBezTo>
                  <a:cubicBezTo>
                    <a:pt x="482060" y="992124"/>
                    <a:pt x="472154" y="992124"/>
                    <a:pt x="472154" y="992124"/>
                  </a:cubicBezTo>
                  <a:lnTo>
                    <a:pt x="14192" y="534162"/>
                  </a:lnTo>
                  <a:cubicBezTo>
                    <a:pt x="-4731" y="515112"/>
                    <a:pt x="-4731" y="496062"/>
                    <a:pt x="14192" y="476885"/>
                  </a:cubicBezTo>
                  <a:close/>
                </a:path>
              </a:pathLst>
            </a:custGeom>
            <a:solidFill>
              <a:srgbClr val="A53010"/>
            </a:solidFill>
          </p:spPr>
        </p:sp>
      </p:grpSp>
      <p:grpSp>
        <p:nvGrpSpPr>
          <p:cNvPr name="Group 8" id="8"/>
          <p:cNvGrpSpPr/>
          <p:nvPr/>
        </p:nvGrpSpPr>
        <p:grpSpPr>
          <a:xfrm rot="0">
            <a:off x="233563" y="0"/>
            <a:ext cx="2185988" cy="1864519"/>
            <a:chOff x="0" y="0"/>
            <a:chExt cx="2914650" cy="2486025"/>
          </a:xfrm>
        </p:grpSpPr>
        <p:sp>
          <p:nvSpPr>
            <p:cNvPr name="Freeform 9" id="9"/>
            <p:cNvSpPr/>
            <p:nvPr/>
          </p:nvSpPr>
          <p:spPr>
            <a:xfrm flipH="false" flipV="false" rot="0">
              <a:off x="0" y="0"/>
              <a:ext cx="2914650" cy="2486025"/>
            </a:xfrm>
            <a:custGeom>
              <a:avLst/>
              <a:gdLst/>
              <a:ahLst/>
              <a:cxnLst/>
              <a:rect r="r" b="b" t="t" l="l"/>
              <a:pathLst>
                <a:path h="2486025" w="2914650">
                  <a:moveTo>
                    <a:pt x="0" y="0"/>
                  </a:moveTo>
                  <a:lnTo>
                    <a:pt x="2914650" y="0"/>
                  </a:lnTo>
                  <a:lnTo>
                    <a:pt x="2914650" y="2486025"/>
                  </a:lnTo>
                  <a:lnTo>
                    <a:pt x="0" y="2486025"/>
                  </a:lnTo>
                  <a:lnTo>
                    <a:pt x="0" y="0"/>
                  </a:lnTo>
                  <a:close/>
                </a:path>
              </a:pathLst>
            </a:custGeom>
            <a:blipFill>
              <a:blip r:embed="rId7"/>
              <a:stretch>
                <a:fillRect l="0" t="0" r="0" b="0"/>
              </a:stretch>
            </a:blipFill>
          </p:spPr>
        </p:sp>
      </p:grpSp>
      <p:grpSp>
        <p:nvGrpSpPr>
          <p:cNvPr name="Group 10" id="10"/>
          <p:cNvGrpSpPr/>
          <p:nvPr/>
        </p:nvGrpSpPr>
        <p:grpSpPr>
          <a:xfrm rot="0">
            <a:off x="16655091" y="-591331"/>
            <a:ext cx="1525553" cy="2712101"/>
            <a:chOff x="0" y="0"/>
            <a:chExt cx="2034070" cy="3616134"/>
          </a:xfrm>
        </p:grpSpPr>
        <p:sp>
          <p:nvSpPr>
            <p:cNvPr name="Freeform 11" id="11"/>
            <p:cNvSpPr/>
            <p:nvPr/>
          </p:nvSpPr>
          <p:spPr>
            <a:xfrm flipH="false" flipV="false" rot="0">
              <a:off x="0" y="0"/>
              <a:ext cx="2034032" cy="3616071"/>
            </a:xfrm>
            <a:custGeom>
              <a:avLst/>
              <a:gdLst/>
              <a:ahLst/>
              <a:cxnLst/>
              <a:rect r="r" b="b" t="t" l="l"/>
              <a:pathLst>
                <a:path h="3616071" w="2034032">
                  <a:moveTo>
                    <a:pt x="0" y="0"/>
                  </a:moveTo>
                  <a:lnTo>
                    <a:pt x="2034032" y="0"/>
                  </a:lnTo>
                  <a:lnTo>
                    <a:pt x="2034032" y="3616071"/>
                  </a:lnTo>
                  <a:lnTo>
                    <a:pt x="0" y="3616071"/>
                  </a:lnTo>
                  <a:lnTo>
                    <a:pt x="0" y="0"/>
                  </a:lnTo>
                  <a:close/>
                </a:path>
              </a:pathLst>
            </a:custGeom>
            <a:blipFill>
              <a:blip r:embed="rId8"/>
              <a:stretch>
                <a:fillRect l="0" t="0" r="-1" b="-55"/>
              </a:stretch>
            </a:blipFill>
          </p:spPr>
        </p:sp>
      </p:grpSp>
      <p:sp>
        <p:nvSpPr>
          <p:cNvPr name="TextBox 12" id="12"/>
          <p:cNvSpPr txBox="true"/>
          <p:nvPr/>
        </p:nvSpPr>
        <p:spPr>
          <a:xfrm rot="0">
            <a:off x="3575847" y="912019"/>
            <a:ext cx="13184676" cy="952500"/>
          </a:xfrm>
          <a:prstGeom prst="rect">
            <a:avLst/>
          </a:prstGeom>
        </p:spPr>
        <p:txBody>
          <a:bodyPr anchor="t" rtlCol="false" tIns="0" lIns="0" bIns="0" rIns="0">
            <a:spAutoFit/>
          </a:bodyPr>
          <a:lstStyle/>
          <a:p>
            <a:pPr algn="l" marL="1295400" indent="-647700" lvl="1">
              <a:lnSpc>
                <a:spcPts val="7200"/>
              </a:lnSpc>
              <a:buAutoNum type="arabicPeriod" startAt="1"/>
            </a:pPr>
            <a:r>
              <a:rPr lang="en-US" sz="6000">
                <a:solidFill>
                  <a:srgbClr val="262626"/>
                </a:solidFill>
                <a:latin typeface="Times New Roman"/>
                <a:ea typeface="Times New Roman"/>
                <a:cs typeface="Times New Roman"/>
                <a:sym typeface="Times New Roman"/>
              </a:rPr>
              <a:t>Applications</a:t>
            </a:r>
          </a:p>
        </p:txBody>
      </p:sp>
      <p:sp>
        <p:nvSpPr>
          <p:cNvPr name="TextBox 13" id="13"/>
          <p:cNvSpPr txBox="true"/>
          <p:nvPr/>
        </p:nvSpPr>
        <p:spPr>
          <a:xfrm rot="0">
            <a:off x="3769271" y="2426799"/>
            <a:ext cx="12858150" cy="5945124"/>
          </a:xfrm>
          <a:prstGeom prst="rect">
            <a:avLst/>
          </a:prstGeom>
        </p:spPr>
        <p:txBody>
          <a:bodyPr anchor="t" rtlCol="false" tIns="0" lIns="0" bIns="0" rIns="0">
            <a:spAutoFit/>
          </a:bodyPr>
          <a:lstStyle/>
          <a:p>
            <a:pPr algn="l" marL="677704" indent="-338852" lvl="1">
              <a:lnSpc>
                <a:spcPts val="3933"/>
              </a:lnSpc>
              <a:buFont typeface="Arial"/>
              <a:buChar char="•"/>
            </a:pPr>
            <a:r>
              <a:rPr lang="en-US" b="true" sz="2850">
                <a:solidFill>
                  <a:srgbClr val="000000"/>
                </a:solidFill>
                <a:latin typeface="Times New Roman Bold"/>
                <a:ea typeface="Times New Roman Bold"/>
                <a:cs typeface="Times New Roman Bold"/>
                <a:sym typeface="Times New Roman Bold"/>
              </a:rPr>
              <a:t>Stu</a:t>
            </a:r>
            <a:r>
              <a:rPr lang="en-US" b="true" sz="2850">
                <a:solidFill>
                  <a:srgbClr val="000000"/>
                </a:solidFill>
                <a:latin typeface="Times New Roman Bold"/>
                <a:ea typeface="Times New Roman Bold"/>
                <a:cs typeface="Times New Roman Bold"/>
                <a:sym typeface="Times New Roman Bold"/>
              </a:rPr>
              <a:t>dent Interview Practice: </a:t>
            </a:r>
            <a:r>
              <a:rPr lang="en-US" sz="2850">
                <a:solidFill>
                  <a:srgbClr val="000000"/>
                </a:solidFill>
                <a:latin typeface="Times New Roman"/>
                <a:ea typeface="Times New Roman"/>
                <a:cs typeface="Times New Roman"/>
                <a:sym typeface="Times New Roman"/>
              </a:rPr>
              <a:t>Helps students prepare for campus placements through realistic mock interviews.</a:t>
            </a:r>
          </a:p>
          <a:p>
            <a:pPr algn="l" marL="677704" indent="-338852" lvl="1">
              <a:lnSpc>
                <a:spcPts val="3933"/>
              </a:lnSpc>
              <a:buFont typeface="Arial"/>
              <a:buChar char="•"/>
            </a:pPr>
            <a:r>
              <a:rPr lang="en-US" b="true" sz="2850">
                <a:solidFill>
                  <a:srgbClr val="000000"/>
                </a:solidFill>
                <a:latin typeface="Times New Roman Bold"/>
                <a:ea typeface="Times New Roman Bold"/>
                <a:cs typeface="Times New Roman Bold"/>
                <a:sym typeface="Times New Roman Bold"/>
              </a:rPr>
              <a:t>Job Seeker Preparation: </a:t>
            </a:r>
            <a:r>
              <a:rPr lang="en-US" sz="2850">
                <a:solidFill>
                  <a:srgbClr val="000000"/>
                </a:solidFill>
                <a:latin typeface="Times New Roman"/>
                <a:ea typeface="Times New Roman"/>
                <a:cs typeface="Times New Roman"/>
                <a:sym typeface="Times New Roman"/>
              </a:rPr>
              <a:t>Allows candidates to practice and improve responses before real job interviews.</a:t>
            </a:r>
          </a:p>
          <a:p>
            <a:pPr algn="l" marL="677704" indent="-338852" lvl="1">
              <a:lnSpc>
                <a:spcPts val="3933"/>
              </a:lnSpc>
              <a:buFont typeface="Arial"/>
              <a:buChar char="•"/>
            </a:pPr>
            <a:r>
              <a:rPr lang="en-US" b="true" sz="2850">
                <a:solidFill>
                  <a:srgbClr val="000000"/>
                </a:solidFill>
                <a:latin typeface="Times New Roman Bold"/>
                <a:ea typeface="Times New Roman Bold"/>
                <a:cs typeface="Times New Roman Bold"/>
                <a:sym typeface="Times New Roman Bold"/>
              </a:rPr>
              <a:t>Career Training Institutes: </a:t>
            </a:r>
            <a:r>
              <a:rPr lang="en-US" sz="2850">
                <a:solidFill>
                  <a:srgbClr val="000000"/>
                </a:solidFill>
                <a:latin typeface="Times New Roman"/>
                <a:ea typeface="Times New Roman"/>
                <a:cs typeface="Times New Roman"/>
                <a:sym typeface="Times New Roman"/>
              </a:rPr>
              <a:t>Supports training centers in conducting automated mock interviews for learners.</a:t>
            </a:r>
          </a:p>
          <a:p>
            <a:pPr algn="l" marL="677704" indent="-338852" lvl="1">
              <a:lnSpc>
                <a:spcPts val="3933"/>
              </a:lnSpc>
              <a:buFont typeface="Arial"/>
              <a:buChar char="•"/>
            </a:pPr>
            <a:r>
              <a:rPr lang="en-US" b="true" sz="2850">
                <a:solidFill>
                  <a:srgbClr val="000000"/>
                </a:solidFill>
                <a:latin typeface="Times New Roman Bold"/>
                <a:ea typeface="Times New Roman Bold"/>
                <a:cs typeface="Times New Roman Bold"/>
                <a:sym typeface="Times New Roman Bold"/>
              </a:rPr>
              <a:t>Skill Assessment: </a:t>
            </a:r>
            <a:r>
              <a:rPr lang="en-US" sz="2850">
                <a:solidFill>
                  <a:srgbClr val="000000"/>
                </a:solidFill>
                <a:latin typeface="Times New Roman"/>
                <a:ea typeface="Times New Roman"/>
                <a:cs typeface="Times New Roman"/>
                <a:sym typeface="Times New Roman"/>
              </a:rPr>
              <a:t>Evaluates communication, technical knowledge, and problem-solving abilities.</a:t>
            </a:r>
          </a:p>
          <a:p>
            <a:pPr algn="l" marL="677704" indent="-338852" lvl="1">
              <a:lnSpc>
                <a:spcPts val="3933"/>
              </a:lnSpc>
              <a:buFont typeface="Arial"/>
              <a:buChar char="•"/>
            </a:pPr>
            <a:r>
              <a:rPr lang="en-US" b="true" sz="2850">
                <a:solidFill>
                  <a:srgbClr val="000000"/>
                </a:solidFill>
                <a:latin typeface="Times New Roman Bold"/>
                <a:ea typeface="Times New Roman Bold"/>
                <a:cs typeface="Times New Roman Bold"/>
                <a:sym typeface="Times New Roman Bold"/>
              </a:rPr>
              <a:t>Communication Improvement: </a:t>
            </a:r>
            <a:r>
              <a:rPr lang="en-US" sz="2850">
                <a:solidFill>
                  <a:srgbClr val="000000"/>
                </a:solidFill>
                <a:latin typeface="Times New Roman"/>
                <a:ea typeface="Times New Roman"/>
                <a:cs typeface="Times New Roman"/>
                <a:sym typeface="Times New Roman"/>
              </a:rPr>
              <a:t>Enhances speaking clarity, confidence, and structured answering skills.</a:t>
            </a:r>
          </a:p>
          <a:p>
            <a:pPr algn="l" marL="677704" indent="-338852" lvl="1">
              <a:lnSpc>
                <a:spcPts val="3933"/>
              </a:lnSpc>
              <a:buFont typeface="Arial"/>
              <a:buChar char="•"/>
            </a:pPr>
            <a:r>
              <a:rPr lang="en-US" b="true" sz="2850">
                <a:solidFill>
                  <a:srgbClr val="000000"/>
                </a:solidFill>
                <a:latin typeface="Times New Roman Bold"/>
                <a:ea typeface="Times New Roman Bold"/>
                <a:cs typeface="Times New Roman Bold"/>
                <a:sym typeface="Times New Roman Bold"/>
              </a:rPr>
              <a:t>Self-Learning Platform: </a:t>
            </a:r>
            <a:r>
              <a:rPr lang="en-US" sz="2850">
                <a:solidFill>
                  <a:srgbClr val="000000"/>
                </a:solidFill>
                <a:latin typeface="Times New Roman"/>
                <a:ea typeface="Times New Roman"/>
                <a:cs typeface="Times New Roman"/>
                <a:sym typeface="Times New Roman"/>
              </a:rPr>
              <a:t>Enables users to practice interviews anytime without needing a mentor</a:t>
            </a:r>
            <a:r>
              <a:rPr lang="en-US" b="true" sz="2850">
                <a:solidFill>
                  <a:srgbClr val="000000"/>
                </a:solidFill>
                <a:latin typeface="Times New Roman Bold"/>
                <a:ea typeface="Times New Roman Bold"/>
                <a:cs typeface="Times New Roman Bold"/>
                <a:sym typeface="Times New Roman Bold"/>
              </a:rPr>
              <a:t>.</a:t>
            </a:r>
          </a:p>
        </p:txBody>
      </p:sp>
      <p:grpSp>
        <p:nvGrpSpPr>
          <p:cNvPr name="Group 14" id="14"/>
          <p:cNvGrpSpPr/>
          <p:nvPr/>
        </p:nvGrpSpPr>
        <p:grpSpPr>
          <a:xfrm rot="0">
            <a:off x="16833047" y="9507236"/>
            <a:ext cx="1169651" cy="547688"/>
            <a:chOff x="0" y="0"/>
            <a:chExt cx="1559535" cy="730250"/>
          </a:xfrm>
        </p:grpSpPr>
        <p:sp>
          <p:nvSpPr>
            <p:cNvPr name="Freeform 15" id="15"/>
            <p:cNvSpPr/>
            <p:nvPr/>
          </p:nvSpPr>
          <p:spPr>
            <a:xfrm flipH="false" flipV="false" rot="0">
              <a:off x="0" y="0"/>
              <a:ext cx="1559534" cy="730250"/>
            </a:xfrm>
            <a:custGeom>
              <a:avLst/>
              <a:gdLst/>
              <a:ahLst/>
              <a:cxnLst/>
              <a:rect r="r" b="b" t="t" l="l"/>
              <a:pathLst>
                <a:path h="730250" w="1559534">
                  <a:moveTo>
                    <a:pt x="0" y="0"/>
                  </a:moveTo>
                  <a:lnTo>
                    <a:pt x="1559534" y="0"/>
                  </a:lnTo>
                  <a:lnTo>
                    <a:pt x="1559534" y="730250"/>
                  </a:lnTo>
                  <a:lnTo>
                    <a:pt x="0" y="730250"/>
                  </a:lnTo>
                  <a:close/>
                </a:path>
              </a:pathLst>
            </a:custGeom>
            <a:blipFill>
              <a:blip r:embed="rId9">
                <a:alphaModFix amt="0"/>
              </a:blip>
              <a:stretch>
                <a:fillRect l="-10077" t="0" r="-10078" b="0"/>
              </a:stretch>
            </a:blipFill>
          </p:spPr>
        </p:sp>
        <p:sp>
          <p:nvSpPr>
            <p:cNvPr name="TextBox 16" id="16"/>
            <p:cNvSpPr txBox="true"/>
            <p:nvPr/>
          </p:nvSpPr>
          <p:spPr>
            <a:xfrm>
              <a:off x="0" y="0"/>
              <a:ext cx="1559535" cy="730250"/>
            </a:xfrm>
            <a:prstGeom prst="rect">
              <a:avLst/>
            </a:prstGeom>
          </p:spPr>
          <p:txBody>
            <a:bodyPr anchor="ctr" rtlCol="false" tIns="0" lIns="0" bIns="0" rIns="0"/>
            <a:lstStyle/>
            <a:p>
              <a:pPr algn="r">
                <a:lnSpc>
                  <a:spcPts val="3600"/>
                </a:lnSpc>
              </a:pPr>
              <a:r>
                <a:rPr lang="en-US" sz="3000">
                  <a:solidFill>
                    <a:srgbClr val="FFFFFF"/>
                  </a:solidFill>
                  <a:latin typeface="Century Gothic Paneuropean"/>
                  <a:ea typeface="Century Gothic Paneuropean"/>
                  <a:cs typeface="Century Gothic Paneuropean"/>
                  <a:sym typeface="Century Gothic Paneuropean"/>
                </a:rPr>
                <a:t>10</a:t>
              </a:r>
            </a:p>
          </p:txBody>
        </p:sp>
      </p:gr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FFFFF">
                <a:alpha val="100000"/>
              </a:srgbClr>
            </a:gs>
            <a:gs pos="100000">
              <a:srgbClr val="DDE6C3">
                <a:alpha val="100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sp>
        <p:nvSpPr>
          <p:cNvPr name="Freeform 2" id="2"/>
          <p:cNvSpPr/>
          <p:nvPr/>
        </p:nvSpPr>
        <p:spPr>
          <a:xfrm flipH="false" flipV="false" rot="0">
            <a:off x="1" y="342900"/>
            <a:ext cx="4277277" cy="9957940"/>
          </a:xfrm>
          <a:custGeom>
            <a:avLst/>
            <a:gdLst/>
            <a:ahLst/>
            <a:cxnLst/>
            <a:rect r="r" b="b" t="t" l="l"/>
            <a:pathLst>
              <a:path h="9957940" w="4277277">
                <a:moveTo>
                  <a:pt x="0" y="0"/>
                </a:moveTo>
                <a:lnTo>
                  <a:pt x="4277278" y="0"/>
                </a:lnTo>
                <a:lnTo>
                  <a:pt x="4277278" y="9957940"/>
                </a:lnTo>
                <a:lnTo>
                  <a:pt x="0" y="995794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0">
            <a:off x="40834" y="-1181"/>
            <a:ext cx="3535013" cy="10281056"/>
          </a:xfrm>
          <a:custGeom>
            <a:avLst/>
            <a:gdLst/>
            <a:ahLst/>
            <a:cxnLst/>
            <a:rect r="r" b="b" t="t" l="l"/>
            <a:pathLst>
              <a:path h="10281056" w="3535013">
                <a:moveTo>
                  <a:pt x="0" y="0"/>
                </a:moveTo>
                <a:lnTo>
                  <a:pt x="3535013" y="0"/>
                </a:lnTo>
                <a:lnTo>
                  <a:pt x="3535013" y="10281056"/>
                </a:lnTo>
                <a:lnTo>
                  <a:pt x="0" y="1028105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4" id="4"/>
          <p:cNvGrpSpPr/>
          <p:nvPr/>
        </p:nvGrpSpPr>
        <p:grpSpPr>
          <a:xfrm rot="0">
            <a:off x="0" y="0"/>
            <a:ext cx="274320" cy="10287000"/>
            <a:chOff x="0" y="0"/>
            <a:chExt cx="365760" cy="13716000"/>
          </a:xfrm>
        </p:grpSpPr>
        <p:sp>
          <p:nvSpPr>
            <p:cNvPr name="Freeform 5" id="5"/>
            <p:cNvSpPr/>
            <p:nvPr/>
          </p:nvSpPr>
          <p:spPr>
            <a:xfrm flipH="false" flipV="false" rot="0">
              <a:off x="0" y="0"/>
              <a:ext cx="365760" cy="13716000"/>
            </a:xfrm>
            <a:custGeom>
              <a:avLst/>
              <a:gdLst/>
              <a:ahLst/>
              <a:cxnLst/>
              <a:rect r="r" b="b" t="t" l="l"/>
              <a:pathLst>
                <a:path h="13716000" w="365760">
                  <a:moveTo>
                    <a:pt x="0" y="0"/>
                  </a:moveTo>
                  <a:lnTo>
                    <a:pt x="365760" y="0"/>
                  </a:lnTo>
                  <a:lnTo>
                    <a:pt x="365760" y="13716000"/>
                  </a:lnTo>
                  <a:lnTo>
                    <a:pt x="0" y="13716000"/>
                  </a:lnTo>
                  <a:close/>
                </a:path>
              </a:pathLst>
            </a:custGeom>
            <a:solidFill>
              <a:srgbClr val="766F54"/>
            </a:solidFill>
          </p:spPr>
        </p:sp>
      </p:grpSp>
      <p:grpSp>
        <p:nvGrpSpPr>
          <p:cNvPr name="Group 6" id="6"/>
          <p:cNvGrpSpPr/>
          <p:nvPr/>
        </p:nvGrpSpPr>
        <p:grpSpPr>
          <a:xfrm rot="0">
            <a:off x="15881785" y="9370781"/>
            <a:ext cx="2382793" cy="760943"/>
            <a:chOff x="0" y="0"/>
            <a:chExt cx="3177057" cy="1014590"/>
          </a:xfrm>
        </p:grpSpPr>
        <p:sp>
          <p:nvSpPr>
            <p:cNvPr name="Freeform 7" id="7"/>
            <p:cNvSpPr/>
            <p:nvPr/>
          </p:nvSpPr>
          <p:spPr>
            <a:xfrm flipH="false" flipV="false" rot="0">
              <a:off x="-14192" y="0"/>
              <a:ext cx="3191224" cy="1014603"/>
            </a:xfrm>
            <a:custGeom>
              <a:avLst/>
              <a:gdLst/>
              <a:ahLst/>
              <a:cxnLst/>
              <a:rect r="r" b="b" t="t" l="l"/>
              <a:pathLst>
                <a:path h="1014603" w="3191224">
                  <a:moveTo>
                    <a:pt x="14192" y="477012"/>
                  </a:moveTo>
                  <a:lnTo>
                    <a:pt x="472154" y="19050"/>
                  </a:lnTo>
                  <a:cubicBezTo>
                    <a:pt x="475202" y="15748"/>
                    <a:pt x="479012" y="12700"/>
                    <a:pt x="482060" y="9525"/>
                  </a:cubicBezTo>
                  <a:cubicBezTo>
                    <a:pt x="491331" y="0"/>
                    <a:pt x="500983" y="0"/>
                    <a:pt x="510635" y="0"/>
                  </a:cubicBezTo>
                  <a:lnTo>
                    <a:pt x="691991" y="0"/>
                  </a:lnTo>
                  <a:lnTo>
                    <a:pt x="3191224" y="7112"/>
                  </a:lnTo>
                  <a:cubicBezTo>
                    <a:pt x="3188430" y="342900"/>
                    <a:pt x="3185382" y="678815"/>
                    <a:pt x="3182588" y="1014603"/>
                  </a:cubicBezTo>
                  <a:lnTo>
                    <a:pt x="691991" y="1011174"/>
                  </a:lnTo>
                  <a:lnTo>
                    <a:pt x="510635" y="1011174"/>
                  </a:lnTo>
                  <a:cubicBezTo>
                    <a:pt x="500983" y="1011174"/>
                    <a:pt x="491458" y="1001649"/>
                    <a:pt x="482060" y="1001649"/>
                  </a:cubicBezTo>
                  <a:cubicBezTo>
                    <a:pt x="482060" y="992124"/>
                    <a:pt x="472154" y="992124"/>
                    <a:pt x="472154" y="992124"/>
                  </a:cubicBezTo>
                  <a:lnTo>
                    <a:pt x="14192" y="534162"/>
                  </a:lnTo>
                  <a:cubicBezTo>
                    <a:pt x="-4731" y="515112"/>
                    <a:pt x="-4731" y="496062"/>
                    <a:pt x="14192" y="476885"/>
                  </a:cubicBezTo>
                  <a:close/>
                </a:path>
              </a:pathLst>
            </a:custGeom>
            <a:solidFill>
              <a:srgbClr val="A53010"/>
            </a:solidFill>
          </p:spPr>
        </p:sp>
      </p:grpSp>
      <p:grpSp>
        <p:nvGrpSpPr>
          <p:cNvPr name="Group 8" id="8"/>
          <p:cNvGrpSpPr/>
          <p:nvPr/>
        </p:nvGrpSpPr>
        <p:grpSpPr>
          <a:xfrm rot="0">
            <a:off x="233563" y="0"/>
            <a:ext cx="2185988" cy="1864519"/>
            <a:chOff x="0" y="0"/>
            <a:chExt cx="2914650" cy="2486025"/>
          </a:xfrm>
        </p:grpSpPr>
        <p:sp>
          <p:nvSpPr>
            <p:cNvPr name="Freeform 9" id="9"/>
            <p:cNvSpPr/>
            <p:nvPr/>
          </p:nvSpPr>
          <p:spPr>
            <a:xfrm flipH="false" flipV="false" rot="0">
              <a:off x="0" y="0"/>
              <a:ext cx="2914650" cy="2486025"/>
            </a:xfrm>
            <a:custGeom>
              <a:avLst/>
              <a:gdLst/>
              <a:ahLst/>
              <a:cxnLst/>
              <a:rect r="r" b="b" t="t" l="l"/>
              <a:pathLst>
                <a:path h="2486025" w="2914650">
                  <a:moveTo>
                    <a:pt x="0" y="0"/>
                  </a:moveTo>
                  <a:lnTo>
                    <a:pt x="2914650" y="0"/>
                  </a:lnTo>
                  <a:lnTo>
                    <a:pt x="2914650" y="2486025"/>
                  </a:lnTo>
                  <a:lnTo>
                    <a:pt x="0" y="2486025"/>
                  </a:lnTo>
                  <a:lnTo>
                    <a:pt x="0" y="0"/>
                  </a:lnTo>
                  <a:close/>
                </a:path>
              </a:pathLst>
            </a:custGeom>
            <a:blipFill>
              <a:blip r:embed="rId7"/>
              <a:stretch>
                <a:fillRect l="0" t="0" r="0" b="0"/>
              </a:stretch>
            </a:blipFill>
          </p:spPr>
        </p:sp>
      </p:grpSp>
      <p:grpSp>
        <p:nvGrpSpPr>
          <p:cNvPr name="Group 10" id="10"/>
          <p:cNvGrpSpPr/>
          <p:nvPr/>
        </p:nvGrpSpPr>
        <p:grpSpPr>
          <a:xfrm rot="0">
            <a:off x="16655091" y="-591331"/>
            <a:ext cx="1525553" cy="2712101"/>
            <a:chOff x="0" y="0"/>
            <a:chExt cx="2034070" cy="3616134"/>
          </a:xfrm>
        </p:grpSpPr>
        <p:sp>
          <p:nvSpPr>
            <p:cNvPr name="Freeform 11" id="11"/>
            <p:cNvSpPr/>
            <p:nvPr/>
          </p:nvSpPr>
          <p:spPr>
            <a:xfrm flipH="false" flipV="false" rot="0">
              <a:off x="0" y="0"/>
              <a:ext cx="2034032" cy="3616071"/>
            </a:xfrm>
            <a:custGeom>
              <a:avLst/>
              <a:gdLst/>
              <a:ahLst/>
              <a:cxnLst/>
              <a:rect r="r" b="b" t="t" l="l"/>
              <a:pathLst>
                <a:path h="3616071" w="2034032">
                  <a:moveTo>
                    <a:pt x="0" y="0"/>
                  </a:moveTo>
                  <a:lnTo>
                    <a:pt x="2034032" y="0"/>
                  </a:lnTo>
                  <a:lnTo>
                    <a:pt x="2034032" y="3616071"/>
                  </a:lnTo>
                  <a:lnTo>
                    <a:pt x="0" y="3616071"/>
                  </a:lnTo>
                  <a:lnTo>
                    <a:pt x="0" y="0"/>
                  </a:lnTo>
                  <a:close/>
                </a:path>
              </a:pathLst>
            </a:custGeom>
            <a:blipFill>
              <a:blip r:embed="rId8"/>
              <a:stretch>
                <a:fillRect l="0" t="0" r="-1" b="-55"/>
              </a:stretch>
            </a:blipFill>
          </p:spPr>
        </p:sp>
      </p:grpSp>
      <p:sp>
        <p:nvSpPr>
          <p:cNvPr name="TextBox 12" id="12"/>
          <p:cNvSpPr txBox="true"/>
          <p:nvPr/>
        </p:nvSpPr>
        <p:spPr>
          <a:xfrm rot="0">
            <a:off x="3980812" y="943766"/>
            <a:ext cx="13184676" cy="1868033"/>
          </a:xfrm>
          <a:prstGeom prst="rect">
            <a:avLst/>
          </a:prstGeom>
        </p:spPr>
        <p:txBody>
          <a:bodyPr anchor="t" rtlCol="false" tIns="0" lIns="0" bIns="0" rIns="0">
            <a:spAutoFit/>
          </a:bodyPr>
          <a:lstStyle/>
          <a:p>
            <a:pPr algn="l">
              <a:lnSpc>
                <a:spcPts val="7200"/>
              </a:lnSpc>
            </a:pPr>
            <a:r>
              <a:rPr lang="en-US" sz="6000">
                <a:solidFill>
                  <a:srgbClr val="262626"/>
                </a:solidFill>
                <a:latin typeface="Times New Roman"/>
                <a:ea typeface="Times New Roman"/>
                <a:cs typeface="Times New Roman"/>
                <a:sym typeface="Times New Roman"/>
              </a:rPr>
              <a:t>GitHub Link</a:t>
            </a:r>
          </a:p>
        </p:txBody>
      </p:sp>
      <p:sp>
        <p:nvSpPr>
          <p:cNvPr name="TextBox 13" id="13"/>
          <p:cNvSpPr txBox="true"/>
          <p:nvPr/>
        </p:nvSpPr>
        <p:spPr>
          <a:xfrm rot="0">
            <a:off x="3390409" y="2783224"/>
            <a:ext cx="14027458" cy="571500"/>
          </a:xfrm>
          <a:prstGeom prst="rect">
            <a:avLst/>
          </a:prstGeom>
        </p:spPr>
        <p:txBody>
          <a:bodyPr anchor="t" rtlCol="false" tIns="0" lIns="0" bIns="0" rIns="0">
            <a:spAutoFit/>
          </a:bodyPr>
          <a:lstStyle/>
          <a:p>
            <a:pPr algn="l">
              <a:lnSpc>
                <a:spcPts val="4320"/>
              </a:lnSpc>
            </a:pPr>
            <a:r>
              <a:rPr lang="en-US" sz="3600" u="sng">
                <a:solidFill>
                  <a:srgbClr val="FB4A18"/>
                </a:solidFill>
                <a:latin typeface="Times New Roman"/>
                <a:ea typeface="Times New Roman"/>
                <a:cs typeface="Times New Roman"/>
                <a:sym typeface="Times New Roman"/>
                <a:hlinkClick r:id="rId9" tooltip="https://github.com/Yuvi25Jain/AI-Mock-Interview-with-Streaming-Avatar"/>
              </a:rPr>
              <a:t>https://github.com/Yuvi25Jain/AI-Mock-Interview-with-Streaming-Avatar</a:t>
            </a:r>
          </a:p>
        </p:txBody>
      </p:sp>
      <p:grpSp>
        <p:nvGrpSpPr>
          <p:cNvPr name="Group 14" id="14"/>
          <p:cNvGrpSpPr/>
          <p:nvPr/>
        </p:nvGrpSpPr>
        <p:grpSpPr>
          <a:xfrm rot="0">
            <a:off x="16833047" y="9507236"/>
            <a:ext cx="1169651" cy="547688"/>
            <a:chOff x="0" y="0"/>
            <a:chExt cx="1559535" cy="730250"/>
          </a:xfrm>
        </p:grpSpPr>
        <p:sp>
          <p:nvSpPr>
            <p:cNvPr name="Freeform 15" id="15"/>
            <p:cNvSpPr/>
            <p:nvPr/>
          </p:nvSpPr>
          <p:spPr>
            <a:xfrm flipH="false" flipV="false" rot="0">
              <a:off x="0" y="0"/>
              <a:ext cx="1559534" cy="730250"/>
            </a:xfrm>
            <a:custGeom>
              <a:avLst/>
              <a:gdLst/>
              <a:ahLst/>
              <a:cxnLst/>
              <a:rect r="r" b="b" t="t" l="l"/>
              <a:pathLst>
                <a:path h="730250" w="1559534">
                  <a:moveTo>
                    <a:pt x="0" y="0"/>
                  </a:moveTo>
                  <a:lnTo>
                    <a:pt x="1559534" y="0"/>
                  </a:lnTo>
                  <a:lnTo>
                    <a:pt x="1559534" y="730250"/>
                  </a:lnTo>
                  <a:lnTo>
                    <a:pt x="0" y="730250"/>
                  </a:lnTo>
                  <a:close/>
                </a:path>
              </a:pathLst>
            </a:custGeom>
            <a:blipFill>
              <a:blip r:embed="rId10">
                <a:alphaModFix amt="0"/>
              </a:blip>
              <a:stretch>
                <a:fillRect l="-10077" t="0" r="-10078" b="0"/>
              </a:stretch>
            </a:blipFill>
          </p:spPr>
        </p:sp>
        <p:sp>
          <p:nvSpPr>
            <p:cNvPr name="TextBox 16" id="16"/>
            <p:cNvSpPr txBox="true"/>
            <p:nvPr/>
          </p:nvSpPr>
          <p:spPr>
            <a:xfrm>
              <a:off x="0" y="0"/>
              <a:ext cx="1559535" cy="730250"/>
            </a:xfrm>
            <a:prstGeom prst="rect">
              <a:avLst/>
            </a:prstGeom>
          </p:spPr>
          <p:txBody>
            <a:bodyPr anchor="ctr" rtlCol="false" tIns="0" lIns="0" bIns="0" rIns="0"/>
            <a:lstStyle/>
            <a:p>
              <a:pPr algn="r">
                <a:lnSpc>
                  <a:spcPts val="3600"/>
                </a:lnSpc>
              </a:pPr>
              <a:r>
                <a:rPr lang="en-US" sz="3000">
                  <a:solidFill>
                    <a:srgbClr val="FFFFFF"/>
                  </a:solidFill>
                  <a:latin typeface="Century Gothic Paneuropean"/>
                  <a:ea typeface="Century Gothic Paneuropean"/>
                  <a:cs typeface="Century Gothic Paneuropean"/>
                  <a:sym typeface="Century Gothic Paneuropean"/>
                </a:rPr>
                <a:t>11</a:t>
              </a:r>
            </a:p>
          </p:txBody>
        </p:sp>
      </p:gr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FFFFF">
                <a:alpha val="100000"/>
              </a:srgbClr>
            </a:gs>
            <a:gs pos="100000">
              <a:srgbClr val="DDE6C3">
                <a:alpha val="100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sp>
        <p:nvSpPr>
          <p:cNvPr name="Freeform 2" id="2"/>
          <p:cNvSpPr/>
          <p:nvPr/>
        </p:nvSpPr>
        <p:spPr>
          <a:xfrm flipH="false" flipV="false" rot="0">
            <a:off x="1" y="342900"/>
            <a:ext cx="4277277" cy="9957940"/>
          </a:xfrm>
          <a:custGeom>
            <a:avLst/>
            <a:gdLst/>
            <a:ahLst/>
            <a:cxnLst/>
            <a:rect r="r" b="b" t="t" l="l"/>
            <a:pathLst>
              <a:path h="9957940" w="4277277">
                <a:moveTo>
                  <a:pt x="0" y="0"/>
                </a:moveTo>
                <a:lnTo>
                  <a:pt x="4277278" y="0"/>
                </a:lnTo>
                <a:lnTo>
                  <a:pt x="4277278" y="9957940"/>
                </a:lnTo>
                <a:lnTo>
                  <a:pt x="0" y="995794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0">
            <a:off x="40834" y="-1181"/>
            <a:ext cx="3535013" cy="10281056"/>
          </a:xfrm>
          <a:custGeom>
            <a:avLst/>
            <a:gdLst/>
            <a:ahLst/>
            <a:cxnLst/>
            <a:rect r="r" b="b" t="t" l="l"/>
            <a:pathLst>
              <a:path h="10281056" w="3535013">
                <a:moveTo>
                  <a:pt x="0" y="0"/>
                </a:moveTo>
                <a:lnTo>
                  <a:pt x="3535013" y="0"/>
                </a:lnTo>
                <a:lnTo>
                  <a:pt x="3535013" y="10281056"/>
                </a:lnTo>
                <a:lnTo>
                  <a:pt x="0" y="1028105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4" id="4"/>
          <p:cNvGrpSpPr/>
          <p:nvPr/>
        </p:nvGrpSpPr>
        <p:grpSpPr>
          <a:xfrm rot="0">
            <a:off x="0" y="0"/>
            <a:ext cx="274320" cy="10287000"/>
            <a:chOff x="0" y="0"/>
            <a:chExt cx="365760" cy="13716000"/>
          </a:xfrm>
        </p:grpSpPr>
        <p:sp>
          <p:nvSpPr>
            <p:cNvPr name="Freeform 5" id="5"/>
            <p:cNvSpPr/>
            <p:nvPr/>
          </p:nvSpPr>
          <p:spPr>
            <a:xfrm flipH="false" flipV="false" rot="0">
              <a:off x="0" y="0"/>
              <a:ext cx="365760" cy="13716000"/>
            </a:xfrm>
            <a:custGeom>
              <a:avLst/>
              <a:gdLst/>
              <a:ahLst/>
              <a:cxnLst/>
              <a:rect r="r" b="b" t="t" l="l"/>
              <a:pathLst>
                <a:path h="13716000" w="365760">
                  <a:moveTo>
                    <a:pt x="0" y="0"/>
                  </a:moveTo>
                  <a:lnTo>
                    <a:pt x="365760" y="0"/>
                  </a:lnTo>
                  <a:lnTo>
                    <a:pt x="365760" y="13716000"/>
                  </a:lnTo>
                  <a:lnTo>
                    <a:pt x="0" y="13716000"/>
                  </a:lnTo>
                  <a:close/>
                </a:path>
              </a:pathLst>
            </a:custGeom>
            <a:solidFill>
              <a:srgbClr val="766F54"/>
            </a:solidFill>
          </p:spPr>
        </p:sp>
      </p:grpSp>
      <p:grpSp>
        <p:nvGrpSpPr>
          <p:cNvPr name="Group 6" id="6"/>
          <p:cNvGrpSpPr/>
          <p:nvPr/>
        </p:nvGrpSpPr>
        <p:grpSpPr>
          <a:xfrm rot="0">
            <a:off x="15881785" y="9370781"/>
            <a:ext cx="2382793" cy="760943"/>
            <a:chOff x="0" y="0"/>
            <a:chExt cx="3177057" cy="1014590"/>
          </a:xfrm>
        </p:grpSpPr>
        <p:sp>
          <p:nvSpPr>
            <p:cNvPr name="Freeform 7" id="7"/>
            <p:cNvSpPr/>
            <p:nvPr/>
          </p:nvSpPr>
          <p:spPr>
            <a:xfrm flipH="false" flipV="false" rot="0">
              <a:off x="-14192" y="0"/>
              <a:ext cx="3191224" cy="1014603"/>
            </a:xfrm>
            <a:custGeom>
              <a:avLst/>
              <a:gdLst/>
              <a:ahLst/>
              <a:cxnLst/>
              <a:rect r="r" b="b" t="t" l="l"/>
              <a:pathLst>
                <a:path h="1014603" w="3191224">
                  <a:moveTo>
                    <a:pt x="14192" y="477012"/>
                  </a:moveTo>
                  <a:lnTo>
                    <a:pt x="472154" y="19050"/>
                  </a:lnTo>
                  <a:cubicBezTo>
                    <a:pt x="475202" y="15748"/>
                    <a:pt x="479012" y="12700"/>
                    <a:pt x="482060" y="9525"/>
                  </a:cubicBezTo>
                  <a:cubicBezTo>
                    <a:pt x="491331" y="0"/>
                    <a:pt x="500983" y="0"/>
                    <a:pt x="510635" y="0"/>
                  </a:cubicBezTo>
                  <a:lnTo>
                    <a:pt x="691991" y="0"/>
                  </a:lnTo>
                  <a:lnTo>
                    <a:pt x="3191224" y="7112"/>
                  </a:lnTo>
                  <a:cubicBezTo>
                    <a:pt x="3188430" y="342900"/>
                    <a:pt x="3185382" y="678815"/>
                    <a:pt x="3182588" y="1014603"/>
                  </a:cubicBezTo>
                  <a:lnTo>
                    <a:pt x="691991" y="1011174"/>
                  </a:lnTo>
                  <a:lnTo>
                    <a:pt x="510635" y="1011174"/>
                  </a:lnTo>
                  <a:cubicBezTo>
                    <a:pt x="500983" y="1011174"/>
                    <a:pt x="491458" y="1001649"/>
                    <a:pt x="482060" y="1001649"/>
                  </a:cubicBezTo>
                  <a:cubicBezTo>
                    <a:pt x="482060" y="992124"/>
                    <a:pt x="472154" y="992124"/>
                    <a:pt x="472154" y="992124"/>
                  </a:cubicBezTo>
                  <a:lnTo>
                    <a:pt x="14192" y="534162"/>
                  </a:lnTo>
                  <a:cubicBezTo>
                    <a:pt x="-4731" y="515112"/>
                    <a:pt x="-4731" y="496062"/>
                    <a:pt x="14192" y="476885"/>
                  </a:cubicBezTo>
                  <a:close/>
                </a:path>
              </a:pathLst>
            </a:custGeom>
            <a:solidFill>
              <a:srgbClr val="A53010"/>
            </a:solidFill>
          </p:spPr>
        </p:sp>
      </p:grpSp>
      <p:grpSp>
        <p:nvGrpSpPr>
          <p:cNvPr name="Group 8" id="8"/>
          <p:cNvGrpSpPr/>
          <p:nvPr/>
        </p:nvGrpSpPr>
        <p:grpSpPr>
          <a:xfrm rot="0">
            <a:off x="233563" y="0"/>
            <a:ext cx="2185988" cy="1864519"/>
            <a:chOff x="0" y="0"/>
            <a:chExt cx="2914650" cy="2486025"/>
          </a:xfrm>
        </p:grpSpPr>
        <p:sp>
          <p:nvSpPr>
            <p:cNvPr name="Freeform 9" id="9"/>
            <p:cNvSpPr/>
            <p:nvPr/>
          </p:nvSpPr>
          <p:spPr>
            <a:xfrm flipH="false" flipV="false" rot="0">
              <a:off x="0" y="0"/>
              <a:ext cx="2914650" cy="2486025"/>
            </a:xfrm>
            <a:custGeom>
              <a:avLst/>
              <a:gdLst/>
              <a:ahLst/>
              <a:cxnLst/>
              <a:rect r="r" b="b" t="t" l="l"/>
              <a:pathLst>
                <a:path h="2486025" w="2914650">
                  <a:moveTo>
                    <a:pt x="0" y="0"/>
                  </a:moveTo>
                  <a:lnTo>
                    <a:pt x="2914650" y="0"/>
                  </a:lnTo>
                  <a:lnTo>
                    <a:pt x="2914650" y="2486025"/>
                  </a:lnTo>
                  <a:lnTo>
                    <a:pt x="0" y="2486025"/>
                  </a:lnTo>
                  <a:lnTo>
                    <a:pt x="0" y="0"/>
                  </a:lnTo>
                  <a:close/>
                </a:path>
              </a:pathLst>
            </a:custGeom>
            <a:blipFill>
              <a:blip r:embed="rId7"/>
              <a:stretch>
                <a:fillRect l="0" t="0" r="0" b="0"/>
              </a:stretch>
            </a:blipFill>
          </p:spPr>
        </p:sp>
      </p:grpSp>
      <p:grpSp>
        <p:nvGrpSpPr>
          <p:cNvPr name="Group 10" id="10"/>
          <p:cNvGrpSpPr/>
          <p:nvPr/>
        </p:nvGrpSpPr>
        <p:grpSpPr>
          <a:xfrm rot="0">
            <a:off x="16655091" y="-591331"/>
            <a:ext cx="1525553" cy="2712101"/>
            <a:chOff x="0" y="0"/>
            <a:chExt cx="2034070" cy="3616134"/>
          </a:xfrm>
        </p:grpSpPr>
        <p:sp>
          <p:nvSpPr>
            <p:cNvPr name="Freeform 11" id="11"/>
            <p:cNvSpPr/>
            <p:nvPr/>
          </p:nvSpPr>
          <p:spPr>
            <a:xfrm flipH="false" flipV="false" rot="0">
              <a:off x="0" y="0"/>
              <a:ext cx="2034032" cy="3616071"/>
            </a:xfrm>
            <a:custGeom>
              <a:avLst/>
              <a:gdLst/>
              <a:ahLst/>
              <a:cxnLst/>
              <a:rect r="r" b="b" t="t" l="l"/>
              <a:pathLst>
                <a:path h="3616071" w="2034032">
                  <a:moveTo>
                    <a:pt x="0" y="0"/>
                  </a:moveTo>
                  <a:lnTo>
                    <a:pt x="2034032" y="0"/>
                  </a:lnTo>
                  <a:lnTo>
                    <a:pt x="2034032" y="3616071"/>
                  </a:lnTo>
                  <a:lnTo>
                    <a:pt x="0" y="3616071"/>
                  </a:lnTo>
                  <a:lnTo>
                    <a:pt x="0" y="0"/>
                  </a:lnTo>
                  <a:close/>
                </a:path>
              </a:pathLst>
            </a:custGeom>
            <a:blipFill>
              <a:blip r:embed="rId8"/>
              <a:stretch>
                <a:fillRect l="0" t="0" r="-1" b="-55"/>
              </a:stretch>
            </a:blipFill>
          </p:spPr>
        </p:sp>
      </p:grpSp>
      <p:sp>
        <p:nvSpPr>
          <p:cNvPr name="TextBox 12" id="12"/>
          <p:cNvSpPr txBox="true"/>
          <p:nvPr/>
        </p:nvSpPr>
        <p:spPr>
          <a:xfrm rot="0">
            <a:off x="3980812" y="943766"/>
            <a:ext cx="13184676" cy="1868033"/>
          </a:xfrm>
          <a:prstGeom prst="rect">
            <a:avLst/>
          </a:prstGeom>
        </p:spPr>
        <p:txBody>
          <a:bodyPr anchor="t" rtlCol="false" tIns="0" lIns="0" bIns="0" rIns="0">
            <a:spAutoFit/>
          </a:bodyPr>
          <a:lstStyle/>
          <a:p>
            <a:pPr algn="l">
              <a:lnSpc>
                <a:spcPts val="7200"/>
              </a:lnSpc>
            </a:pPr>
            <a:r>
              <a:rPr lang="en-US" sz="6000">
                <a:solidFill>
                  <a:srgbClr val="262626"/>
                </a:solidFill>
                <a:latin typeface="Times New Roman"/>
                <a:ea typeface="Times New Roman"/>
                <a:cs typeface="Times New Roman"/>
                <a:sym typeface="Times New Roman"/>
              </a:rPr>
              <a:t>REFERENCES</a:t>
            </a:r>
          </a:p>
        </p:txBody>
      </p:sp>
      <p:sp>
        <p:nvSpPr>
          <p:cNvPr name="TextBox 13" id="13"/>
          <p:cNvSpPr txBox="true"/>
          <p:nvPr/>
        </p:nvSpPr>
        <p:spPr>
          <a:xfrm rot="0">
            <a:off x="3511286" y="2136315"/>
            <a:ext cx="13654202" cy="7644765"/>
          </a:xfrm>
          <a:prstGeom prst="rect">
            <a:avLst/>
          </a:prstGeom>
        </p:spPr>
        <p:txBody>
          <a:bodyPr anchor="t" rtlCol="false" tIns="0" lIns="0" bIns="0" rIns="0">
            <a:spAutoFit/>
          </a:bodyPr>
          <a:lstStyle/>
          <a:p>
            <a:pPr algn="l" marL="709422" indent="-354711" lvl="1">
              <a:lnSpc>
                <a:spcPts val="2879"/>
              </a:lnSpc>
              <a:buFont typeface="Arial"/>
              <a:buChar char="•"/>
            </a:pPr>
            <a:r>
              <a:rPr lang="en-US" sz="3000">
                <a:solidFill>
                  <a:srgbClr val="000000"/>
                </a:solidFill>
                <a:latin typeface="Times New Roman"/>
                <a:ea typeface="Times New Roman"/>
                <a:cs typeface="Times New Roman"/>
                <a:sym typeface="Times New Roman"/>
              </a:rPr>
              <a:t>S</a:t>
            </a:r>
            <a:r>
              <a:rPr lang="en-US" sz="3000">
                <a:solidFill>
                  <a:srgbClr val="000000"/>
                </a:solidFill>
                <a:latin typeface="Times New Roman"/>
                <a:ea typeface="Times New Roman"/>
                <a:cs typeface="Times New Roman"/>
                <a:sym typeface="Times New Roman"/>
              </a:rPr>
              <a:t>. S. Sagare, S. D. Shelke, and S. V. Anekar. (2025). Review Paper on AI-Driven Mock Interview System. Available: Springer Professional / Journal of Advances in Artificial Intelligence and Financial Research</a:t>
            </a:r>
          </a:p>
          <a:p>
            <a:pPr algn="l">
              <a:lnSpc>
                <a:spcPts val="2879"/>
              </a:lnSpc>
            </a:pPr>
          </a:p>
          <a:p>
            <a:pPr algn="l" marL="709422" indent="-354711" lvl="1">
              <a:lnSpc>
                <a:spcPts val="2879"/>
              </a:lnSpc>
              <a:buFont typeface="Arial"/>
              <a:buChar char="•"/>
            </a:pPr>
            <a:r>
              <a:rPr lang="en-US" sz="3000">
                <a:solidFill>
                  <a:srgbClr val="000000"/>
                </a:solidFill>
                <a:latin typeface="Times New Roman"/>
                <a:ea typeface="Times New Roman"/>
                <a:cs typeface="Times New Roman"/>
                <a:sym typeface="Times New Roman"/>
              </a:rPr>
              <a:t>Ayush Modanval, Ankitha Mohan, Nabeel Ahmed Khan, </a:t>
            </a:r>
            <a:r>
              <a:rPr lang="en-US" sz="3000">
                <a:solidFill>
                  <a:srgbClr val="000000"/>
                </a:solidFill>
                <a:latin typeface="Times New Roman"/>
                <a:ea typeface="Times New Roman"/>
                <a:cs typeface="Times New Roman"/>
                <a:sym typeface="Times New Roman"/>
              </a:rPr>
              <a:t>and Payal Koolwal. (2025). Mock Interview Platform with a Real-Time AI Voice Agent . Available: International Journal of Scientific Research in Engineering and Management</a:t>
            </a:r>
          </a:p>
          <a:p>
            <a:pPr algn="l">
              <a:lnSpc>
                <a:spcPts val="2879"/>
              </a:lnSpc>
            </a:pPr>
          </a:p>
          <a:p>
            <a:pPr algn="l" marL="709422" indent="-354711" lvl="1">
              <a:lnSpc>
                <a:spcPts val="2879"/>
              </a:lnSpc>
              <a:buFont typeface="Arial"/>
              <a:buChar char="•"/>
            </a:pPr>
            <a:r>
              <a:rPr lang="en-US" sz="3000">
                <a:solidFill>
                  <a:srgbClr val="000000"/>
                </a:solidFill>
                <a:latin typeface="Times New Roman"/>
                <a:ea typeface="Times New Roman"/>
                <a:cs typeface="Times New Roman"/>
                <a:sym typeface="Times New Roman"/>
              </a:rPr>
              <a:t>Mohd Adnan Ahmed, Shashank BS, Munmeeth K, and Sanjay J Ganiga. (2025). AI-Driven Mock Interviews: A Catalyst for Enhanced Interview Preparation . Available: International Journal of Science, Engineering and Technology</a:t>
            </a:r>
          </a:p>
          <a:p>
            <a:pPr algn="l">
              <a:lnSpc>
                <a:spcPts val="2879"/>
              </a:lnSpc>
            </a:pPr>
          </a:p>
          <a:p>
            <a:pPr algn="l" marL="647700" indent="-323850" lvl="1">
              <a:lnSpc>
                <a:spcPts val="2879"/>
              </a:lnSpc>
              <a:buFont typeface="Arial"/>
              <a:buChar char="•"/>
            </a:pPr>
            <a:r>
              <a:rPr lang="en-US" sz="3000">
                <a:solidFill>
                  <a:srgbClr val="000000"/>
                </a:solidFill>
                <a:latin typeface="Times New Roman"/>
                <a:ea typeface="Times New Roman"/>
                <a:cs typeface="Times New Roman"/>
                <a:sym typeface="Times New Roman"/>
              </a:rPr>
              <a:t>G. Ramachandra Rao, Bijjamula Chakradhar Reddy, Anne Srinivas Kalyan, Goli Keerthi Priya, and Kanakamedala Rajesh. (2025). AI-Powered Mock Interview Preparation . Available: International Journal for Modern Trends in Science and Technology</a:t>
            </a:r>
          </a:p>
          <a:p>
            <a:pPr algn="l">
              <a:lnSpc>
                <a:spcPts val="2879"/>
              </a:lnSpc>
            </a:pPr>
          </a:p>
          <a:p>
            <a:pPr algn="l" marL="647700" indent="-323850" lvl="1">
              <a:lnSpc>
                <a:spcPts val="2879"/>
              </a:lnSpc>
              <a:buFont typeface="Arial"/>
              <a:buChar char="•"/>
            </a:pPr>
            <a:r>
              <a:rPr lang="en-US" sz="3000">
                <a:solidFill>
                  <a:srgbClr val="000000"/>
                </a:solidFill>
                <a:latin typeface="Times New Roman"/>
                <a:ea typeface="Times New Roman"/>
                <a:cs typeface="Times New Roman"/>
                <a:sym typeface="Times New Roman"/>
              </a:rPr>
              <a:t>Nguyen, T. T. H., N. M. Nguyen, and T. H. Truong.(2025). SimInterview: Large Language Model-Based Simulated Interview Training System . Available: arXiv Research Paper</a:t>
            </a:r>
          </a:p>
          <a:p>
            <a:pPr algn="l" marL="709612" indent="-354806" lvl="1">
              <a:lnSpc>
                <a:spcPts val="2879"/>
              </a:lnSpc>
            </a:pPr>
          </a:p>
        </p:txBody>
      </p:sp>
      <p:grpSp>
        <p:nvGrpSpPr>
          <p:cNvPr name="Group 14" id="14"/>
          <p:cNvGrpSpPr/>
          <p:nvPr/>
        </p:nvGrpSpPr>
        <p:grpSpPr>
          <a:xfrm rot="0">
            <a:off x="16833047" y="9507236"/>
            <a:ext cx="1169651" cy="547688"/>
            <a:chOff x="0" y="0"/>
            <a:chExt cx="1559535" cy="730250"/>
          </a:xfrm>
        </p:grpSpPr>
        <p:sp>
          <p:nvSpPr>
            <p:cNvPr name="Freeform 15" id="15"/>
            <p:cNvSpPr/>
            <p:nvPr/>
          </p:nvSpPr>
          <p:spPr>
            <a:xfrm flipH="false" flipV="false" rot="0">
              <a:off x="0" y="0"/>
              <a:ext cx="1559534" cy="730250"/>
            </a:xfrm>
            <a:custGeom>
              <a:avLst/>
              <a:gdLst/>
              <a:ahLst/>
              <a:cxnLst/>
              <a:rect r="r" b="b" t="t" l="l"/>
              <a:pathLst>
                <a:path h="730250" w="1559534">
                  <a:moveTo>
                    <a:pt x="0" y="0"/>
                  </a:moveTo>
                  <a:lnTo>
                    <a:pt x="1559534" y="0"/>
                  </a:lnTo>
                  <a:lnTo>
                    <a:pt x="1559534" y="730250"/>
                  </a:lnTo>
                  <a:lnTo>
                    <a:pt x="0" y="730250"/>
                  </a:lnTo>
                  <a:close/>
                </a:path>
              </a:pathLst>
            </a:custGeom>
            <a:blipFill>
              <a:blip r:embed="rId9">
                <a:alphaModFix amt="0"/>
              </a:blip>
              <a:stretch>
                <a:fillRect l="-10077" t="0" r="-10078" b="0"/>
              </a:stretch>
            </a:blipFill>
          </p:spPr>
        </p:sp>
        <p:sp>
          <p:nvSpPr>
            <p:cNvPr name="TextBox 16" id="16"/>
            <p:cNvSpPr txBox="true"/>
            <p:nvPr/>
          </p:nvSpPr>
          <p:spPr>
            <a:xfrm>
              <a:off x="0" y="0"/>
              <a:ext cx="1559535" cy="730250"/>
            </a:xfrm>
            <a:prstGeom prst="rect">
              <a:avLst/>
            </a:prstGeom>
          </p:spPr>
          <p:txBody>
            <a:bodyPr anchor="ctr" rtlCol="false" tIns="0" lIns="0" bIns="0" rIns="0"/>
            <a:lstStyle/>
            <a:p>
              <a:pPr algn="r">
                <a:lnSpc>
                  <a:spcPts val="3600"/>
                </a:lnSpc>
              </a:pPr>
              <a:r>
                <a:rPr lang="en-US" sz="3000">
                  <a:solidFill>
                    <a:srgbClr val="FFFFFF"/>
                  </a:solidFill>
                  <a:latin typeface="Century Gothic Paneuropean"/>
                  <a:ea typeface="Century Gothic Paneuropean"/>
                  <a:cs typeface="Century Gothic Paneuropean"/>
                  <a:sym typeface="Century Gothic Paneuropean"/>
                </a:rPr>
                <a:t>12</a:t>
              </a:r>
            </a:p>
          </p:txBody>
        </p:sp>
      </p:gr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FFFFF">
                <a:alpha val="100000"/>
              </a:srgbClr>
            </a:gs>
            <a:gs pos="100000">
              <a:srgbClr val="DDE6C3">
                <a:alpha val="100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sp>
        <p:nvSpPr>
          <p:cNvPr name="Freeform 2" id="2"/>
          <p:cNvSpPr/>
          <p:nvPr/>
        </p:nvSpPr>
        <p:spPr>
          <a:xfrm flipH="false" flipV="false" rot="0">
            <a:off x="1" y="342900"/>
            <a:ext cx="4277277" cy="9957940"/>
          </a:xfrm>
          <a:custGeom>
            <a:avLst/>
            <a:gdLst/>
            <a:ahLst/>
            <a:cxnLst/>
            <a:rect r="r" b="b" t="t" l="l"/>
            <a:pathLst>
              <a:path h="9957940" w="4277277">
                <a:moveTo>
                  <a:pt x="0" y="0"/>
                </a:moveTo>
                <a:lnTo>
                  <a:pt x="4277278" y="0"/>
                </a:lnTo>
                <a:lnTo>
                  <a:pt x="4277278" y="9957940"/>
                </a:lnTo>
                <a:lnTo>
                  <a:pt x="0" y="995794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0">
            <a:off x="40834" y="-1181"/>
            <a:ext cx="3535013" cy="10281056"/>
          </a:xfrm>
          <a:custGeom>
            <a:avLst/>
            <a:gdLst/>
            <a:ahLst/>
            <a:cxnLst/>
            <a:rect r="r" b="b" t="t" l="l"/>
            <a:pathLst>
              <a:path h="10281056" w="3535013">
                <a:moveTo>
                  <a:pt x="0" y="0"/>
                </a:moveTo>
                <a:lnTo>
                  <a:pt x="3535013" y="0"/>
                </a:lnTo>
                <a:lnTo>
                  <a:pt x="3535013" y="10281056"/>
                </a:lnTo>
                <a:lnTo>
                  <a:pt x="0" y="1028105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4" id="4"/>
          <p:cNvGrpSpPr/>
          <p:nvPr/>
        </p:nvGrpSpPr>
        <p:grpSpPr>
          <a:xfrm rot="0">
            <a:off x="0" y="0"/>
            <a:ext cx="274320" cy="10287000"/>
            <a:chOff x="0" y="0"/>
            <a:chExt cx="365760" cy="13716000"/>
          </a:xfrm>
        </p:grpSpPr>
        <p:sp>
          <p:nvSpPr>
            <p:cNvPr name="Freeform 5" id="5"/>
            <p:cNvSpPr/>
            <p:nvPr/>
          </p:nvSpPr>
          <p:spPr>
            <a:xfrm flipH="false" flipV="false" rot="0">
              <a:off x="0" y="0"/>
              <a:ext cx="365760" cy="13716000"/>
            </a:xfrm>
            <a:custGeom>
              <a:avLst/>
              <a:gdLst/>
              <a:ahLst/>
              <a:cxnLst/>
              <a:rect r="r" b="b" t="t" l="l"/>
              <a:pathLst>
                <a:path h="13716000" w="365760">
                  <a:moveTo>
                    <a:pt x="0" y="0"/>
                  </a:moveTo>
                  <a:lnTo>
                    <a:pt x="365760" y="0"/>
                  </a:lnTo>
                  <a:lnTo>
                    <a:pt x="365760" y="13716000"/>
                  </a:lnTo>
                  <a:lnTo>
                    <a:pt x="0" y="13716000"/>
                  </a:lnTo>
                  <a:close/>
                </a:path>
              </a:pathLst>
            </a:custGeom>
            <a:solidFill>
              <a:srgbClr val="766F54"/>
            </a:solidFill>
          </p:spPr>
        </p:sp>
      </p:grpSp>
      <p:grpSp>
        <p:nvGrpSpPr>
          <p:cNvPr name="Group 6" id="6"/>
          <p:cNvGrpSpPr/>
          <p:nvPr/>
        </p:nvGrpSpPr>
        <p:grpSpPr>
          <a:xfrm rot="0">
            <a:off x="15881785" y="9370781"/>
            <a:ext cx="2382793" cy="760943"/>
            <a:chOff x="0" y="0"/>
            <a:chExt cx="3177057" cy="1014590"/>
          </a:xfrm>
        </p:grpSpPr>
        <p:sp>
          <p:nvSpPr>
            <p:cNvPr name="Freeform 7" id="7"/>
            <p:cNvSpPr/>
            <p:nvPr/>
          </p:nvSpPr>
          <p:spPr>
            <a:xfrm flipH="false" flipV="false" rot="0">
              <a:off x="-14192" y="0"/>
              <a:ext cx="3191224" cy="1014603"/>
            </a:xfrm>
            <a:custGeom>
              <a:avLst/>
              <a:gdLst/>
              <a:ahLst/>
              <a:cxnLst/>
              <a:rect r="r" b="b" t="t" l="l"/>
              <a:pathLst>
                <a:path h="1014603" w="3191224">
                  <a:moveTo>
                    <a:pt x="14192" y="477012"/>
                  </a:moveTo>
                  <a:lnTo>
                    <a:pt x="472154" y="19050"/>
                  </a:lnTo>
                  <a:cubicBezTo>
                    <a:pt x="475202" y="15748"/>
                    <a:pt x="479012" y="12700"/>
                    <a:pt x="482060" y="9525"/>
                  </a:cubicBezTo>
                  <a:cubicBezTo>
                    <a:pt x="491331" y="0"/>
                    <a:pt x="500983" y="0"/>
                    <a:pt x="510635" y="0"/>
                  </a:cubicBezTo>
                  <a:lnTo>
                    <a:pt x="691991" y="0"/>
                  </a:lnTo>
                  <a:lnTo>
                    <a:pt x="3191224" y="7112"/>
                  </a:lnTo>
                  <a:cubicBezTo>
                    <a:pt x="3188430" y="342900"/>
                    <a:pt x="3185382" y="678815"/>
                    <a:pt x="3182588" y="1014603"/>
                  </a:cubicBezTo>
                  <a:lnTo>
                    <a:pt x="691991" y="1011174"/>
                  </a:lnTo>
                  <a:lnTo>
                    <a:pt x="510635" y="1011174"/>
                  </a:lnTo>
                  <a:cubicBezTo>
                    <a:pt x="500983" y="1011174"/>
                    <a:pt x="491458" y="1001649"/>
                    <a:pt x="482060" y="1001649"/>
                  </a:cubicBezTo>
                  <a:cubicBezTo>
                    <a:pt x="482060" y="992124"/>
                    <a:pt x="472154" y="992124"/>
                    <a:pt x="472154" y="992124"/>
                  </a:cubicBezTo>
                  <a:lnTo>
                    <a:pt x="14192" y="534162"/>
                  </a:lnTo>
                  <a:cubicBezTo>
                    <a:pt x="-4731" y="515112"/>
                    <a:pt x="-4731" y="496062"/>
                    <a:pt x="14192" y="476885"/>
                  </a:cubicBezTo>
                  <a:close/>
                </a:path>
              </a:pathLst>
            </a:custGeom>
            <a:solidFill>
              <a:srgbClr val="A53010"/>
            </a:solidFill>
          </p:spPr>
        </p:sp>
      </p:grpSp>
      <p:grpSp>
        <p:nvGrpSpPr>
          <p:cNvPr name="Group 8" id="8"/>
          <p:cNvGrpSpPr/>
          <p:nvPr/>
        </p:nvGrpSpPr>
        <p:grpSpPr>
          <a:xfrm rot="0">
            <a:off x="233563" y="0"/>
            <a:ext cx="2185988" cy="1864519"/>
            <a:chOff x="0" y="0"/>
            <a:chExt cx="2914650" cy="2486025"/>
          </a:xfrm>
        </p:grpSpPr>
        <p:sp>
          <p:nvSpPr>
            <p:cNvPr name="Freeform 9" id="9"/>
            <p:cNvSpPr/>
            <p:nvPr/>
          </p:nvSpPr>
          <p:spPr>
            <a:xfrm flipH="false" flipV="false" rot="0">
              <a:off x="0" y="0"/>
              <a:ext cx="2914650" cy="2486025"/>
            </a:xfrm>
            <a:custGeom>
              <a:avLst/>
              <a:gdLst/>
              <a:ahLst/>
              <a:cxnLst/>
              <a:rect r="r" b="b" t="t" l="l"/>
              <a:pathLst>
                <a:path h="2486025" w="2914650">
                  <a:moveTo>
                    <a:pt x="0" y="0"/>
                  </a:moveTo>
                  <a:lnTo>
                    <a:pt x="2914650" y="0"/>
                  </a:lnTo>
                  <a:lnTo>
                    <a:pt x="2914650" y="2486025"/>
                  </a:lnTo>
                  <a:lnTo>
                    <a:pt x="0" y="2486025"/>
                  </a:lnTo>
                  <a:lnTo>
                    <a:pt x="0" y="0"/>
                  </a:lnTo>
                  <a:close/>
                </a:path>
              </a:pathLst>
            </a:custGeom>
            <a:blipFill>
              <a:blip r:embed="rId7"/>
              <a:stretch>
                <a:fillRect l="0" t="0" r="0" b="0"/>
              </a:stretch>
            </a:blipFill>
          </p:spPr>
        </p:sp>
      </p:grpSp>
      <p:grpSp>
        <p:nvGrpSpPr>
          <p:cNvPr name="Group 10" id="10"/>
          <p:cNvGrpSpPr/>
          <p:nvPr/>
        </p:nvGrpSpPr>
        <p:grpSpPr>
          <a:xfrm rot="0">
            <a:off x="16655091" y="-591331"/>
            <a:ext cx="1525553" cy="2712101"/>
            <a:chOff x="0" y="0"/>
            <a:chExt cx="2034070" cy="3616134"/>
          </a:xfrm>
        </p:grpSpPr>
        <p:sp>
          <p:nvSpPr>
            <p:cNvPr name="Freeform 11" id="11"/>
            <p:cNvSpPr/>
            <p:nvPr/>
          </p:nvSpPr>
          <p:spPr>
            <a:xfrm flipH="false" flipV="false" rot="0">
              <a:off x="0" y="0"/>
              <a:ext cx="2034032" cy="3616071"/>
            </a:xfrm>
            <a:custGeom>
              <a:avLst/>
              <a:gdLst/>
              <a:ahLst/>
              <a:cxnLst/>
              <a:rect r="r" b="b" t="t" l="l"/>
              <a:pathLst>
                <a:path h="3616071" w="2034032">
                  <a:moveTo>
                    <a:pt x="0" y="0"/>
                  </a:moveTo>
                  <a:lnTo>
                    <a:pt x="2034032" y="0"/>
                  </a:lnTo>
                  <a:lnTo>
                    <a:pt x="2034032" y="3616071"/>
                  </a:lnTo>
                  <a:lnTo>
                    <a:pt x="0" y="3616071"/>
                  </a:lnTo>
                  <a:lnTo>
                    <a:pt x="0" y="0"/>
                  </a:lnTo>
                  <a:close/>
                </a:path>
              </a:pathLst>
            </a:custGeom>
            <a:blipFill>
              <a:blip r:embed="rId8"/>
              <a:stretch>
                <a:fillRect l="0" t="0" r="-1" b="-55"/>
              </a:stretch>
            </a:blipFill>
          </p:spPr>
        </p:sp>
      </p:grpSp>
      <p:grpSp>
        <p:nvGrpSpPr>
          <p:cNvPr name="Group 12" id="12"/>
          <p:cNvGrpSpPr/>
          <p:nvPr/>
        </p:nvGrpSpPr>
        <p:grpSpPr>
          <a:xfrm rot="0">
            <a:off x="16833047" y="9507236"/>
            <a:ext cx="1169651" cy="547688"/>
            <a:chOff x="0" y="0"/>
            <a:chExt cx="1559535" cy="730250"/>
          </a:xfrm>
        </p:grpSpPr>
        <p:sp>
          <p:nvSpPr>
            <p:cNvPr name="Freeform 13" id="13"/>
            <p:cNvSpPr/>
            <p:nvPr/>
          </p:nvSpPr>
          <p:spPr>
            <a:xfrm flipH="false" flipV="false" rot="0">
              <a:off x="0" y="0"/>
              <a:ext cx="1559534" cy="730250"/>
            </a:xfrm>
            <a:custGeom>
              <a:avLst/>
              <a:gdLst/>
              <a:ahLst/>
              <a:cxnLst/>
              <a:rect r="r" b="b" t="t" l="l"/>
              <a:pathLst>
                <a:path h="730250" w="1559534">
                  <a:moveTo>
                    <a:pt x="0" y="0"/>
                  </a:moveTo>
                  <a:lnTo>
                    <a:pt x="1559534" y="0"/>
                  </a:lnTo>
                  <a:lnTo>
                    <a:pt x="1559534" y="730250"/>
                  </a:lnTo>
                  <a:lnTo>
                    <a:pt x="0" y="730250"/>
                  </a:lnTo>
                  <a:close/>
                </a:path>
              </a:pathLst>
            </a:custGeom>
            <a:blipFill>
              <a:blip r:embed="rId9">
                <a:alphaModFix amt="0"/>
              </a:blip>
              <a:stretch>
                <a:fillRect l="-10077" t="0" r="-10078" b="0"/>
              </a:stretch>
            </a:blipFill>
          </p:spPr>
        </p:sp>
        <p:sp>
          <p:nvSpPr>
            <p:cNvPr name="TextBox 14" id="14"/>
            <p:cNvSpPr txBox="true"/>
            <p:nvPr/>
          </p:nvSpPr>
          <p:spPr>
            <a:xfrm>
              <a:off x="0" y="0"/>
              <a:ext cx="1559535" cy="730250"/>
            </a:xfrm>
            <a:prstGeom prst="rect">
              <a:avLst/>
            </a:prstGeom>
          </p:spPr>
          <p:txBody>
            <a:bodyPr anchor="ctr" rtlCol="false" tIns="0" lIns="0" bIns="0" rIns="0"/>
            <a:lstStyle/>
            <a:p>
              <a:pPr algn="r">
                <a:lnSpc>
                  <a:spcPts val="3600"/>
                </a:lnSpc>
              </a:pPr>
              <a:r>
                <a:rPr lang="en-US" sz="3000">
                  <a:solidFill>
                    <a:srgbClr val="FFFFFF"/>
                  </a:solidFill>
                  <a:latin typeface="Century Gothic Paneuropean"/>
                  <a:ea typeface="Century Gothic Paneuropean"/>
                  <a:cs typeface="Century Gothic Paneuropean"/>
                  <a:sym typeface="Century Gothic Paneuropean"/>
                </a:rPr>
                <a:t>13</a:t>
              </a:r>
            </a:p>
          </p:txBody>
        </p:sp>
      </p:grpSp>
      <p:sp>
        <p:nvSpPr>
          <p:cNvPr name="TextBox 15" id="15"/>
          <p:cNvSpPr txBox="true"/>
          <p:nvPr/>
        </p:nvSpPr>
        <p:spPr>
          <a:xfrm rot="0">
            <a:off x="6500089" y="2718149"/>
            <a:ext cx="5287804" cy="1303230"/>
          </a:xfrm>
          <a:prstGeom prst="rect">
            <a:avLst/>
          </a:prstGeom>
        </p:spPr>
        <p:txBody>
          <a:bodyPr anchor="t" rtlCol="false" tIns="0" lIns="0" bIns="0" rIns="0">
            <a:spAutoFit/>
          </a:bodyPr>
          <a:lstStyle/>
          <a:p>
            <a:pPr algn="ctr">
              <a:lnSpc>
                <a:spcPts val="9720"/>
              </a:lnSpc>
            </a:pPr>
            <a:r>
              <a:rPr lang="en-US" b="true" sz="8100">
                <a:solidFill>
                  <a:srgbClr val="000000"/>
                </a:solidFill>
                <a:latin typeface="Century Gothic Paneuropean Bold"/>
                <a:ea typeface="Century Gothic Paneuropean Bold"/>
                <a:cs typeface="Century Gothic Paneuropean Bold"/>
                <a:sym typeface="Century Gothic Paneuropean Bold"/>
              </a:rPr>
              <a:t>Thank You</a:t>
            </a:r>
          </a:p>
        </p:txBody>
      </p:sp>
      <p:sp>
        <p:nvSpPr>
          <p:cNvPr name="TextBox 16" id="16"/>
          <p:cNvSpPr txBox="true"/>
          <p:nvPr/>
        </p:nvSpPr>
        <p:spPr>
          <a:xfrm rot="0">
            <a:off x="2934430" y="5347602"/>
            <a:ext cx="13855824" cy="1266825"/>
          </a:xfrm>
          <a:prstGeom prst="rect">
            <a:avLst/>
          </a:prstGeom>
        </p:spPr>
        <p:txBody>
          <a:bodyPr anchor="t" rtlCol="false" tIns="0" lIns="0" bIns="0" rIns="0">
            <a:spAutoFit/>
          </a:bodyPr>
          <a:lstStyle/>
          <a:p>
            <a:pPr algn="ctr">
              <a:lnSpc>
                <a:spcPts val="9720"/>
              </a:lnSpc>
            </a:pPr>
            <a:r>
              <a:rPr lang="en-US" sz="8100">
                <a:solidFill>
                  <a:srgbClr val="A53010"/>
                </a:solidFill>
                <a:latin typeface="Times New Roman"/>
                <a:ea typeface="Times New Roman"/>
                <a:cs typeface="Times New Roman"/>
                <a:sym typeface="Times New Roman"/>
              </a:rPr>
              <a:t>We are open to suggestions now..</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DAHGde67FxU</dc:identifier>
  <dcterms:modified xsi:type="dcterms:W3CDTF">2011-08-01T06:04:30Z</dcterms:modified>
  <cp:revision>1</cp:revision>
  <dc:title>3a3e0fc7-e711-425d-9ccb-51b811fc9693.pptx</dc:title>
</cp:coreProperties>
</file>