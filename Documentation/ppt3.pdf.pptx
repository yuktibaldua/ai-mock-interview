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Times New Roman" charset="1" panose="02020603050405020304"/>
      <p:regular r:id="rId20"/>
    </p:embeddedFont>
    <p:embeddedFont>
      <p:font typeface="Times New Roman Bold" charset="1" panose="02020803070505020304"/>
      <p:regular r:id="rId21"/>
    </p:embeddedFont>
    <p:embeddedFont>
      <p:font typeface="Century Gothic Paneuropean" charset="1" panose="020B0502020202020204"/>
      <p:regular r:id="rId22"/>
    </p:embeddedFont>
    <p:embeddedFont>
      <p:font typeface="Century Gothic Paneuropean Bold" charset="1" panose="020B07020202020202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300590" y="0"/>
            <a:ext cx="1763554" cy="2603230"/>
            <a:chOff x="0" y="0"/>
            <a:chExt cx="2351405" cy="34709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51405" cy="3470910"/>
            </a:xfrm>
            <a:custGeom>
              <a:avLst/>
              <a:gdLst/>
              <a:ahLst/>
              <a:cxnLst/>
              <a:rect r="r" b="b" t="t" l="l"/>
              <a:pathLst>
                <a:path h="3470910" w="2351405">
                  <a:moveTo>
                    <a:pt x="0" y="0"/>
                  </a:moveTo>
                  <a:lnTo>
                    <a:pt x="2351405" y="0"/>
                  </a:lnTo>
                  <a:lnTo>
                    <a:pt x="2351405" y="3470910"/>
                  </a:lnTo>
                  <a:lnTo>
                    <a:pt x="0" y="3470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0407" r="-1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32965" y="1"/>
            <a:ext cx="2428999" cy="2072735"/>
            <a:chOff x="0" y="0"/>
            <a:chExt cx="3238665" cy="276364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38627" cy="2763647"/>
            </a:xfrm>
            <a:custGeom>
              <a:avLst/>
              <a:gdLst/>
              <a:ahLst/>
              <a:cxnLst/>
              <a:rect r="r" b="b" t="t" l="l"/>
              <a:pathLst>
                <a:path h="2763647" w="3238627">
                  <a:moveTo>
                    <a:pt x="0" y="0"/>
                  </a:moveTo>
                  <a:lnTo>
                    <a:pt x="3238627" y="0"/>
                  </a:lnTo>
                  <a:lnTo>
                    <a:pt x="3238627" y="2763647"/>
                  </a:lnTo>
                  <a:lnTo>
                    <a:pt x="0" y="27636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4404274" cy="10413997"/>
            <a:chOff x="0" y="0"/>
            <a:chExt cx="4404271" cy="1041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4267" y="63500"/>
              <a:ext cx="3535042" cy="10279888"/>
            </a:xfrm>
            <a:custGeom>
              <a:avLst/>
              <a:gdLst/>
              <a:ahLst/>
              <a:cxnLst/>
              <a:rect r="r" b="b" t="t" l="l"/>
              <a:pathLst>
                <a:path h="10279888" w="3535042">
                  <a:moveTo>
                    <a:pt x="0" y="0"/>
                  </a:moveTo>
                  <a:lnTo>
                    <a:pt x="0" y="10279888"/>
                  </a:lnTo>
                  <a:lnTo>
                    <a:pt x="3535042" y="10279888"/>
                  </a:lnTo>
                  <a:lnTo>
                    <a:pt x="35350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406400"/>
              <a:ext cx="4277230" cy="9944100"/>
            </a:xfrm>
            <a:custGeom>
              <a:avLst/>
              <a:gdLst/>
              <a:ahLst/>
              <a:cxnLst/>
              <a:rect r="r" b="b" t="t" l="l"/>
              <a:pathLst>
                <a:path h="9944100" w="4277230">
                  <a:moveTo>
                    <a:pt x="0" y="0"/>
                  </a:moveTo>
                  <a:lnTo>
                    <a:pt x="0" y="9944100"/>
                  </a:lnTo>
                  <a:lnTo>
                    <a:pt x="4277230" y="9944100"/>
                  </a:lnTo>
                  <a:lnTo>
                    <a:pt x="42772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776546" y="1984810"/>
            <a:ext cx="15472324" cy="3450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50"/>
              </a:lnSpc>
            </a:pPr>
            <a:r>
              <a:rPr lang="en-US" sz="4184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 Presentation III</a:t>
            </a:r>
          </a:p>
          <a:p>
            <a:pPr algn="ctr">
              <a:lnSpc>
                <a:spcPts val="4950"/>
              </a:lnSpc>
            </a:pPr>
            <a:r>
              <a:rPr lang="en-US" sz="4184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 </a:t>
            </a:r>
          </a:p>
          <a:p>
            <a:pPr algn="ctr">
              <a:lnSpc>
                <a:spcPts val="8624"/>
              </a:lnSpc>
            </a:pPr>
            <a:r>
              <a:rPr lang="en-US" sz="729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</a:t>
            </a:r>
            <a:r>
              <a:rPr lang="en-US" sz="729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 Mock Interview with </a:t>
            </a:r>
          </a:p>
          <a:p>
            <a:pPr algn="ctr">
              <a:lnSpc>
                <a:spcPts val="8624"/>
              </a:lnSpc>
            </a:pPr>
            <a:r>
              <a:rPr lang="en-US" sz="729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Avatar”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19102" y="6315304"/>
            <a:ext cx="1856270" cy="41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76097" y="6699437"/>
            <a:ext cx="4602261" cy="59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Siya Purohit(0827IT231134)</a:t>
            </a:r>
          </a:p>
          <a:p>
            <a:pPr algn="l">
              <a:lnSpc>
                <a:spcPts val="2251"/>
              </a:lnSpc>
            </a:pPr>
            <a:r>
              <a:rPr lang="en-US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Tulja Vishwakarma (0827IT231142)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19102" y="7270937"/>
            <a:ext cx="4498429" cy="596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4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Yukti Baldua (0827IT231153) Yuvanshi Bhalawat(0827IT231154)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62914" y="6315304"/>
            <a:ext cx="4510235" cy="155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56"/>
              </a:lnSpc>
              <a:spcBef>
                <a:spcPct val="0"/>
              </a:spcBef>
            </a:pPr>
            <a:r>
              <a:rPr lang="en-US" b="true" sz="218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Internal Mentor:</a:t>
            </a:r>
          </a:p>
          <a:p>
            <a:pPr algn="just">
              <a:lnSpc>
                <a:spcPts val="3056"/>
              </a:lnSpc>
              <a:spcBef>
                <a:spcPct val="0"/>
              </a:spcBef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Prof. Pawan Kumar Gupta</a:t>
            </a:r>
          </a:p>
          <a:p>
            <a:pPr algn="just">
              <a:lnSpc>
                <a:spcPts val="3056"/>
              </a:lnSpc>
              <a:spcBef>
                <a:spcPct val="0"/>
              </a:spcBef>
            </a:pPr>
            <a:r>
              <a:rPr lang="en-US" b="true" sz="218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External Mentor:</a:t>
            </a:r>
          </a:p>
          <a:p>
            <a:pPr algn="just">
              <a:lnSpc>
                <a:spcPts val="3056"/>
              </a:lnSpc>
              <a:spcBef>
                <a:spcPct val="0"/>
              </a:spcBef>
            </a:pPr>
            <a:r>
              <a:rPr lang="en-US" sz="218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Mrs. Kalpana Paliwal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4404274" cy="10413997"/>
            <a:chOff x="0" y="0"/>
            <a:chExt cx="4404271" cy="1041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4267" y="63500"/>
              <a:ext cx="3535042" cy="10279888"/>
            </a:xfrm>
            <a:custGeom>
              <a:avLst/>
              <a:gdLst/>
              <a:ahLst/>
              <a:cxnLst/>
              <a:rect r="r" b="b" t="t" l="l"/>
              <a:pathLst>
                <a:path h="10279888" w="3535042">
                  <a:moveTo>
                    <a:pt x="0" y="0"/>
                  </a:moveTo>
                  <a:lnTo>
                    <a:pt x="0" y="10279888"/>
                  </a:lnTo>
                  <a:lnTo>
                    <a:pt x="3535042" y="10279888"/>
                  </a:lnTo>
                  <a:lnTo>
                    <a:pt x="35350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406400"/>
              <a:ext cx="4277230" cy="9944100"/>
            </a:xfrm>
            <a:custGeom>
              <a:avLst/>
              <a:gdLst/>
              <a:ahLst/>
              <a:cxnLst/>
              <a:rect r="r" b="b" t="t" l="l"/>
              <a:pathLst>
                <a:path h="9944100" w="4277230">
                  <a:moveTo>
                    <a:pt x="0" y="0"/>
                  </a:moveTo>
                  <a:lnTo>
                    <a:pt x="0" y="9944100"/>
                  </a:lnTo>
                  <a:lnTo>
                    <a:pt x="4277230" y="9944100"/>
                  </a:lnTo>
                  <a:lnTo>
                    <a:pt x="42772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975240" y="675122"/>
            <a:ext cx="2763603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70819" y="2255710"/>
            <a:ext cx="7721298" cy="4640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2"/>
              </a:lnSpc>
            </a:pPr>
            <a:r>
              <a:rPr lang="en-US" sz="4699" spc="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1.Problem Statement</a:t>
            </a:r>
          </a:p>
          <a:p>
            <a:pPr algn="l">
              <a:lnSpc>
                <a:spcPts val="4502"/>
              </a:lnSpc>
            </a:pPr>
            <a:r>
              <a:rPr lang="en-US" sz="4699" spc="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2.Existing Solution Limitations 3.Proposed Solution Overview 4. Solution features</a:t>
            </a:r>
          </a:p>
          <a:p>
            <a:pPr algn="l">
              <a:lnSpc>
                <a:spcPts val="4502"/>
              </a:lnSpc>
            </a:pPr>
            <a:r>
              <a:rPr lang="en-US" sz="4699" spc="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Methdology</a:t>
            </a:r>
          </a:p>
          <a:p>
            <a:pPr algn="l">
              <a:lnSpc>
                <a:spcPts val="4502"/>
              </a:lnSpc>
            </a:pPr>
            <a:r>
              <a:rPr lang="en-US" sz="4699" spc="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6.Result </a:t>
            </a:r>
          </a:p>
          <a:p>
            <a:pPr algn="l">
              <a:lnSpc>
                <a:spcPts val="4502"/>
              </a:lnSpc>
            </a:pPr>
            <a:r>
              <a:rPr lang="en-US" sz="4699" spc="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7.Future Scope</a:t>
            </a:r>
          </a:p>
          <a:p>
            <a:pPr algn="l">
              <a:lnSpc>
                <a:spcPts val="4502"/>
              </a:lnSpc>
            </a:pPr>
            <a:r>
              <a:rPr lang="en-US" sz="4699" spc="28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Conclusion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97835" y="7077075"/>
            <a:ext cx="2828925" cy="3209925"/>
            <a:chOff x="0" y="0"/>
            <a:chExt cx="3771900" cy="4279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71900" cy="4279900"/>
            </a:xfrm>
            <a:custGeom>
              <a:avLst/>
              <a:gdLst/>
              <a:ahLst/>
              <a:cxnLst/>
              <a:rect r="r" b="b" t="t" l="l"/>
              <a:pathLst>
                <a:path h="4279900" w="3771900">
                  <a:moveTo>
                    <a:pt x="0" y="0"/>
                  </a:moveTo>
                  <a:lnTo>
                    <a:pt x="3771900" y="0"/>
                  </a:lnTo>
                  <a:lnTo>
                    <a:pt x="3771900" y="4279900"/>
                  </a:lnTo>
                  <a:lnTo>
                    <a:pt x="0" y="4279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6413" y="0"/>
            <a:ext cx="4404274" cy="10413997"/>
            <a:chOff x="0" y="0"/>
            <a:chExt cx="4404271" cy="1041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04267" y="63500"/>
              <a:ext cx="3535042" cy="10279888"/>
            </a:xfrm>
            <a:custGeom>
              <a:avLst/>
              <a:gdLst/>
              <a:ahLst/>
              <a:cxnLst/>
              <a:rect r="r" b="b" t="t" l="l"/>
              <a:pathLst>
                <a:path h="10279888" w="3535042">
                  <a:moveTo>
                    <a:pt x="0" y="0"/>
                  </a:moveTo>
                  <a:lnTo>
                    <a:pt x="0" y="10279888"/>
                  </a:lnTo>
                  <a:lnTo>
                    <a:pt x="3535042" y="10279888"/>
                  </a:lnTo>
                  <a:lnTo>
                    <a:pt x="35350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406400"/>
              <a:ext cx="4277230" cy="9944100"/>
            </a:xfrm>
            <a:custGeom>
              <a:avLst/>
              <a:gdLst/>
              <a:ahLst/>
              <a:cxnLst/>
              <a:rect r="r" b="b" t="t" l="l"/>
              <a:pathLst>
                <a:path h="9944100" w="4277230">
                  <a:moveTo>
                    <a:pt x="0" y="0"/>
                  </a:moveTo>
                  <a:lnTo>
                    <a:pt x="0" y="9944100"/>
                  </a:lnTo>
                  <a:lnTo>
                    <a:pt x="4277230" y="9944100"/>
                  </a:lnTo>
                  <a:lnTo>
                    <a:pt x="42772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620687" y="2324841"/>
            <a:ext cx="13967660" cy="741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20" indent="-356210" lvl="1">
              <a:lnSpc>
                <a:spcPts val="4517"/>
              </a:lnSpc>
              <a:buFont typeface="Arial"/>
              <a:buChar char="•"/>
            </a:pPr>
            <a:r>
              <a:rPr lang="en-US" sz="3299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Many st</a:t>
            </a:r>
            <a:r>
              <a:rPr lang="en-US" sz="3299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udents and job seekers face difficulties during interviews despite having strong technical knowledge.</a:t>
            </a:r>
          </a:p>
          <a:p>
            <a:pPr algn="l" marL="712420" indent="-356210" lvl="1">
              <a:lnSpc>
                <a:spcPts val="4517"/>
              </a:lnSpc>
              <a:buFont typeface="Arial"/>
              <a:buChar char="•"/>
            </a:pPr>
            <a:r>
              <a:rPr lang="en-US" sz="3299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preparation methods like reading questions, watching videos, or practicing with peers lack real-time interaction and personalized feedback.</a:t>
            </a:r>
          </a:p>
          <a:p>
            <a:pPr algn="l" marL="712420" indent="-356210" lvl="1">
              <a:lnSpc>
                <a:spcPts val="4517"/>
              </a:lnSpc>
              <a:buFont typeface="Arial"/>
              <a:buChar char="•"/>
            </a:pPr>
            <a:r>
              <a:rPr lang="en-US" sz="3299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Most available mock interview platforms follow fixed question patterns and fail to simulate the dynamic nature of real interviews.</a:t>
            </a:r>
          </a:p>
          <a:p>
            <a:pPr algn="l" marL="712420" indent="-356210" lvl="1">
              <a:lnSpc>
                <a:spcPts val="4517"/>
              </a:lnSpc>
              <a:buFont typeface="Arial"/>
              <a:buChar char="•"/>
            </a:pPr>
            <a:r>
              <a:rPr lang="en-US" sz="3299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Access to experienced mentors or interview coaches is often limited, costly, or not always  available.</a:t>
            </a:r>
          </a:p>
          <a:p>
            <a:pPr algn="l" marL="712420" indent="-356210" lvl="1">
              <a:lnSpc>
                <a:spcPts val="4517"/>
              </a:lnSpc>
              <a:buFont typeface="Arial"/>
              <a:buChar char="•"/>
            </a:pPr>
            <a:r>
              <a:rPr lang="en-US" sz="3299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Candidates do not receive proper insights into their communication skills,  confidence level, and answer quality.</a:t>
            </a:r>
          </a:p>
          <a:p>
            <a:pPr algn="l" marL="712420" indent="-356210" lvl="1">
              <a:lnSpc>
                <a:spcPts val="4517"/>
              </a:lnSpc>
              <a:buFont typeface="Arial"/>
              <a:buChar char="•"/>
            </a:pPr>
            <a:r>
              <a:rPr lang="en-US" sz="3299">
                <a:solidFill>
                  <a:srgbClr val="3F3F3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system that provides a realistic, adaptive, and intelligent interview environment for effective practice and improvement.</a:t>
            </a:r>
          </a:p>
          <a:p>
            <a:pPr algn="l">
              <a:lnSpc>
                <a:spcPts val="438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78040" y="1069524"/>
            <a:ext cx="7187575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0155" y="907652"/>
            <a:ext cx="10495016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Existing Solution 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78040" y="2234883"/>
            <a:ext cx="16019247" cy="7615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</a:t>
            </a: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isting Solutions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mock interviews conducted by mentors.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interview preparation websites.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AI chatbots.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question banks and aptitude platforms.</a:t>
            </a:r>
          </a:p>
          <a:p>
            <a:pPr algn="l">
              <a:lnSpc>
                <a:spcPts val="5000"/>
              </a:lnSpc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personalized interview questions.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realistic interviewer interaction.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feedback and performance analysis.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Requires human intervention in many cases.</a:t>
            </a:r>
          </a:p>
          <a:p>
            <a:pPr algn="l" marL="771093" indent="-385546" lvl="1">
              <a:lnSpc>
                <a:spcPts val="5000"/>
              </a:lnSpc>
              <a:buFont typeface="Arial"/>
              <a:buChar char="•"/>
            </a:pPr>
            <a:r>
              <a:rPr lang="en-US" sz="357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 not simulate real interview pressure.</a:t>
            </a:r>
          </a:p>
          <a:p>
            <a:pPr algn="ctr">
              <a:lnSpc>
                <a:spcPts val="50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3372945" y="1788319"/>
            <a:ext cx="14044908" cy="8010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0165" indent="-335083" lvl="1">
              <a:lnSpc>
                <a:spcPts val="4249"/>
              </a:lnSpc>
              <a:buFont typeface="Arial"/>
              <a:buChar char="•"/>
            </a:pPr>
            <a:r>
              <a:rPr lang="en-US" sz="3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-US" sz="3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process begins when a user uploads their resume into the system. Artificial intelligence quickly studies the information. Skills, projects, work history — everything gets scanned. From there, the interview slowly starts to take shape.</a:t>
            </a:r>
          </a:p>
          <a:p>
            <a:pPr algn="l">
              <a:lnSpc>
                <a:spcPts val="4249"/>
              </a:lnSpc>
            </a:pPr>
          </a:p>
          <a:p>
            <a:pPr algn="l" marL="670165" indent="-335083" lvl="1">
              <a:lnSpc>
                <a:spcPts val="4249"/>
              </a:lnSpc>
              <a:buFont typeface="Arial"/>
              <a:buChar char="•"/>
            </a:pPr>
            <a:r>
              <a:rPr lang="en-US" sz="3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language models guide the conversation. Questions are not fixed beforehand. They adapt depending on what the candidate says. Sometimes the flow feels formal, other times a bit casual. Almost like a real interviewer thinking on the spot.</a:t>
            </a:r>
          </a:p>
          <a:p>
            <a:pPr algn="l">
              <a:lnSpc>
                <a:spcPts val="4249"/>
              </a:lnSpc>
            </a:pPr>
          </a:p>
          <a:p>
            <a:pPr algn="l" marL="670165" indent="-335083" lvl="1">
              <a:lnSpc>
                <a:spcPts val="4249"/>
              </a:lnSpc>
              <a:buFont typeface="Arial"/>
              <a:buChar char="•"/>
            </a:pPr>
            <a:r>
              <a:rPr lang="en-US" sz="3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Repeating practice sessions helps candidates slowly build confidence. Each round improves clarity and response quality. Small progress appears over time.</a:t>
            </a:r>
          </a:p>
          <a:p>
            <a:pPr algn="l">
              <a:lnSpc>
                <a:spcPts val="4249"/>
              </a:lnSpc>
            </a:pPr>
          </a:p>
          <a:p>
            <a:pPr algn="l" marL="670164" indent="-335082" lvl="1">
              <a:lnSpc>
                <a:spcPts val="4249"/>
              </a:lnSpc>
              <a:buFont typeface="Arial"/>
              <a:buChar char="•"/>
            </a:pPr>
            <a:r>
              <a:rPr lang="en-US" sz="31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Mistakes during practice are expected. In fact, they help the learning process. With repeated sessions, thinking becomes faster and interview anxiety begins to fade</a:t>
            </a:r>
          </a:p>
          <a:p>
            <a:pPr algn="l">
              <a:lnSpc>
                <a:spcPts val="424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72945" y="544297"/>
            <a:ext cx="10535241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Proposed Solution (overview)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020645" y="1603139"/>
            <a:ext cx="12054620" cy="813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</a:t>
            </a: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me-based interview personalization using AI.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extraction of skills, projects, certifications, and experience.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question generation using Gemini Large Language Model.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interaction through a Streaming Avatar interviewer.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Voice-based communication using Speech Recognition technology.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evaluation of technical knowledge and communication skills.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Comprehensive feedback reports with improvement suggestions.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analytics and interview history tracking.</a:t>
            </a:r>
          </a:p>
          <a:p>
            <a:pPr algn="l" marL="732401" indent="-366201" lvl="1">
              <a:lnSpc>
                <a:spcPts val="4637"/>
              </a:lnSpc>
              <a:buFont typeface="Arial"/>
              <a:buChar char="•"/>
            </a:pPr>
            <a:r>
              <a:rPr lang="en-US" sz="339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and interactive web-based interface.</a:t>
            </a:r>
          </a:p>
          <a:p>
            <a:pPr algn="l">
              <a:lnSpc>
                <a:spcPts val="463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0645" y="528295"/>
            <a:ext cx="582930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68345" y="544297"/>
            <a:ext cx="6368586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(Features)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815196" y="6429918"/>
            <a:ext cx="2472804" cy="3072317"/>
          </a:xfrm>
          <a:custGeom>
            <a:avLst/>
            <a:gdLst/>
            <a:ahLst/>
            <a:cxnLst/>
            <a:rect r="r" b="b" t="t" l="l"/>
            <a:pathLst>
              <a:path h="3072317" w="2472804">
                <a:moveTo>
                  <a:pt x="0" y="0"/>
                </a:moveTo>
                <a:lnTo>
                  <a:pt x="2472804" y="0"/>
                </a:lnTo>
                <a:lnTo>
                  <a:pt x="2472804" y="3072317"/>
                </a:lnTo>
                <a:lnTo>
                  <a:pt x="0" y="3072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396099" y="1507731"/>
            <a:ext cx="11266420" cy="862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</a:t>
            </a: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registers and logs into the platform.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is uploaded in PDF or DOCX format.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Analysis Module extracts candidate information.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generates personalized interview questions based on the profile.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Avatar acts as a virtual interviewer.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answers questions through voice interaction.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Speech Recognition converts voice responses into text.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Engine analyzes responses for relevance and quality.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scores are calculated automatically.</a:t>
            </a:r>
          </a:p>
          <a:p>
            <a:pPr algn="l" marL="775943" indent="-387972" lvl="1">
              <a:lnSpc>
                <a:spcPts val="4912"/>
              </a:lnSpc>
              <a:buFont typeface="Arial"/>
              <a:buChar char="•"/>
            </a:pPr>
            <a:r>
              <a:rPr lang="en-US" sz="35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feedback and analytics reports are generated.</a:t>
            </a:r>
          </a:p>
          <a:p>
            <a:pPr algn="l">
              <a:lnSpc>
                <a:spcPts val="4912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0645" y="528295"/>
            <a:ext cx="582930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68345" y="544297"/>
            <a:ext cx="4360964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4404274" cy="10413997"/>
            <a:chOff x="0" y="0"/>
            <a:chExt cx="4404271" cy="1041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4267" y="63500"/>
              <a:ext cx="3535042" cy="10279888"/>
            </a:xfrm>
            <a:custGeom>
              <a:avLst/>
              <a:gdLst/>
              <a:ahLst/>
              <a:cxnLst/>
              <a:rect r="r" b="b" t="t" l="l"/>
              <a:pathLst>
                <a:path h="10279888" w="3535042">
                  <a:moveTo>
                    <a:pt x="0" y="0"/>
                  </a:moveTo>
                  <a:lnTo>
                    <a:pt x="0" y="10279888"/>
                  </a:lnTo>
                  <a:lnTo>
                    <a:pt x="3535042" y="10279888"/>
                  </a:lnTo>
                  <a:lnTo>
                    <a:pt x="35350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406400"/>
              <a:ext cx="4277230" cy="9944100"/>
            </a:xfrm>
            <a:custGeom>
              <a:avLst/>
              <a:gdLst/>
              <a:ahLst/>
              <a:cxnLst/>
              <a:rect r="r" b="b" t="t" l="l"/>
              <a:pathLst>
                <a:path h="9944100" w="4277230">
                  <a:moveTo>
                    <a:pt x="0" y="0"/>
                  </a:moveTo>
                  <a:lnTo>
                    <a:pt x="0" y="9944100"/>
                  </a:lnTo>
                  <a:lnTo>
                    <a:pt x="4277230" y="9944100"/>
                  </a:lnTo>
                  <a:lnTo>
                    <a:pt x="42772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394146" y="519942"/>
            <a:ext cx="8668471" cy="9461306"/>
          </a:xfrm>
          <a:custGeom>
            <a:avLst/>
            <a:gdLst/>
            <a:ahLst/>
            <a:cxnLst/>
            <a:rect r="r" b="b" t="t" l="l"/>
            <a:pathLst>
              <a:path h="9461306" w="8668471">
                <a:moveTo>
                  <a:pt x="0" y="0"/>
                </a:moveTo>
                <a:lnTo>
                  <a:pt x="8668471" y="0"/>
                </a:lnTo>
                <a:lnTo>
                  <a:pt x="8668471" y="9461306"/>
                </a:lnTo>
                <a:lnTo>
                  <a:pt x="0" y="94613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4" r="0" b="-134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66075" y="3681288"/>
            <a:ext cx="3717541" cy="63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6.1 Block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4445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-63503" y="-63503"/>
            <a:ext cx="15786097" cy="10413997"/>
          </a:xfrm>
          <a:custGeom>
            <a:avLst/>
            <a:gdLst/>
            <a:ahLst/>
            <a:cxnLst/>
            <a:rect r="r" b="b" t="t" l="l"/>
            <a:pathLst>
              <a:path h="10413997" w="15786097">
                <a:moveTo>
                  <a:pt x="0" y="0"/>
                </a:moveTo>
                <a:lnTo>
                  <a:pt x="15786097" y="0"/>
                </a:lnTo>
                <a:lnTo>
                  <a:pt x="157860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429000" y="596151"/>
            <a:ext cx="11826364" cy="320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b="true" sz="2775">
                <a:solidFill>
                  <a:srgbClr val="3F3F3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6.2 Hardware Requirements</a:t>
            </a:r>
          </a:p>
          <a:p>
            <a:pPr algn="l">
              <a:lnSpc>
                <a:spcPts val="510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this is a software-focused project, hardware needs are minimal:</a:t>
            </a:r>
          </a:p>
          <a:p>
            <a:pPr algn="l">
              <a:lnSpc>
                <a:spcPts val="510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laptop or desktop with internet access</a:t>
            </a:r>
          </a:p>
          <a:p>
            <a:pPr algn="l">
              <a:lnSpc>
                <a:spcPts val="510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Minimum 8 GB RAM and i5 processor (recommended for smooth development)</a:t>
            </a:r>
          </a:p>
          <a:p>
            <a:pPr algn="l">
              <a:lnSpc>
                <a:spcPts val="510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Optional: Server for hosting chatbot (can use cloud services like AWS or Firebase)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29000" y="4312672"/>
            <a:ext cx="4275601" cy="49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b="true" sz="2850">
                <a:solidFill>
                  <a:srgbClr val="3F3F3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6.3 Software Requirements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25145" y="5130803"/>
            <a:ext cx="2987364" cy="4748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7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Component</a:t>
            </a:r>
          </a:p>
          <a:p>
            <a:pPr algn="l">
              <a:lnSpc>
                <a:spcPts val="5102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Programming language Operating System</a:t>
            </a:r>
          </a:p>
          <a:p>
            <a:pPr algn="l">
              <a:lnSpc>
                <a:spcPts val="5613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</a:t>
            </a:r>
          </a:p>
          <a:p>
            <a:pPr algn="l">
              <a:lnSpc>
                <a:spcPts val="4886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</a:t>
            </a:r>
          </a:p>
          <a:p>
            <a:pPr algn="l">
              <a:lnSpc>
                <a:spcPts val="5827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 Tools</a:t>
            </a:r>
          </a:p>
          <a:p>
            <a:pPr algn="l">
              <a:lnSpc>
                <a:spcPts val="5337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35091" y="5130803"/>
            <a:ext cx="7347347" cy="479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7"/>
              </a:lnSpc>
            </a:pPr>
            <a:r>
              <a:rPr lang="en-US" b="true" sz="3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Frameworks</a:t>
            </a:r>
          </a:p>
          <a:p>
            <a:pPr algn="l">
              <a:lnSpc>
                <a:spcPts val="5102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Python(backend and NLP integration)</a:t>
            </a:r>
          </a:p>
          <a:p>
            <a:pPr algn="l">
              <a:lnSpc>
                <a:spcPts val="5102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Windows11</a:t>
            </a:r>
          </a:p>
          <a:p>
            <a:pPr algn="l">
              <a:lnSpc>
                <a:spcPts val="5613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FastAPI</a:t>
            </a:r>
          </a:p>
          <a:p>
            <a:pPr algn="l">
              <a:lnSpc>
                <a:spcPts val="4886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supabase/postgrseql</a:t>
            </a:r>
          </a:p>
          <a:p>
            <a:pPr algn="l">
              <a:lnSpc>
                <a:spcPts val="5827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JavaScript (for user interface)</a:t>
            </a:r>
          </a:p>
          <a:p>
            <a:pPr algn="l">
              <a:lnSpc>
                <a:spcPts val="5337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whisper APIs, Gemini API etc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0265" y="2297449"/>
            <a:ext cx="2524125" cy="5381625"/>
            <a:chOff x="0" y="0"/>
            <a:chExt cx="3365500" cy="7175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65500" cy="7175500"/>
            </a:xfrm>
            <a:custGeom>
              <a:avLst/>
              <a:gdLst/>
              <a:ahLst/>
              <a:cxnLst/>
              <a:rect r="r" b="b" t="t" l="l"/>
              <a:pathLst>
                <a:path h="7175500" w="3365500">
                  <a:moveTo>
                    <a:pt x="0" y="0"/>
                  </a:moveTo>
                  <a:lnTo>
                    <a:pt x="3365500" y="0"/>
                  </a:lnTo>
                  <a:lnTo>
                    <a:pt x="3365500" y="7175500"/>
                  </a:lnTo>
                  <a:lnTo>
                    <a:pt x="0" y="717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440241" y="2332120"/>
            <a:ext cx="9490284" cy="480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4518" indent="-432259" lvl="1">
              <a:lnSpc>
                <a:spcPts val="5473"/>
              </a:lnSpc>
              <a:buFont typeface="Arial"/>
              <a:buChar char="•"/>
            </a:pPr>
            <a:r>
              <a:rPr lang="en-US" sz="40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40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ersonalized interview questions generated successfully.</a:t>
            </a:r>
          </a:p>
          <a:p>
            <a:pPr algn="l" marL="864518" indent="-432259" lvl="1">
              <a:lnSpc>
                <a:spcPts val="5473"/>
              </a:lnSpc>
              <a:buFont typeface="Arial"/>
              <a:buChar char="•"/>
            </a:pPr>
            <a:r>
              <a:rPr lang="en-US" sz="40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speech recognition and response evaluation achieved.</a:t>
            </a:r>
          </a:p>
          <a:p>
            <a:pPr algn="l" marL="864518" indent="-432259" lvl="1">
              <a:lnSpc>
                <a:spcPts val="5473"/>
              </a:lnSpc>
              <a:buFont typeface="Arial"/>
              <a:buChar char="•"/>
            </a:pPr>
            <a:r>
              <a:rPr lang="en-US" sz="400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feedback reports provided to users.</a:t>
            </a:r>
          </a:p>
          <a:p>
            <a:pPr algn="l">
              <a:lnSpc>
                <a:spcPts val="5473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020645" y="528295"/>
            <a:ext cx="582930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68345" y="544297"/>
            <a:ext cx="2115779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Result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50265" y="2297449"/>
            <a:ext cx="2524125" cy="5381625"/>
            <a:chOff x="0" y="0"/>
            <a:chExt cx="3365500" cy="7175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65500" cy="7175500"/>
            </a:xfrm>
            <a:custGeom>
              <a:avLst/>
              <a:gdLst/>
              <a:ahLst/>
              <a:cxnLst/>
              <a:rect r="r" b="b" t="t" l="l"/>
              <a:pathLst>
                <a:path h="7175500" w="3365500">
                  <a:moveTo>
                    <a:pt x="0" y="0"/>
                  </a:moveTo>
                  <a:lnTo>
                    <a:pt x="3365500" y="0"/>
                  </a:lnTo>
                  <a:lnTo>
                    <a:pt x="3365500" y="7175500"/>
                  </a:lnTo>
                  <a:lnTo>
                    <a:pt x="0" y="7175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-63503" y="-63503"/>
            <a:ext cx="17200178" cy="10413997"/>
          </a:xfrm>
          <a:custGeom>
            <a:avLst/>
            <a:gdLst/>
            <a:ahLst/>
            <a:cxnLst/>
            <a:rect r="r" b="b" t="t" l="l"/>
            <a:pathLst>
              <a:path h="10413997" w="17200178">
                <a:moveTo>
                  <a:pt x="0" y="0"/>
                </a:moveTo>
                <a:lnTo>
                  <a:pt x="17200178" y="0"/>
                </a:lnTo>
                <a:lnTo>
                  <a:pt x="17200178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0645" y="528295"/>
            <a:ext cx="582930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668345" y="544297"/>
            <a:ext cx="2374602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49272" y="2394287"/>
            <a:ext cx="5765591" cy="3163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8"/>
              </a:lnSpc>
            </a:pPr>
            <a:r>
              <a:rPr lang="en-US" b="true" sz="2984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Provides</a:t>
            </a:r>
            <a:r>
              <a:rPr lang="en-US" b="true" sz="2984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personalized interview practice using AI.</a:t>
            </a:r>
          </a:p>
          <a:p>
            <a:pPr algn="l">
              <a:lnSpc>
                <a:spcPts val="5610"/>
              </a:lnSpc>
            </a:pPr>
          </a:p>
          <a:p>
            <a:pPr algn="l">
              <a:lnSpc>
                <a:spcPts val="5610"/>
              </a:lnSpc>
            </a:pPr>
          </a:p>
          <a:p>
            <a:pPr algn="l">
              <a:lnSpc>
                <a:spcPts val="561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66301" y="4778585"/>
            <a:ext cx="6388790" cy="1047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b="true" sz="2999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</a:t>
            </a:r>
            <a:r>
              <a:rPr lang="en-US" b="true" sz="2999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ables continuous learning through automated feedback.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68345" y="6991363"/>
            <a:ext cx="5908958" cy="1280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Improves confidence</a:t>
            </a:r>
            <a:r>
              <a:rPr lang="en-US" b="true" sz="3599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and communication skills.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4440241" y="2313070"/>
            <a:ext cx="9528019" cy="4992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48514" indent="-524257" lvl="1">
              <a:lnSpc>
                <a:spcPts val="6638"/>
              </a:lnSpc>
              <a:buFont typeface="Arial"/>
              <a:buChar char="•"/>
            </a:pPr>
            <a:r>
              <a:rPr lang="en-US" sz="48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</a:t>
            </a:r>
            <a:r>
              <a:rPr lang="en-US" sz="48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otion and facial expression analysis.</a:t>
            </a:r>
          </a:p>
          <a:p>
            <a:pPr algn="l" marL="1048514" indent="-524257" lvl="1">
              <a:lnSpc>
                <a:spcPts val="6638"/>
              </a:lnSpc>
              <a:buFont typeface="Arial"/>
              <a:buChar char="•"/>
            </a:pPr>
            <a:r>
              <a:rPr lang="en-US" sz="48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Multilingual interview support.</a:t>
            </a:r>
          </a:p>
          <a:p>
            <a:pPr algn="l" marL="1048514" indent="-524257" lvl="1">
              <a:lnSpc>
                <a:spcPts val="6638"/>
              </a:lnSpc>
              <a:buFont typeface="Arial"/>
              <a:buChar char="•"/>
            </a:pPr>
            <a:r>
              <a:rPr lang="en-US" sz="485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career guidance and recommendations.</a:t>
            </a:r>
          </a:p>
          <a:p>
            <a:pPr algn="l">
              <a:lnSpc>
                <a:spcPts val="6638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20645" y="528295"/>
            <a:ext cx="582930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68345" y="544297"/>
            <a:ext cx="4425486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Scope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972195" y="-432749"/>
            <a:ext cx="4404274" cy="10413997"/>
            <a:chOff x="0" y="0"/>
            <a:chExt cx="4404271" cy="1041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4267" y="63500"/>
              <a:ext cx="3535042" cy="10279888"/>
            </a:xfrm>
            <a:custGeom>
              <a:avLst/>
              <a:gdLst/>
              <a:ahLst/>
              <a:cxnLst/>
              <a:rect r="r" b="b" t="t" l="l"/>
              <a:pathLst>
                <a:path h="10279888" w="3535042">
                  <a:moveTo>
                    <a:pt x="0" y="0"/>
                  </a:moveTo>
                  <a:lnTo>
                    <a:pt x="0" y="10279888"/>
                  </a:lnTo>
                  <a:lnTo>
                    <a:pt x="3535042" y="10279888"/>
                  </a:lnTo>
                  <a:lnTo>
                    <a:pt x="35350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406400"/>
              <a:ext cx="4277230" cy="9944100"/>
            </a:xfrm>
            <a:custGeom>
              <a:avLst/>
              <a:gdLst/>
              <a:ahLst/>
              <a:cxnLst/>
              <a:rect r="r" b="b" t="t" l="l"/>
              <a:pathLst>
                <a:path h="9944100" w="4277230">
                  <a:moveTo>
                    <a:pt x="0" y="0"/>
                  </a:moveTo>
                  <a:lnTo>
                    <a:pt x="0" y="9944100"/>
                  </a:lnTo>
                  <a:lnTo>
                    <a:pt x="4277230" y="9944100"/>
                  </a:lnTo>
                  <a:lnTo>
                    <a:pt x="42772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828165" y="2616679"/>
            <a:ext cx="10879684" cy="51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3206" indent="-466603" lvl="1">
              <a:lnSpc>
                <a:spcPts val="5908"/>
              </a:lnSpc>
              <a:buFont typeface="Arial"/>
              <a:buChar char="•"/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</a:t>
            </a: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AI-powered mock interview platform.</a:t>
            </a:r>
          </a:p>
          <a:p>
            <a:pPr algn="l" marL="933206" indent="-466603" lvl="1">
              <a:lnSpc>
                <a:spcPts val="5908"/>
              </a:lnSpc>
              <a:buFont typeface="Arial"/>
              <a:buChar char="•"/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Successfully integrated avatar interaction and automated evaluation.</a:t>
            </a:r>
          </a:p>
          <a:p>
            <a:pPr algn="l" marL="933206" indent="-466603" lvl="1">
              <a:lnSpc>
                <a:spcPts val="5908"/>
              </a:lnSpc>
              <a:buFont typeface="Arial"/>
              <a:buChar char="•"/>
            </a:pPr>
            <a:r>
              <a:rPr lang="en-US" sz="4322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Enhanced interview preparation through personalized practice.</a:t>
            </a:r>
          </a:p>
          <a:p>
            <a:pPr algn="l">
              <a:lnSpc>
                <a:spcPts val="5908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791500" y="9445085"/>
            <a:ext cx="215294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20645" y="907652"/>
            <a:ext cx="582930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603575" y="876300"/>
            <a:ext cx="9976228" cy="104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262626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 and Call to Action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503"/>
            <a:ext cx="18414997" cy="10413997"/>
          </a:xfrm>
          <a:custGeom>
            <a:avLst/>
            <a:gdLst/>
            <a:ahLst/>
            <a:cxnLst/>
            <a:rect r="r" b="b" t="t" l="l"/>
            <a:pathLst>
              <a:path h="10413997" w="18414997">
                <a:moveTo>
                  <a:pt x="0" y="0"/>
                </a:moveTo>
                <a:lnTo>
                  <a:pt x="18414997" y="0"/>
                </a:lnTo>
                <a:lnTo>
                  <a:pt x="18414997" y="10413997"/>
                </a:lnTo>
                <a:lnTo>
                  <a:pt x="0" y="1041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3563" y="0"/>
            <a:ext cx="2184987" cy="1864519"/>
            <a:chOff x="0" y="0"/>
            <a:chExt cx="2913316" cy="24860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13253" cy="2486025"/>
            </a:xfrm>
            <a:custGeom>
              <a:avLst/>
              <a:gdLst/>
              <a:ahLst/>
              <a:cxnLst/>
              <a:rect r="r" b="b" t="t" l="l"/>
              <a:pathLst>
                <a:path h="2486025" w="2913253">
                  <a:moveTo>
                    <a:pt x="0" y="0"/>
                  </a:moveTo>
                  <a:lnTo>
                    <a:pt x="2913253" y="0"/>
                  </a:lnTo>
                  <a:lnTo>
                    <a:pt x="2913253" y="2486025"/>
                  </a:lnTo>
                  <a:lnTo>
                    <a:pt x="0" y="2486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6655091" y="0"/>
            <a:ext cx="1525524" cy="2120103"/>
            <a:chOff x="0" y="0"/>
            <a:chExt cx="2034032" cy="2826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4032" cy="2826766"/>
            </a:xfrm>
            <a:custGeom>
              <a:avLst/>
              <a:gdLst/>
              <a:ahLst/>
              <a:cxnLst/>
              <a:rect r="r" b="b" t="t" l="l"/>
              <a:pathLst>
                <a:path h="2826766" w="2034032">
                  <a:moveTo>
                    <a:pt x="0" y="0"/>
                  </a:moveTo>
                  <a:lnTo>
                    <a:pt x="2034032" y="0"/>
                  </a:lnTo>
                  <a:lnTo>
                    <a:pt x="2034032" y="2826766"/>
                  </a:lnTo>
                  <a:lnTo>
                    <a:pt x="0" y="2826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7891" r="-1" b="-1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63503" y="-63503"/>
            <a:ext cx="4404274" cy="10413997"/>
            <a:chOff x="0" y="0"/>
            <a:chExt cx="4404271" cy="1041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04267" y="63500"/>
              <a:ext cx="3535042" cy="10279888"/>
            </a:xfrm>
            <a:custGeom>
              <a:avLst/>
              <a:gdLst/>
              <a:ahLst/>
              <a:cxnLst/>
              <a:rect r="r" b="b" t="t" l="l"/>
              <a:pathLst>
                <a:path h="10279888" w="3535042">
                  <a:moveTo>
                    <a:pt x="0" y="0"/>
                  </a:moveTo>
                  <a:lnTo>
                    <a:pt x="0" y="10279888"/>
                  </a:lnTo>
                  <a:lnTo>
                    <a:pt x="3535042" y="10279888"/>
                  </a:lnTo>
                  <a:lnTo>
                    <a:pt x="353504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406400"/>
              <a:ext cx="4277230" cy="9944100"/>
            </a:xfrm>
            <a:custGeom>
              <a:avLst/>
              <a:gdLst/>
              <a:ahLst/>
              <a:cxnLst/>
              <a:rect r="r" b="b" t="t" l="l"/>
              <a:pathLst>
                <a:path h="9944100" w="4277230">
                  <a:moveTo>
                    <a:pt x="0" y="0"/>
                  </a:moveTo>
                  <a:lnTo>
                    <a:pt x="0" y="9944100"/>
                  </a:lnTo>
                  <a:lnTo>
                    <a:pt x="4277230" y="9944100"/>
                  </a:lnTo>
                  <a:lnTo>
                    <a:pt x="427723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7766590" y="5876620"/>
            <a:ext cx="2102101" cy="4241797"/>
          </a:xfrm>
          <a:custGeom>
            <a:avLst/>
            <a:gdLst/>
            <a:ahLst/>
            <a:cxnLst/>
            <a:rect r="r" b="b" t="t" l="l"/>
            <a:pathLst>
              <a:path h="4241797" w="2102101">
                <a:moveTo>
                  <a:pt x="0" y="0"/>
                </a:moveTo>
                <a:lnTo>
                  <a:pt x="2102101" y="0"/>
                </a:lnTo>
                <a:lnTo>
                  <a:pt x="2102101" y="4241797"/>
                </a:lnTo>
                <a:lnTo>
                  <a:pt x="0" y="42417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580454" y="9445085"/>
            <a:ext cx="430587" cy="536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23889" y="1190206"/>
            <a:ext cx="5199155" cy="1455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0"/>
              </a:lnSpc>
            </a:pPr>
            <a:r>
              <a:rPr lang="en-US" b="true" sz="8100">
                <a:solidFill>
                  <a:srgbClr val="000000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Thank You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20183" y="3244891"/>
            <a:ext cx="13433060" cy="1401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0"/>
              </a:lnSpc>
            </a:pPr>
            <a:r>
              <a:rPr lang="en-US" sz="8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are open to Questions now..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DAHMBQiLcz0</dc:identifier>
  <dcterms:modified xsi:type="dcterms:W3CDTF">2011-08-01T06:04:30Z</dcterms:modified>
  <cp:revision>1</cp:revision>
  <dc:title>ppt3.pdf</dc:title>
</cp:coreProperties>
</file>